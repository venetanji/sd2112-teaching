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Say the course code. ClassPoint join code is on the screen from 30 minutes before class; Nicolò and Amber are at the front helping people join. Everyone joins with the last four digits and the letter of their student 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stops. Point out the interactive moments: five ClassPoint questions in the first half, the activity capture, and two at the end that tell us what you expect. About ninety minutes with a short break after stop four.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word cloud, one word each. Leave it on screen for a minute. Read the three biggest words aloud and keep them — we come back to them at the end when we ask "what is your X". Expect: tool, cheating, fast, fake, future, Midjourney, ChatGPT.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one. Three reasons this course exists, all three are about you, not about the technology.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products, job. The first is about process — weeks 1 to 6. The second is about the product — weeks 8 to 12. The third is the question that runs underneath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two. The team first, then three quick questions about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Economics, then robotics, then a PhD on concept formation in computational creativity. The point of the avatars: the same photo through three models gives three different styles — the model, not the photo, decides the look. Ada at the bottom right is also generated; she is on the next slide as a real quote.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Nicolò and Amber are here half an hour before and half an hour after every class — that hour is where laptops get fixed and assignments get unstuck. Zhibin coordinates: if you cannot come, tell Zhibin before class, not after. Participation is attendance plus ClassPoint activity.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multiple choice. Show the split. We use it to pick examples: if the room is mostly communication design we lean on type, layout and campaigns; if product, on chairs and parametric form; if interaction, on feeds and chatbots.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This is the level check. If most of the room is A or B, weeks 4 and 5 go slower on the tools. If many are D, we pair them with beginners in the challenges. No judgement either way; say 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Week 2 has a small p5.js workshop: rules that make pictures. Nobody needs to know how to code, but we need to know how many do. If more than a third say C, the week-2 exercise gets a harder second half.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three: the whole semester on one slide, then the one question that runs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modules. Weeks 1 to 3: what AI is, in two flavours — rules and examples. Weeks 4 to 6: the tools you will use in your own process; each week ends with a small making challenge. Week 7: quiz, pitches, teams. Weeks 8 to 10: AI as a material inside the product you design. Weeks 11 and 12: what is left for the designer. Week 13 poster fair. You are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1843. Lovelace writes the first program for Babbage's engine, and in the same notes the first objection to machine creativity: it only does what we order. Turing answered her in 1950; we spend thirteen weeks on the answer. The course question: can a machine originate a design? By week 13 you should have an answer you can defend,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plainly. Either answer is acceptable in this course, as long as it is argued with what we learn. The reflection assignment is exactly this question, in your own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four. First their definitions, then ours, then the two machines.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short answer. Give it 90 seconds. Read four or five aloud, pick ones that disagree: "a program that thinks", "a tool that copies", "statistics". All of them are half right. Then our working definition.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working definition. Three words matter: "intelligent-like" — we judge the output, not the inside; "behaviour" — it can be an action, not only a picture; "computation" — it runs on a Turing machine, so it can be copied, scaled and sold.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Wiggins' definition is agent-agnostic: creativity is in the eye of the audience. That is why this is a design question and not only an engineering one. Turing 1936 gives us the machine; 1950 replaces "can machines think" with the imitation game — judge the behaviour.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Babbage's Analytical Engine, trial model, Science Museum London. Physical, mechanical, made by craftsmen. A computer is a machine that follows rules — which is exactly what Lovelace meant.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course, in one object. Chairs, because every design school has a chair canon and because everybody thinks they know what one 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give the machine a definition and it applies it. Exact, explainable, brittle — it will never accept a beanbag. Right: give it twelve thousand labelled photos and it develops a feel for chair-ness. Fluent, fuzzy, and it cannot tell you why. Every AI you will meet this semester is one of these, or a mix.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generate. Product designers know this as parametric design; type designers as variable fonts; web designers as a grid system. The strength and the limit are the same thing: nothing outside the rule can ever appear.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Generated today with a small, fast model and the same prompt four times. Notice how similar they are. Nobody told the model what a chair is; it learned what is typical. That word — typical — is the bridge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seconds. Then everyone holds it up. Almost every drawing is the same chair: four legs, a back, seen from the side or the front. That is the prototype — you did what the model did. Eleanor Rosch showed this in 1975: concepts are organised around typical members, not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rule-machine cannot hold the edge: any definition of chair either lets in the rock or throws out the beanbag. The example-machine lives in the middle: it reproduces the typical. Design is the art of leaving the prototype without leaving the concept — a chair that is still a chair, but nobody has seen. Neither machine does that on its own. Week 3 goes deeper: classical theory versus prototype theory, GOFAI versus connectionism.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honest slide in the deck: I asked for the edge and got the prototype. Bigger models do better, but the pull is the same. Prompting is negotiating with the middle; design is deciding where the edge is. Week 5 shows how to push a model off the prototype: references, ControlNet, fine-tuning on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There is no correct answer and the split proves the point: the concept is fuzzy, and the room disagrees at the edge. Whoever wrote the rule on the previous slide has to live with the beanbag.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features, one menu, thirty years. Two are rule-based, one is learned. Ask: which one would you trust for a client's product shot, and why? The answer is a design decision, not a technical one. Week 3 makes this distinction precise: rule-based versus adaptive systems.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lines braided together: rules (Lovelace, Turing, Nake) and examples (backprop, AlexNet, diffusion). The second line took sixty years to work; it needed the web for data and gaming for GPUs. Week 2 is the rules line; week 3 the examples line.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1965, Stuttgart. Nake and Nees show plotter drawings in a gallery — the first computer art exhibition. Max Bense's idea: aesthetics as mathematics, art from a formal procedure. Notice the design move: the program, not the pencil, becomes the material. Week 2 you write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light: a network is a pile of adjustable connections; training is showing an example, measuring how wrong the guess was, and nudging every connection a little. Repeat a million times. The design point: the examples are the material. Who chose them? Week 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move-37 chapter if there is time. Ask: is this creative? Wiggins says judge the output — the experts were astonished. The counter: it is intelligent, and alien, and has no idea what it did. This debate is week 3, and it is the debate under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Belamy, 2018: a GAN trained on 15,000 portraits; the signature is the training formula. Christie's sold it for 432,500 dollars. The authorship question — the collective, the coder who wrote the model, the painters in the dataset — is week 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five: the distinction that organises the semester, and three cases from the last two years.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versus incorporating. Using is about practice — how you make. Incorporating is about the outcome — what you make. The first half of the course is the first, the second half the second. The designer's role is different in each: curator versus system architect.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cases, three roles. Coca-Cola: using — and the audience judged the craft. Netflix: incorporating — the designer designs a space of options and a rule for choosing. Humane: AI as the whole product — a warning that a model is not an experience. Ask the room for one more case from the last month; there is always 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short answer, two minutes. This replaces the old scavenger hunt: everyone has an example on their phone. Sort a few live into "using" and "incorporating". Keep the list — it seeds the week-3 categorising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Nicolò compiled the playlist from every video in the slides. Each week names the ones to watch before class; quizzes draw on them. This week: AlphaGo, and the four art pieces — they are short, and they are week 2's argument that art has been made from rules and chance since before computers.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six, short: the philosophical spine of the course, in three slides. Verbeek is the reading for week 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Verbeek, 2015, written for interaction designers. Technologies do not sit between a ready-made human and a ready-made world; they shape both. The double-sided printer default decides how much paper a company uses. A feed decides what a city talks about. Designers materialise morality.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 Ihde's human – technology – world. Every AI feature sits in the middle and changes both ends: what you perceive and what you do. When the filter picks the poster, the viewer's world has been designed. Week 5 works through the four relations with AI examples; the group project asks you to name which one you are building.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all four graded in this course: the reflection is the story, the group project is outputs plus rules, week 11 is datasets. The old fear — "will AI replace designers" — is the wrong question. The right one: which of these four do you want to be good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activity. Think-pair-square: one minute alone, two in pairs, four in fours, then one line per four into ClassPoint. TAs walk the room and keep time.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silent, paper. Necessary and sufficient conditions — the classical theory of concepts, though they do not need the name yet.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Typical breakers: the rock, the beanbag, the swing, the wheelchair, the throne, a sofa cut in half. The point lands when they see that every rule leaks at the edge.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minutes in fours. This is dataset curation. Push them: five examples is a design decision — which cultures, which centuries, which bodies. The hard negative is the guardrail. One scribe per four.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short answer, scribes only: about 28 lines, not 114. Read three aloud. Keep them: week 3 uses the rules as classical-theory examples, week 9 uses the example lists as a bias exercise.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of the whole course. The rule and the examples are both machines; the choice of examples and the choice of rule are design. Say the last line slowly.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eight: the admin. Five components, two assignments, the weekly challenges, the rules on attendance and on AI use.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group project is the big one; it starts in week 7 when teams form. Quizzes are multiple choice and draw on the lectures and the playlist. Participation: attendance plus ClassPoint stars — being here and answering.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reflection is the course question in your own practice. The two machines are the lens: which of your tools are rules, which are learned, and what did each do to your process. Three experiments minimum — the weekly challenges give you five. AI use in writing it is fine and must be disclosed.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percent. Not a prototype competition: the rubric rewards research depth and the ethical account more than polish. The mediation brief is new this year: one page that names the relation (Ihde), the data, the bias and the guardrails — the vocabulary of weeks 5, 9 and 11.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weekly, low stakes. Bring it to the next class; the room votes; the winners get shown and a participation star. All five become evidence for the reflection. Nicolò and Amber help before and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no small print. The AI rule is the important one: allowed and disclosed, and you remain responsible. The TA hour before and after class is where the practical help lives.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homework. The slides live on the course site and on Blackboard. The AlphaGo film is the one long thing; the four art films are short.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ClassPoint word cloud to close, like the opening one. Compare the two clouds: the first was what AI is; this is what you want from it. Screenshot both — they go into the week 2 recap.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Anonymous. This is the expectation check: read the worries, not the hopes. Common ones — cheating, losing skills, copyright, jobs — each maps to a week. Tell them which.</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rules that make things — Nake, Nees, LeWitt, Cage, and your first p5.js sketch. Nicolò and Amber stay for 30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olyu-design-logo.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olyu-design-logo.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olyu-design-logo.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polyu-design-logo.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000B1C"/>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35560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B3B7BE"/>
                </a:solidFill>
                <a:latin typeface="JetBrains Mono"/>
              </a:defRPr>
            </a:lvl1pPr>
          </a:lstStyle>
          <a:p>
            <a:endParaRPr/>
          </a:p>
        </p:txBody>
      </p:sp>
      <p:sp>
        <p:nvSpPr>
          <p:cNvPr id="3" name="Title"/>
          <p:cNvSpPr>
            <a:spLocks noGrp="1"/>
          </p:cNvSpPr>
          <p:nvPr>
            <p:ph type="ctrTitle"/>
          </p:nvPr>
        </p:nvSpPr>
        <p:spPr>
          <a:xfrm>
            <a:off x="762000" y="3937000"/>
            <a:ext cx="10668000" cy="1905000"/>
          </a:xfrm>
          <a:prstGeom prst="rect">
            <a:avLst/>
          </a:prstGeom>
        </p:spPr>
        <p:txBody>
          <a:bodyPr wrap="square" lIns="0" tIns="0" rIns="0" bIns="0" anchor="b">
            <a:normAutofit/>
          </a:bodyPr>
          <a:lstStyle>
            <a:lvl1pPr marL="0" indent="0" algn="l">
              <a:lnSpc>
                <a:spcPct val="88000"/>
              </a:lnSpc>
              <a:buNone/>
              <a:defRPr sz="11250" b="1" spc="0" cap="none">
                <a:solidFill>
                  <a:srgbClr val="FFFFFF"/>
                </a:solidFill>
                <a:latin typeface="Inter Black"/>
              </a:defRPr>
            </a:lvl1pPr>
          </a:lstStyle>
          <a:p>
            <a:endParaRPr/>
          </a:p>
        </p:txBody>
      </p:sp>
      <p:sp>
        <p:nvSpPr>
          <p:cNvPr id="4" name="Subtitle"/>
          <p:cNvSpPr>
            <a:spLocks noGrp="1"/>
          </p:cNvSpPr>
          <p:nvPr>
            <p:ph type="subTitle" idx="1"/>
          </p:nvPr>
        </p:nvSpPr>
        <p:spPr>
          <a:xfrm>
            <a:off x="762000" y="5969000"/>
            <a:ext cx="8890000" cy="381000"/>
          </a:xfrm>
          <a:prstGeom prst="rect">
            <a:avLst/>
          </a:prstGeom>
        </p:spPr>
        <p:txBody>
          <a:bodyPr wrap="square" lIns="0" tIns="0" rIns="0" bIns="0" anchor="t">
            <a:normAutofit/>
          </a:bodyPr>
          <a:lstStyle>
            <a:lvl1pPr marL="0" indent="0" algn="l">
              <a:lnSpc>
                <a:spcPct val="100000"/>
              </a:lnSpc>
              <a:buNone/>
              <a:defRPr sz="2700" b="0" spc="0" cap="none">
                <a:solidFill>
                  <a:srgbClr val="D3E7E8"/>
                </a:solidFill>
                <a:latin typeface="Inter"/>
              </a:defRPr>
            </a:lvl1pPr>
          </a:lstStyle>
          <a:p>
            <a:endParaRPr/>
          </a:p>
        </p:txBody>
      </p:sp>
      <p:sp>
        <p:nvSpPr>
          <p:cNvPr id="23" name="ait4x"/>
          <p:cNvSpPr txBox="1"/>
          <p:nvPr userDrawn="1"/>
        </p:nvSpPr>
        <p:spPr>
          <a:xfrm>
            <a:off x="10160000" y="6146800"/>
            <a:ext cx="1270000" cy="203200"/>
          </a:xfrm>
          <a:prstGeom prst="rect">
            <a:avLst/>
          </a:prstGeom>
        </p:spPr>
        <p:txBody>
          <a:bodyPr wrap="none" lIns="0" tIns="0" rIns="0" bIns="0" anchor="b"/>
          <a:lstStyle/>
          <a:p>
            <a:pPr algn="r"/>
            <a:r>
              <a:rPr lang="en-US" sz="2400" b="1" spc="-100">
                <a:solidFill>
                  <a:srgbClr val="FFFFFF"/>
                </a:solidFill>
                <a:latin typeface="Inter Black"/>
              </a:rPr>
              <a:t>a·t4</a:t>
            </a:r>
            <a:r>
              <a:rPr lang="en-US" sz="2400" b="1" spc="-100">
                <a:solidFill>
                  <a:srgbClr val="ED6D24"/>
                </a:solidFill>
                <a:latin typeface="Inter Black"/>
              </a:rPr>
              <a:t>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band">
    <p:bg>
      <p:bgPr>
        <a:solidFill>
          <a:srgbClr val="943890"/>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35560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F2ECF5"/>
                </a:solidFill>
                <a:latin typeface="JetBrains Mono"/>
              </a:defRPr>
            </a:lvl1pPr>
          </a:lstStyle>
          <a:p>
            <a:endParaRPr/>
          </a:p>
        </p:txBody>
      </p:sp>
      <p:sp>
        <p:nvSpPr>
          <p:cNvPr id="3" name="Title"/>
          <p:cNvSpPr>
            <a:spLocks noGrp="1"/>
          </p:cNvSpPr>
          <p:nvPr>
            <p:ph type="title"/>
          </p:nvPr>
        </p:nvSpPr>
        <p:spPr>
          <a:xfrm>
            <a:off x="762000" y="3937000"/>
            <a:ext cx="10668000" cy="1905000"/>
          </a:xfrm>
          <a:prstGeom prst="rect">
            <a:avLst/>
          </a:prstGeom>
        </p:spPr>
        <p:txBody>
          <a:bodyPr wrap="square" lIns="0" tIns="0" rIns="0" bIns="0" anchor="b">
            <a:normAutofit/>
          </a:bodyPr>
          <a:lstStyle>
            <a:lvl1pPr marL="0" indent="0" algn="l">
              <a:lnSpc>
                <a:spcPct val="88000"/>
              </a:lnSpc>
              <a:buNone/>
              <a:defRPr sz="9750" b="1" spc="0" cap="none">
                <a:solidFill>
                  <a:srgbClr val="FFFFFF"/>
                </a:solidFill>
                <a:latin typeface="Inter Black"/>
              </a:defRPr>
            </a:lvl1pPr>
          </a:lstStyle>
          <a:p>
            <a:endParaRPr/>
          </a:p>
        </p:txBody>
      </p:sp>
      <p:sp>
        <p:nvSpPr>
          <p:cNvPr id="4" name="Kicker"/>
          <p:cNvSpPr>
            <a:spLocks noGrp="1"/>
          </p:cNvSpPr>
          <p:nvPr>
            <p:ph type="body" idx="1"/>
          </p:nvPr>
        </p:nvSpPr>
        <p:spPr>
          <a:xfrm>
            <a:off x="762000" y="5969000"/>
            <a:ext cx="8890000" cy="381000"/>
          </a:xfrm>
          <a:prstGeom prst="rect">
            <a:avLst/>
          </a:prstGeom>
        </p:spPr>
        <p:txBody>
          <a:bodyPr wrap="square" lIns="0" tIns="0" rIns="0" bIns="0" anchor="t">
            <a:normAutofit/>
          </a:bodyPr>
          <a:lstStyle>
            <a:lvl1pPr marL="0" indent="0" algn="l">
              <a:lnSpc>
                <a:spcPct val="100000"/>
              </a:lnSpc>
              <a:buNone/>
              <a:defRPr sz="2100" b="0" spc="340" cap="all">
                <a:solidFill>
                  <a:srgbClr val="F2ECF5"/>
                </a:solidFill>
                <a:latin typeface="JetBrains Mono"/>
              </a:defRPr>
            </a:lvl1pPr>
          </a:lstStyle>
          <a:p>
            <a:endParaRP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F2ECF5"/>
                </a:solidFill>
                <a:latin typeface="JetBrains Mono"/>
              </a:defRPr>
            </a:lvl1pPr>
          </a:lstStyle>
          <a:p>
            <a:fld id="{B6F15528-21DE-4FAA-801E-634DDDAF4B2B}" type="slidenum">
              <a:rPr lang="en-US"/>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ontent — white">
    <p:bg>
      <p:bgPr>
        <a:solidFill>
          <a:srgbClr val="FFFFFF"/>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6096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5C6470"/>
                </a:solidFill>
                <a:latin typeface="JetBrains Mono"/>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5C6470"/>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5C6470"/>
                </a:solidFill>
                <a:latin typeface="JetBrains Mono"/>
              </a:defRPr>
            </a:lvl1pPr>
          </a:lstStyle>
          <a:p>
            <a:fld id="{B6F15528-21DE-4FAA-801E-634DDDAF4B2B}" type="slidenum">
              <a:rPr lang="en-US"/>
              <a:t>‹#›</a:t>
            </a:fld>
          </a:p>
        </p:txBody>
      </p:sp>
      <p:pic>
        <p:nvPicPr>
          <p:cNvPr id="22" name="PolyU Design"/>
          <p:cNvPicPr>
            <a:picLocks noChangeAspect="1"/>
          </p:cNvPicPr>
          <p:nvPr userDrawn="1"/>
        </p:nvPicPr>
        <p:blipFill>
          <a:blip r:embed="rId2"/>
          <a:stretch>
            <a:fillRect/>
          </a:stretch>
        </p:blipFill>
        <p:spPr>
          <a:xfrm>
            <a:off x="10591800" y="469900"/>
            <a:ext cx="838200" cy="558800"/>
          </a:xfrm>
          <a:prstGeom prst="rect">
            <a:avLst/>
          </a:prstGeom>
        </p:spPr>
      </p:pic>
      <p:sp>
        <p:nvSpPr>
          <p:cNvPr id="3" name="Title"/>
          <p:cNvSpPr>
            <a:spLocks noGrp="1"/>
          </p:cNvSpPr>
          <p:nvPr>
            <p:ph type="title"/>
          </p:nvPr>
        </p:nvSpPr>
        <p:spPr>
          <a:xfrm>
            <a:off x="762000" y="1168400"/>
            <a:ext cx="10668000" cy="889000"/>
          </a:xfrm>
          <a:prstGeom prst="rect">
            <a:avLst/>
          </a:prstGeom>
        </p:spPr>
        <p:txBody>
          <a:bodyPr wrap="square" lIns="0" tIns="0" rIns="0" bIns="0" anchor="t">
            <a:normAutofit/>
          </a:bodyPr>
          <a:lstStyle>
            <a:lvl1pPr marL="0" indent="0" algn="l">
              <a:lnSpc>
                <a:spcPct val="95000"/>
              </a:lnSpc>
              <a:buNone/>
              <a:defRPr sz="5400" b="1" spc="0" cap="none">
                <a:solidFill>
                  <a:srgbClr val="000B1C"/>
                </a:solidFill>
                <a:latin typeface="Inter ExtraBold"/>
              </a:defRPr>
            </a:lvl1pPr>
          </a:lstStyle>
          <a:p>
            <a:endParaRPr/>
          </a:p>
        </p:txBody>
      </p:sp>
      <p:sp>
        <p:nvSpPr>
          <p:cNvPr id="4" name="Body"/>
          <p:cNvSpPr>
            <a:spLocks noGrp="1"/>
          </p:cNvSpPr>
          <p:nvPr>
            <p:ph type="body" idx="1"/>
          </p:nvPr>
        </p:nvSpPr>
        <p:spPr>
          <a:xfrm>
            <a:off x="762000" y="2362200"/>
            <a:ext cx="10668000" cy="3683000"/>
          </a:xfrm>
          <a:prstGeom prst="rect">
            <a:avLst/>
          </a:prstGeom>
        </p:spPr>
        <p:txBody>
          <a:bodyPr wrap="square" lIns="0" tIns="0" rIns="0" bIns="0" anchor="t">
            <a:normAutofit/>
          </a:bodyPr>
          <a:lstStyle>
            <a:lvl1pPr marL="0" indent="0" algn="l">
              <a:lnSpc>
                <a:spcPct val="140000"/>
              </a:lnSpc>
              <a:buNone/>
              <a:defRPr sz="2700" b="0" spc="0" cap="none">
                <a:solidFill>
                  <a:srgbClr val="2A323D"/>
                </a:solidFill>
                <a:latin typeface="Inter"/>
              </a:defRPr>
            </a:lvl1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ntent — ink">
    <p:bg>
      <p:bgPr>
        <a:solidFill>
          <a:srgbClr val="000B1C"/>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6096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B3B7BE"/>
                </a:solidFill>
                <a:latin typeface="JetBrains Mono"/>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B3B7BE"/>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B3B7BE"/>
                </a:solidFill>
                <a:latin typeface="JetBrains Mono"/>
              </a:defRPr>
            </a:lvl1pPr>
          </a:lstStyle>
          <a:p>
            <a:fld id="{B6F15528-21DE-4FAA-801E-634DDDAF4B2B}" type="slidenum">
              <a:rPr lang="en-US"/>
              <a:t>‹#›</a:t>
            </a:fld>
          </a:p>
        </p:txBody>
      </p:sp>
      <p:sp>
        <p:nvSpPr>
          <p:cNvPr id="3" name="Title"/>
          <p:cNvSpPr>
            <a:spLocks noGrp="1"/>
          </p:cNvSpPr>
          <p:nvPr>
            <p:ph type="title"/>
          </p:nvPr>
        </p:nvSpPr>
        <p:spPr>
          <a:xfrm>
            <a:off x="762000" y="1168400"/>
            <a:ext cx="10668000" cy="1270000"/>
          </a:xfrm>
          <a:prstGeom prst="rect">
            <a:avLst/>
          </a:prstGeom>
        </p:spPr>
        <p:txBody>
          <a:bodyPr wrap="square" lIns="0" tIns="0" rIns="0" bIns="0" anchor="t">
            <a:normAutofit/>
          </a:bodyPr>
          <a:lstStyle>
            <a:lvl1pPr marL="0" indent="0" algn="l">
              <a:lnSpc>
                <a:spcPct val="90000"/>
              </a:lnSpc>
              <a:buNone/>
              <a:defRPr sz="8250" b="1" spc="0" cap="none">
                <a:solidFill>
                  <a:srgbClr val="FFFFFF"/>
                </a:solidFill>
                <a:latin typeface="Inter Black"/>
              </a:defRPr>
            </a:lvl1pPr>
          </a:lstStyle>
          <a:p>
            <a:endParaRPr/>
          </a:p>
        </p:txBody>
      </p:sp>
      <p:sp>
        <p:nvSpPr>
          <p:cNvPr id="4" name="Body"/>
          <p:cNvSpPr>
            <a:spLocks noGrp="1"/>
          </p:cNvSpPr>
          <p:nvPr>
            <p:ph type="body" idx="1"/>
          </p:nvPr>
        </p:nvSpPr>
        <p:spPr>
          <a:xfrm>
            <a:off x="762000" y="2730500"/>
            <a:ext cx="10668000" cy="3302000"/>
          </a:xfrm>
          <a:prstGeom prst="rect">
            <a:avLst/>
          </a:prstGeom>
        </p:spPr>
        <p:txBody>
          <a:bodyPr wrap="square" lIns="0" tIns="0" rIns="0" bIns="0" anchor="t">
            <a:normAutofit/>
          </a:bodyPr>
          <a:lstStyle>
            <a:lvl1pPr marL="0" indent="0" algn="l">
              <a:lnSpc>
                <a:spcPct val="140000"/>
              </a:lnSpc>
              <a:buNone/>
              <a:defRPr sz="2700" b="0" spc="0" cap="none">
                <a:solidFill>
                  <a:srgbClr val="D3E7E8"/>
                </a:solidFill>
                <a:latin typeface="Inter"/>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lumn">
    <p:bg>
      <p:bgPr>
        <a:solidFill>
          <a:srgbClr val="FFFFFF"/>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6096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5C6470"/>
                </a:solidFill>
                <a:latin typeface="JetBrains Mono"/>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5C6470"/>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5C6470"/>
                </a:solidFill>
                <a:latin typeface="JetBrains Mono"/>
              </a:defRPr>
            </a:lvl1pPr>
          </a:lstStyle>
          <a:p>
            <a:fld id="{B6F15528-21DE-4FAA-801E-634DDDAF4B2B}" type="slidenum">
              <a:rPr lang="en-US"/>
              <a:t>‹#›</a:t>
            </a:fld>
          </a:p>
        </p:txBody>
      </p:sp>
      <p:pic>
        <p:nvPicPr>
          <p:cNvPr id="22" name="PolyU Design"/>
          <p:cNvPicPr>
            <a:picLocks noChangeAspect="1"/>
          </p:cNvPicPr>
          <p:nvPr userDrawn="1"/>
        </p:nvPicPr>
        <p:blipFill>
          <a:blip r:embed="rId2"/>
          <a:stretch>
            <a:fillRect/>
          </a:stretch>
        </p:blipFill>
        <p:spPr>
          <a:xfrm>
            <a:off x="10591800" y="469900"/>
            <a:ext cx="838200" cy="558800"/>
          </a:xfrm>
          <a:prstGeom prst="rect">
            <a:avLst/>
          </a:prstGeom>
        </p:spPr>
      </p:pic>
      <p:sp>
        <p:nvSpPr>
          <p:cNvPr id="3" name="Title"/>
          <p:cNvSpPr>
            <a:spLocks noGrp="1"/>
          </p:cNvSpPr>
          <p:nvPr>
            <p:ph type="title"/>
          </p:nvPr>
        </p:nvSpPr>
        <p:spPr>
          <a:xfrm>
            <a:off x="762000" y="1168400"/>
            <a:ext cx="5080000" cy="1651000"/>
          </a:xfrm>
          <a:prstGeom prst="rect">
            <a:avLst/>
          </a:prstGeom>
        </p:spPr>
        <p:txBody>
          <a:bodyPr wrap="square" lIns="0" tIns="0" rIns="0" bIns="0" anchor="t">
            <a:normAutofit/>
          </a:bodyPr>
          <a:lstStyle>
            <a:lvl1pPr marL="0" indent="0" algn="l">
              <a:lnSpc>
                <a:spcPct val="95000"/>
              </a:lnSpc>
              <a:buNone/>
              <a:defRPr sz="5400" b="1" spc="0" cap="none">
                <a:solidFill>
                  <a:srgbClr val="000B1C"/>
                </a:solidFill>
                <a:latin typeface="Inter ExtraBold"/>
              </a:defRPr>
            </a:lvl1pPr>
          </a:lstStyle>
          <a:p>
            <a:endParaRPr/>
          </a:p>
        </p:txBody>
      </p:sp>
      <p:sp>
        <p:nvSpPr>
          <p:cNvPr id="4" name="Body"/>
          <p:cNvSpPr>
            <a:spLocks noGrp="1"/>
          </p:cNvSpPr>
          <p:nvPr>
            <p:ph type="body" idx="1"/>
          </p:nvPr>
        </p:nvSpPr>
        <p:spPr>
          <a:xfrm>
            <a:off x="762000" y="3048000"/>
            <a:ext cx="5080000" cy="2984500"/>
          </a:xfrm>
          <a:prstGeom prst="rect">
            <a:avLst/>
          </a:prstGeom>
        </p:spPr>
        <p:txBody>
          <a:bodyPr wrap="square" lIns="0" tIns="0" rIns="0" bIns="0" anchor="t">
            <a:normAutofit/>
          </a:bodyPr>
          <a:lstStyle>
            <a:lvl1pPr marL="0" indent="0" algn="l">
              <a:lnSpc>
                <a:spcPct val="140000"/>
              </a:lnSpc>
              <a:buNone/>
              <a:defRPr sz="2700" b="0" spc="0" cap="none">
                <a:solidFill>
                  <a:srgbClr val="2A323D"/>
                </a:solidFill>
                <a:latin typeface="Inter"/>
              </a:defRPr>
            </a:lvl1pPr>
          </a:lstStyle>
          <a:p>
            <a:endParaRPr/>
          </a:p>
        </p:txBody>
      </p:sp>
      <p:sp>
        <p:nvSpPr>
          <p:cNvPr id="5" name="Picture"/>
          <p:cNvSpPr>
            <a:spLocks noGrp="1"/>
          </p:cNvSpPr>
          <p:nvPr>
            <p:ph type="pic" idx="2"/>
          </p:nvPr>
        </p:nvSpPr>
        <p:spPr>
          <a:xfrm>
            <a:off x="6350000" y="1168400"/>
            <a:ext cx="5080000" cy="4864100"/>
          </a:xfrm>
          <a:prstGeom prst="rect">
            <a:avLst/>
          </a:prstGeom>
        </p:spPr>
        <p:txBody>
          <a:bodyPr wrap="square" lIns="0" tIns="0" rIns="0" bIns="0" anchor="t">
            <a:normAutofit/>
          </a:bodyPr>
          <a:lstStyle>
            <a:lvl1pPr marL="0" indent="0" algn="l">
              <a:lnSpc>
                <a:spcPct val="100000"/>
              </a:lnSpc>
              <a:buNone/>
              <a:defRPr sz="2100" b="0" spc="0" cap="none">
                <a:solidFill>
                  <a:srgbClr val="5C6470"/>
                </a:solidFill>
                <a:latin typeface="Inter"/>
              </a:defRPr>
            </a:lvl1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Question">
    <p:bg>
      <p:bgPr>
        <a:solidFill>
          <a:srgbClr val="FFFFFF"/>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6096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5C6470"/>
                </a:solidFill>
                <a:latin typeface="JetBrains Mono"/>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5C6470"/>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5C6470"/>
                </a:solidFill>
                <a:latin typeface="JetBrains Mono"/>
              </a:defRPr>
            </a:lvl1pPr>
          </a:lstStyle>
          <a:p>
            <a:fld id="{B6F15528-21DE-4FAA-801E-634DDDAF4B2B}" type="slidenum">
              <a:rPr lang="en-US"/>
              <a:t>‹#›</a:t>
            </a:fld>
          </a:p>
        </p:txBody>
      </p:sp>
      <p:pic>
        <p:nvPicPr>
          <p:cNvPr id="22" name="PolyU Design"/>
          <p:cNvPicPr>
            <a:picLocks noChangeAspect="1"/>
          </p:cNvPicPr>
          <p:nvPr userDrawn="1"/>
        </p:nvPicPr>
        <p:blipFill>
          <a:blip r:embed="rId2"/>
          <a:stretch>
            <a:fillRect/>
          </a:stretch>
        </p:blipFill>
        <p:spPr>
          <a:xfrm>
            <a:off x="10591800" y="469900"/>
            <a:ext cx="838200" cy="558800"/>
          </a:xfrm>
          <a:prstGeom prst="rect">
            <a:avLst/>
          </a:prstGeom>
        </p:spPr>
      </p:pic>
      <p:sp>
        <p:nvSpPr>
          <p:cNvPr id="3" name="Question"/>
          <p:cNvSpPr>
            <a:spLocks noGrp="1"/>
          </p:cNvSpPr>
          <p:nvPr>
            <p:ph type="title"/>
          </p:nvPr>
        </p:nvSpPr>
        <p:spPr>
          <a:xfrm>
            <a:off x="762000" y="1905000"/>
            <a:ext cx="10668000" cy="2413000"/>
          </a:xfrm>
          <a:prstGeom prst="rect">
            <a:avLst/>
          </a:prstGeom>
        </p:spPr>
        <p:txBody>
          <a:bodyPr wrap="square" lIns="0" tIns="0" rIns="0" bIns="0" anchor="ctr">
            <a:normAutofit/>
          </a:bodyPr>
          <a:lstStyle>
            <a:lvl1pPr marL="0" indent="0" algn="l">
              <a:lnSpc>
                <a:spcPct val="90000"/>
              </a:lnSpc>
              <a:buNone/>
              <a:defRPr sz="9000" b="1" spc="0" cap="none">
                <a:solidFill>
                  <a:srgbClr val="000B1C"/>
                </a:solidFill>
                <a:latin typeface="Inter Black"/>
              </a:defRPr>
            </a:lvl1pPr>
          </a:lstStyle>
          <a:p>
            <a:endParaRPr/>
          </a:p>
        </p:txBody>
      </p:sp>
      <p:sp>
        <p:nvSpPr>
          <p:cNvPr id="4" name="Choices"/>
          <p:cNvSpPr>
            <a:spLocks noGrp="1"/>
          </p:cNvSpPr>
          <p:nvPr>
            <p:ph type="body" idx="1"/>
          </p:nvPr>
        </p:nvSpPr>
        <p:spPr>
          <a:xfrm>
            <a:off x="762000" y="4572000"/>
            <a:ext cx="8255000" cy="1397000"/>
          </a:xfrm>
          <a:prstGeom prst="rect">
            <a:avLst/>
          </a:prstGeom>
        </p:spPr>
        <p:txBody>
          <a:bodyPr wrap="square" lIns="0" tIns="0" rIns="0" bIns="0" anchor="t">
            <a:normAutofit/>
          </a:bodyPr>
          <a:lstStyle>
            <a:lvl1pPr marL="0" indent="0" algn="l">
              <a:lnSpc>
                <a:spcPct val="130000"/>
              </a:lnSpc>
              <a:buNone/>
              <a:defRPr sz="2700" b="0" spc="0" cap="none">
                <a:solidFill>
                  <a:srgbClr val="000B1C"/>
                </a:solidFill>
                <a:latin typeface="Inter"/>
              </a:defRPr>
            </a:lvl1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Quote">
    <p:bg>
      <p:bgPr>
        <a:solidFill>
          <a:srgbClr val="F4F4F2"/>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6096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5C6470"/>
                </a:solidFill>
                <a:latin typeface="JetBrains Mono"/>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5C6470"/>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5C6470"/>
                </a:solidFill>
                <a:latin typeface="JetBrains Mono"/>
              </a:defRPr>
            </a:lvl1pPr>
          </a:lstStyle>
          <a:p>
            <a:fld id="{B6F15528-21DE-4FAA-801E-634DDDAF4B2B}" type="slidenum">
              <a:rPr lang="en-US"/>
              <a:t>‹#›</a:t>
            </a:fld>
          </a:p>
        </p:txBody>
      </p:sp>
      <p:pic>
        <p:nvPicPr>
          <p:cNvPr id="22" name="PolyU Design"/>
          <p:cNvPicPr>
            <a:picLocks noChangeAspect="1"/>
          </p:cNvPicPr>
          <p:nvPr userDrawn="1"/>
        </p:nvPicPr>
        <p:blipFill>
          <a:blip r:embed="rId2"/>
          <a:stretch>
            <a:fillRect/>
          </a:stretch>
        </p:blipFill>
        <p:spPr>
          <a:xfrm>
            <a:off x="10591800" y="469900"/>
            <a:ext cx="838200" cy="558800"/>
          </a:xfrm>
          <a:prstGeom prst="rect">
            <a:avLst/>
          </a:prstGeom>
        </p:spPr>
      </p:pic>
      <p:sp>
        <p:nvSpPr>
          <p:cNvPr id="3" name="Quote"/>
          <p:cNvSpPr>
            <a:spLocks noGrp="1"/>
          </p:cNvSpPr>
          <p:nvPr>
            <p:ph type="body" idx="1"/>
          </p:nvPr>
        </p:nvSpPr>
        <p:spPr>
          <a:xfrm>
            <a:off x="762000" y="1905000"/>
            <a:ext cx="10160000" cy="3175000"/>
          </a:xfrm>
          <a:prstGeom prst="rect">
            <a:avLst/>
          </a:prstGeom>
        </p:spPr>
        <p:txBody>
          <a:bodyPr wrap="square" lIns="0" tIns="0" rIns="0" bIns="0" anchor="ctr">
            <a:normAutofit/>
          </a:bodyPr>
          <a:lstStyle>
            <a:lvl1pPr marL="0" indent="0" algn="l">
              <a:lnSpc>
                <a:spcPct val="100000"/>
              </a:lnSpc>
              <a:buNone/>
              <a:defRPr sz="6600" b="1" spc="0" cap="none">
                <a:solidFill>
                  <a:srgbClr val="000B1C"/>
                </a:solidFill>
                <a:latin typeface="Inter ExtraBold"/>
              </a:defRPr>
            </a:lvl1pPr>
          </a:lstStyle>
          <a:p>
            <a:endParaRPr/>
          </a:p>
        </p:txBody>
      </p:sp>
      <p:sp>
        <p:nvSpPr>
          <p:cNvPr id="4" name="Attribution"/>
          <p:cNvSpPr>
            <a:spLocks noGrp="1"/>
          </p:cNvSpPr>
          <p:nvPr>
            <p:ph type="body" idx="2"/>
          </p:nvPr>
        </p:nvSpPr>
        <p:spPr>
          <a:xfrm>
            <a:off x="762000" y="5334000"/>
            <a:ext cx="10160000" cy="254000"/>
          </a:xfrm>
          <a:prstGeom prst="rect">
            <a:avLst/>
          </a:prstGeom>
        </p:spPr>
        <p:txBody>
          <a:bodyPr wrap="square" lIns="0" tIns="0" rIns="0" bIns="0" anchor="t">
            <a:normAutofit/>
          </a:bodyPr>
          <a:lstStyle>
            <a:lvl1pPr marL="0" indent="0" algn="l">
              <a:lnSpc>
                <a:spcPct val="100000"/>
              </a:lnSpc>
              <a:buNone/>
              <a:defRPr sz="2100" b="0" spc="0" cap="none">
                <a:solidFill>
                  <a:srgbClr val="5C6470"/>
                </a:solidFill>
                <a:latin typeface="JetBrains Mono"/>
              </a:defRPr>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tatement">
    <p:bg>
      <p:bgPr>
        <a:solidFill>
          <a:srgbClr val="000B1C"/>
        </a:solidFill>
        <a:effectLst/>
      </p:bgPr>
    </p:bg>
    <p:spTree>
      <p:nvGrpSpPr>
        <p:cNvPr id="1" name=""/>
        <p:cNvGrpSpPr/>
        <p:nvPr/>
      </p:nvGrpSpPr>
      <p:grpSpPr>
        <a:xfrm>
          <a:off x="0" y="0"/>
          <a:ext cx="0" cy="0"/>
          <a:chOff x="0" y="0"/>
          <a:chExt cx="0" cy="0"/>
        </a:xfrm>
      </p:grpSpPr>
      <p:sp>
        <p:nvSpPr>
          <p:cNvPr id="2" name="Eyebrow"/>
          <p:cNvSpPr>
            <a:spLocks noGrp="1"/>
          </p:cNvSpPr>
          <p:nvPr>
            <p:ph type="body" idx="10"/>
          </p:nvPr>
        </p:nvSpPr>
        <p:spPr>
          <a:xfrm>
            <a:off x="762000" y="609600"/>
            <a:ext cx="9525000" cy="254000"/>
          </a:xfrm>
          <a:prstGeom prst="rect">
            <a:avLst/>
          </a:prstGeom>
        </p:spPr>
        <p:txBody>
          <a:bodyPr wrap="square" lIns="0" tIns="0" rIns="0" bIns="0" anchor="t">
            <a:normAutofit/>
          </a:bodyPr>
          <a:lstStyle>
            <a:lvl1pPr marL="0" indent="0" algn="l">
              <a:lnSpc>
                <a:spcPct val="100000"/>
              </a:lnSpc>
              <a:buNone/>
              <a:defRPr sz="1800" b="0" spc="340" cap="all">
                <a:solidFill>
                  <a:srgbClr val="B3B7BE"/>
                </a:solidFill>
                <a:latin typeface="JetBrains Mono"/>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B3B7BE"/>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B3B7BE"/>
                </a:solidFill>
                <a:latin typeface="JetBrains Mono"/>
              </a:defRPr>
            </a:lvl1pPr>
          </a:lstStyle>
          <a:p>
            <a:fld id="{B6F15528-21DE-4FAA-801E-634DDDAF4B2B}" type="slidenum">
              <a:rPr lang="en-US"/>
              <a:t>‹#›</a:t>
            </a:fld>
          </a:p>
        </p:txBody>
      </p:sp>
      <p:sp>
        <p:nvSpPr>
          <p:cNvPr id="3" name="Statement"/>
          <p:cNvSpPr>
            <a:spLocks noGrp="1"/>
          </p:cNvSpPr>
          <p:nvPr>
            <p:ph type="title"/>
          </p:nvPr>
        </p:nvSpPr>
        <p:spPr>
          <a:xfrm>
            <a:off x="762000" y="1168400"/>
            <a:ext cx="10668000" cy="4826000"/>
          </a:xfrm>
          <a:prstGeom prst="rect">
            <a:avLst/>
          </a:prstGeom>
        </p:spPr>
        <p:txBody>
          <a:bodyPr wrap="square" lIns="0" tIns="0" rIns="0" bIns="0" anchor="ctr">
            <a:normAutofit/>
          </a:bodyPr>
          <a:lstStyle>
            <a:lvl1pPr marL="0" indent="0" algn="l">
              <a:lnSpc>
                <a:spcPct val="88000"/>
              </a:lnSpc>
              <a:buNone/>
              <a:defRPr sz="11250" b="1" spc="0" cap="none">
                <a:solidFill>
                  <a:srgbClr val="FFFFFF"/>
                </a:solidFill>
                <a:latin typeface="Inter Black"/>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762000" y="1168400"/>
            <a:ext cx="10668000" cy="889000"/>
          </a:xfrm>
          <a:prstGeom prst="rect">
            <a:avLst/>
          </a:prstGeom>
        </p:spPr>
        <p:txBody>
          <a:bodyPr wrap="square" lIns="0" tIns="0" rIns="0" bIns="0" anchor="t">
            <a:normAutofit/>
          </a:bodyPr>
          <a:lstStyle>
            <a:lvl1pPr marL="0" indent="0" algn="l">
              <a:lnSpc>
                <a:spcPct val="95000"/>
              </a:lnSpc>
              <a:buNone/>
              <a:defRPr sz="5400" b="1" spc="0" cap="none">
                <a:solidFill>
                  <a:srgbClr val="000B1C"/>
                </a:solidFill>
                <a:latin typeface="Inter ExtraBold"/>
              </a:defRPr>
            </a:lvl1pPr>
          </a:lstStyle>
          <a:p>
            <a:endParaRPr/>
          </a:p>
        </p:txBody>
      </p:sp>
      <p:sp>
        <p:nvSpPr>
          <p:cNvPr id="3" name="Body"/>
          <p:cNvSpPr>
            <a:spLocks noGrp="1"/>
          </p:cNvSpPr>
          <p:nvPr>
            <p:ph type="body" idx="1"/>
          </p:nvPr>
        </p:nvSpPr>
        <p:spPr>
          <a:xfrm>
            <a:off x="762000" y="2362200"/>
            <a:ext cx="10668000" cy="3683000"/>
          </a:xfrm>
          <a:prstGeom prst="rect">
            <a:avLst/>
          </a:prstGeom>
        </p:spPr>
        <p:txBody>
          <a:bodyPr wrap="square" lIns="0" tIns="0" rIns="0" bIns="0" anchor="t">
            <a:normAutofit/>
          </a:bodyPr>
          <a:lstStyle>
            <a:lvl1pPr marL="0" indent="0" algn="l">
              <a:lnSpc>
                <a:spcPct val="140000"/>
              </a:lnSpc>
              <a:buNone/>
              <a:defRPr sz="2700" b="0" spc="0" cap="none">
                <a:solidFill>
                  <a:srgbClr val="2A323D"/>
                </a:solidFill>
                <a:latin typeface="Inter"/>
              </a:defRPr>
            </a:lvl1pPr>
          </a:lstStyle>
          <a:p>
            <a:endParaRPr/>
          </a:p>
        </p:txBody>
      </p:sp>
      <p:sp>
        <p:nvSpPr>
          <p:cNvPr id="20" name="Footer"/>
          <p:cNvSpPr>
            <a:spLocks noGrp="1"/>
          </p:cNvSpPr>
          <p:nvPr>
            <p:ph type="ftr" idx="11"/>
          </p:nvPr>
        </p:nvSpPr>
        <p:spPr>
          <a:xfrm>
            <a:off x="762000" y="6350000"/>
            <a:ext cx="6350000" cy="203200"/>
          </a:xfrm>
          <a:prstGeom prst="rect">
            <a:avLst/>
          </a:prstGeom>
        </p:spPr>
        <p:txBody>
          <a:bodyPr wrap="square" lIns="0" tIns="0" rIns="0" bIns="0" anchor="b">
            <a:normAutofit/>
          </a:bodyPr>
          <a:lstStyle>
            <a:lvl1pPr marL="0" indent="0" algn="l">
              <a:lnSpc>
                <a:spcPct val="100000"/>
              </a:lnSpc>
              <a:buNone/>
              <a:defRPr sz="1650" b="0" spc="340" cap="all">
                <a:solidFill>
                  <a:srgbClr val="5C6470"/>
                </a:solidFill>
                <a:latin typeface="JetBrains Mono"/>
              </a:defRPr>
            </a:lvl1pPr>
          </a:lstStyle>
          <a:p>
            <a:r>
              <a:rPr lang="en-US"/>
              <a:t>SD2112 · AI IN DESIGN · WEEK 01</a:t>
            </a:r>
          </a:p>
        </p:txBody>
      </p:sp>
      <p:sp>
        <p:nvSpPr>
          <p:cNvPr id="21" name="Slide number"/>
          <p:cNvSpPr>
            <a:spLocks noGrp="1"/>
          </p:cNvSpPr>
          <p:nvPr>
            <p:ph type="sldNum" idx="12"/>
          </p:nvPr>
        </p:nvSpPr>
        <p:spPr>
          <a:xfrm>
            <a:off x="8890000" y="6350000"/>
            <a:ext cx="2540000" cy="203200"/>
          </a:xfrm>
          <a:prstGeom prst="rect">
            <a:avLst/>
          </a:prstGeom>
        </p:spPr>
        <p:txBody>
          <a:bodyPr wrap="square" lIns="0" tIns="0" rIns="0" bIns="0" anchor="b">
            <a:normAutofit/>
          </a:bodyPr>
          <a:lstStyle>
            <a:lvl1pPr marL="0" indent="0" algn="r">
              <a:lnSpc>
                <a:spcPct val="100000"/>
              </a:lnSpc>
              <a:buNone/>
              <a:defRPr sz="1650" b="0" spc="340" cap="none">
                <a:solidFill>
                  <a:srgbClr val="5C6470"/>
                </a:solidFill>
                <a:latin typeface="JetBrains Mono"/>
              </a:defRPr>
            </a:lvl1pPr>
          </a:lstStyle>
          <a:p>
            <a:fld id="{B6F15528-21DE-4FAA-801E-634DDDAF4B2B}" type="slidenum">
              <a:rPr lang="en-US"/>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marL="0" indent="0" algn="l">
        <a:lnSpc>
          <a:spcPct val="95000"/>
        </a:lnSpc>
        <a:buNone/>
        <a:defRPr sz="5400" b="1">
          <a:solidFill>
            <a:srgbClr val="000B1C"/>
          </a:solidFill>
          <a:latin typeface="Inter ExtraBold"/>
        </a:defRPr>
      </a:lvl1pPr>
    </p:titleStyle>
    <p:bodyStyle>
      <a:lvl1pPr marL="0" indent="0" algn="l">
        <a:lnSpc>
          <a:spcPct val="140000"/>
        </a:lnSpc>
        <a:spcBef>
          <a:spcPts val="600"/>
        </a:spcBef>
        <a:buNone/>
        <a:defRPr sz="2700">
          <a:solidFill>
            <a:srgbClr val="2A323D"/>
          </a:solidFill>
          <a:latin typeface="Inter"/>
        </a:defRPr>
      </a:lvl1pPr>
      <a:lvl2pPr marL="304800" indent="-304800" algn="l">
        <a:lnSpc>
          <a:spcPct val="140000"/>
        </a:lnSpc>
        <a:buClr>
          <a:srgbClr val="ED6D24"/>
        </a:buClr>
        <a:buFont typeface="Inter Black"/>
        <a:buChar char="·"/>
        <a:defRPr sz="2700">
          <a:solidFill>
            <a:srgbClr val="2A323D"/>
          </a:solidFill>
          <a:latin typeface="Inter"/>
        </a:defRPr>
      </a:lvl2pPr>
      <a:lvl3pPr marL="609600" indent="-304800" algn="l">
        <a:lnSpc>
          <a:spcPct val="140000"/>
        </a:lnSpc>
        <a:buClr>
          <a:srgbClr val="ED6D24"/>
        </a:buClr>
        <a:buFont typeface="Inter Black"/>
        <a:buChar char="·"/>
        <a:defRPr sz="2100">
          <a:solidFill>
            <a:srgbClr val="5C6470"/>
          </a:solidFill>
          <a:latin typeface="Inter"/>
        </a:defRPr>
      </a:lvl3pPr>
    </p:bodyStyle>
    <p:otherStyle>
      <a:lvl1pPr marL="0" indent="0" algn="l">
        <a:buNone/>
        <a:defRPr sz="2700">
          <a:solidFill>
            <a:srgbClr val="000B1C"/>
          </a:solidFill>
          <a:latin typeface="Inter"/>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btn-word-cloud.png"/><Relationship Id="rId5"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btn-multiple-choice.png"/><Relationship Id="rId5"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image" Target="../media/btn-multiple-choice.png"/><Relationship Id="rId5" Type="http://schemas.openxmlformats.org/officeDocument/2006/relationships/tags" Target="../tags/ta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image" Target="../media/btn-multiple-choice.png"/><Relationship Id="rId5"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btn-short-answer.png"/><Relationship Id="rId5" Type="http://schemas.openxmlformats.org/officeDocument/2006/relationships/tags" Target="../tags/tag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image" Target="../media/btn-multiple-choice.png"/><Relationship Id="rId5" Type="http://schemas.openxmlformats.org/officeDocument/2006/relationships/tags" Target="../tags/tag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g"/><Relationship Id="rId3" Type="http://schemas.openxmlformats.org/officeDocument/2006/relationships/hyperlink" Target="https://www.youtube.com/watch?v=WXuK6gekU1Y" TargetMode="External"/><Relationship Id="rId4" Type="http://schemas.openxmlformats.org/officeDocument/2006/relationships/image" Target="../media/image1.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image" Target="../media/btn-short-answer.png"/><Relationship Id="rId5" Type="http://schemas.openxmlformats.org/officeDocument/2006/relationships/tags" Target="../tags/tag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youtube.com/playlist?list=PLU58DFEI5YDQ" TargetMode="External"/><Relationship Id="rId3" Type="http://schemas.openxmlformats.org/officeDocument/2006/relationships/image" Target="../media/image21.jpg"/><Relationship Id="rId4" Type="http://schemas.openxmlformats.org/officeDocument/2006/relationships/image" Target="../media/image1.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image" Target="../media/btn-short-answer.png"/><Relationship Id="rId5" Type="http://schemas.openxmlformats.org/officeDocument/2006/relationships/tags" Target="../tags/tag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7.xml"/><Relationship Id="rId4" Type="http://schemas.openxmlformats.org/officeDocument/2006/relationships/image" Target="../media/btn-word-cloud.png"/><Relationship Id="rId5" Type="http://schemas.openxmlformats.org/officeDocument/2006/relationships/tags" Target="../tags/tag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8.xml"/><Relationship Id="rId4" Type="http://schemas.openxmlformats.org/officeDocument/2006/relationships/image" Target="../media/btn-short-answer.png"/><Relationship Id="rId5" Type="http://schemas.openxmlformats.org/officeDocument/2006/relationships/tags" Target="../tags/tag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POLYU SCHOOL OF DESIGN · SD2112 · WEEK 01 · LECTURE</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100"/>
              </a:lnSpc>
            </a:pPr>
            <a:r>
              <a:rPr sz="11250" b="0" spc="-506">
                <a:solidFill>
                  <a:srgbClr val="FFFFFF"/>
                </a:solidFill>
                <a:latin typeface="Inter Black"/>
              </a:rPr>
              <a:t>Artificial intelligence in design.</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98200"/>
              </a:lnSpc>
            </a:pPr>
            <a:r>
              <a:rPr sz="2700" b="0">
                <a:solidFill>
                  <a:srgbClr val="D3E7E8"/>
                </a:solidFill>
                <a:latin typeface="Inter"/>
              </a:rPr>
              <a:t>Week 1 — the journey, and two ways to teach a machine.</a:t>
            </a:r>
          </a:p>
        </p:txBody>
      </p:sp>
      <p:sp>
        <p:nvSpPr>
          <p:cNvPr id="5" name="chrome-wordmark"/>
          <p:cNvSpPr txBox="1"/>
          <p:nvPr/>
        </p:nvSpPr>
        <p:spPr>
          <a:xfrm>
            <a:off x="10160000" y="6146800"/>
            <a:ext cx="1270000" cy="254000"/>
          </a:xfrm>
          <a:prstGeom prst="rect">
            <a:avLst/>
          </a:prstGeom>
          <a:noFill/>
        </p:spPr>
        <p:txBody>
          <a:bodyPr wrap="square" lIns="0" rIns="0" tIns="0" bIns="0" anchor="b">
            <a:noAutofit/>
          </a:bodyPr>
          <a:lstStyle/>
          <a:p>
            <a:pPr algn="r">
              <a:lnSpc>
                <a:spcPct val="82100"/>
              </a:lnSpc>
            </a:pPr>
            <a:r>
              <a:rPr sz="2400" b="0" spc="-96">
                <a:solidFill>
                  <a:srgbClr val="FFFFFF"/>
                </a:solidFill>
                <a:latin typeface="Inter Black"/>
              </a:rPr>
              <a:t>a·t4</a:t>
            </a:r>
            <a:r>
              <a:rPr sz="2400" b="0" spc="-96">
                <a:solidFill>
                  <a:srgbClr val="ED6D24"/>
                </a:solidFill>
                <a:latin typeface="Inter Black"/>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SD2112 · WEEK 01</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Today</a:t>
            </a:r>
          </a:p>
        </p:txBody>
      </p:sp>
      <p:sp>
        <p:nvSpPr>
          <p:cNvPr id="4" name="TextBox 3"/>
          <p:cNvSpPr txBox="1"/>
          <p:nvPr/>
        </p:nvSpPr>
        <p:spPr>
          <a:xfrm>
            <a:off x="762000" y="2425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01</a:t>
            </a:r>
          </a:p>
        </p:txBody>
      </p:sp>
      <p:sp>
        <p:nvSpPr>
          <p:cNvPr id="5" name="TextBox 4"/>
          <p:cNvSpPr txBox="1"/>
          <p:nvPr/>
        </p:nvSpPr>
        <p:spPr>
          <a:xfrm>
            <a:off x="1346200" y="2362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Why are we here?</a:t>
            </a:r>
          </a:p>
        </p:txBody>
      </p:sp>
      <p:sp>
        <p:nvSpPr>
          <p:cNvPr id="6" name="Rectangle 5"/>
          <p:cNvSpPr/>
          <p:nvPr/>
        </p:nvSpPr>
        <p:spPr>
          <a:xfrm>
            <a:off x="762000" y="2946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3314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02</a:t>
            </a:r>
          </a:p>
        </p:txBody>
      </p:sp>
      <p:sp>
        <p:nvSpPr>
          <p:cNvPr id="8" name="TextBox 7"/>
          <p:cNvSpPr txBox="1"/>
          <p:nvPr/>
        </p:nvSpPr>
        <p:spPr>
          <a:xfrm>
            <a:off x="1346200" y="3251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Who are we?</a:t>
            </a:r>
          </a:p>
        </p:txBody>
      </p:sp>
      <p:sp>
        <p:nvSpPr>
          <p:cNvPr id="9" name="Rectangle 8"/>
          <p:cNvSpPr/>
          <p:nvPr/>
        </p:nvSpPr>
        <p:spPr>
          <a:xfrm>
            <a:off x="762000" y="3835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203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03</a:t>
            </a:r>
          </a:p>
        </p:txBody>
      </p:sp>
      <p:sp>
        <p:nvSpPr>
          <p:cNvPr id="11" name="TextBox 10"/>
          <p:cNvSpPr txBox="1"/>
          <p:nvPr/>
        </p:nvSpPr>
        <p:spPr>
          <a:xfrm>
            <a:off x="1346200" y="4140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The journey</a:t>
            </a:r>
          </a:p>
        </p:txBody>
      </p:sp>
      <p:sp>
        <p:nvSpPr>
          <p:cNvPr id="12" name="Rectangle 11"/>
          <p:cNvSpPr/>
          <p:nvPr/>
        </p:nvSpPr>
        <p:spPr>
          <a:xfrm>
            <a:off x="762000" y="4724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5092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04</a:t>
            </a:r>
          </a:p>
        </p:txBody>
      </p:sp>
      <p:sp>
        <p:nvSpPr>
          <p:cNvPr id="14" name="TextBox 13"/>
          <p:cNvSpPr txBox="1"/>
          <p:nvPr/>
        </p:nvSpPr>
        <p:spPr>
          <a:xfrm>
            <a:off x="1346200" y="5029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What is AI?</a:t>
            </a:r>
          </a:p>
        </p:txBody>
      </p:sp>
      <p:sp>
        <p:nvSpPr>
          <p:cNvPr id="15" name="Rectangle 14"/>
          <p:cNvSpPr/>
          <p:nvPr/>
        </p:nvSpPr>
        <p:spPr>
          <a:xfrm>
            <a:off x="762000" y="5613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0" y="2425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05</a:t>
            </a:r>
          </a:p>
        </p:txBody>
      </p:sp>
      <p:sp>
        <p:nvSpPr>
          <p:cNvPr id="17" name="TextBox 16"/>
          <p:cNvSpPr txBox="1"/>
          <p:nvPr/>
        </p:nvSpPr>
        <p:spPr>
          <a:xfrm>
            <a:off x="6934200" y="2362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AI in design, now</a:t>
            </a:r>
          </a:p>
        </p:txBody>
      </p:sp>
      <p:sp>
        <p:nvSpPr>
          <p:cNvPr id="18" name="Rectangle 17"/>
          <p:cNvSpPr/>
          <p:nvPr/>
        </p:nvSpPr>
        <p:spPr>
          <a:xfrm>
            <a:off x="6350000" y="2946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0" y="3314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06</a:t>
            </a:r>
          </a:p>
        </p:txBody>
      </p:sp>
      <p:sp>
        <p:nvSpPr>
          <p:cNvPr id="20" name="TextBox 19"/>
          <p:cNvSpPr txBox="1"/>
          <p:nvPr/>
        </p:nvSpPr>
        <p:spPr>
          <a:xfrm>
            <a:off x="6934200" y="3251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The designer's turn</a:t>
            </a:r>
          </a:p>
        </p:txBody>
      </p:sp>
      <p:sp>
        <p:nvSpPr>
          <p:cNvPr id="21" name="Rectangle 20"/>
          <p:cNvSpPr/>
          <p:nvPr/>
        </p:nvSpPr>
        <p:spPr>
          <a:xfrm>
            <a:off x="6350000" y="3835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0" y="4203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07</a:t>
            </a:r>
          </a:p>
        </p:txBody>
      </p:sp>
      <p:sp>
        <p:nvSpPr>
          <p:cNvPr id="23" name="TextBox 22"/>
          <p:cNvSpPr txBox="1"/>
          <p:nvPr/>
        </p:nvSpPr>
        <p:spPr>
          <a:xfrm>
            <a:off x="6934200" y="4140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Activity: teach the machine</a:t>
            </a:r>
          </a:p>
        </p:txBody>
      </p:sp>
      <p:sp>
        <p:nvSpPr>
          <p:cNvPr id="24" name="Rectangle 23"/>
          <p:cNvSpPr/>
          <p:nvPr/>
        </p:nvSpPr>
        <p:spPr>
          <a:xfrm>
            <a:off x="6350000" y="4724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000" y="5092700"/>
            <a:ext cx="393700" cy="355600"/>
          </a:xfrm>
          <a:prstGeom prst="rect">
            <a:avLst/>
          </a:prstGeom>
          <a:noFill/>
        </p:spPr>
        <p:txBody>
          <a:bodyPr wrap="square" lIns="0" rIns="0" tIns="0" bIns="0" anchor="t">
            <a:noAutofit/>
          </a:bodyPr>
          <a:lstStyle/>
          <a:p>
            <a:pPr algn="l">
              <a:lnSpc>
                <a:spcPct val="88400"/>
              </a:lnSpc>
            </a:pPr>
            <a:r>
              <a:rPr sz="2100" b="0">
                <a:solidFill>
                  <a:srgbClr val="ED6D24"/>
                </a:solidFill>
                <a:latin typeface="JetBrains Mono Medium"/>
              </a:rPr>
              <a:t>08</a:t>
            </a:r>
          </a:p>
        </p:txBody>
      </p:sp>
      <p:sp>
        <p:nvSpPr>
          <p:cNvPr id="26" name="TextBox 25"/>
          <p:cNvSpPr txBox="1"/>
          <p:nvPr/>
        </p:nvSpPr>
        <p:spPr>
          <a:xfrm>
            <a:off x="6934200" y="5029200"/>
            <a:ext cx="4445000" cy="482600"/>
          </a:xfrm>
          <a:prstGeom prst="rect">
            <a:avLst/>
          </a:prstGeom>
          <a:noFill/>
        </p:spPr>
        <p:txBody>
          <a:bodyPr wrap="square" lIns="0" rIns="0" tIns="0" bIns="0" anchor="ctr">
            <a:noAutofit/>
          </a:bodyPr>
          <a:lstStyle/>
          <a:p>
            <a:pPr algn="l">
              <a:lnSpc>
                <a:spcPct val="98200"/>
              </a:lnSpc>
            </a:pPr>
            <a:r>
              <a:rPr sz="2700" b="0">
                <a:solidFill>
                  <a:srgbClr val="000B1C"/>
                </a:solidFill>
                <a:latin typeface="Inter"/>
              </a:rPr>
              <a:t>How this course works</a:t>
            </a:r>
          </a:p>
        </p:txBody>
      </p:sp>
      <p:sp>
        <p:nvSpPr>
          <p:cNvPr id="27" name="Rectangle 26"/>
          <p:cNvSpPr/>
          <p:nvPr/>
        </p:nvSpPr>
        <p:spPr>
          <a:xfrm>
            <a:off x="6350000" y="5613400"/>
            <a:ext cx="5080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9"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02</a:t>
            </a:r>
          </a:p>
        </p:txBody>
      </p:sp>
      <p:pic>
        <p:nvPicPr>
          <p:cNvPr id="30"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additive="base">
                                        <p:cTn id="20" dur="500" fill="hold"/>
                                        <p:tgtEl>
                                          <p:spTgt spid="17"/>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additive="base">
                                        <p:cTn id="24" dur="500" fill="hold"/>
                                        <p:tgtEl>
                                          <p:spTgt spid="4"/>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additive="base">
                                        <p:cTn id="28" dur="500" fill="hold"/>
                                        <p:tgtEl>
                                          <p:spTgt spid="16"/>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anim calcmode="lin" valueType="num">
                                      <p:cBhvr additive="base">
                                        <p:cTn id="32" dur="500" fill="hold"/>
                                        <p:tgtEl>
                                          <p:spTgt spid="6"/>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95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anim calcmode="lin" valueType="num">
                                      <p:cBhvr additive="base">
                                        <p:cTn id="36" dur="500" fill="hold"/>
                                        <p:tgtEl>
                                          <p:spTgt spid="18"/>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260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anim calcmode="lin" valueType="num">
                                      <p:cBhvr additive="base">
                                        <p:cTn id="40" dur="500" fill="hold"/>
                                        <p:tgtEl>
                                          <p:spTgt spid="8"/>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26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anim calcmode="lin" valueType="num">
                                      <p:cBhvr additive="base">
                                        <p:cTn id="44" dur="500" fill="hold"/>
                                        <p:tgtEl>
                                          <p:spTgt spid="20"/>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260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anim calcmode="lin" valueType="num">
                                      <p:cBhvr additive="base">
                                        <p:cTn id="48" dur="500" fill="hold"/>
                                        <p:tgtEl>
                                          <p:spTgt spid="7"/>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260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anim calcmode="lin" valueType="num">
                                      <p:cBhvr additive="base">
                                        <p:cTn id="52" dur="500" fill="hold"/>
                                        <p:tgtEl>
                                          <p:spTgt spid="19"/>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325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anim calcmode="lin" valueType="num">
                                      <p:cBhvr additive="base">
                                        <p:cTn id="56" dur="500" fill="hold"/>
                                        <p:tgtEl>
                                          <p:spTgt spid="9"/>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32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anim calcmode="lin" valueType="num">
                                      <p:cBhvr additive="base">
                                        <p:cTn id="60" dur="500" fill="hold"/>
                                        <p:tgtEl>
                                          <p:spTgt spid="21"/>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390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500"/>
                                        <p:tgtEl>
                                          <p:spTgt spid="11"/>
                                        </p:tgtEl>
                                      </p:cBhvr>
                                    </p:animEffect>
                                    <p:anim calcmode="lin" valueType="num">
                                      <p:cBhvr additive="base">
                                        <p:cTn id="64" dur="500" fill="hold"/>
                                        <p:tgtEl>
                                          <p:spTgt spid="11"/>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390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anim calcmode="lin" valueType="num">
                                      <p:cBhvr additive="base">
                                        <p:cTn id="68" dur="500" fill="hold"/>
                                        <p:tgtEl>
                                          <p:spTgt spid="23"/>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3900"/>
                                  </p:stCondLst>
                                  <p:childTnLst>
                                    <p:set>
                                      <p:cBhvr>
                                        <p:cTn id="70" dur="1" fill="hold">
                                          <p:stCondLst>
                                            <p:cond delay="0"/>
                                          </p:stCondLst>
                                        </p:cTn>
                                        <p:tgtEl>
                                          <p:spTgt spid="10"/>
                                        </p:tgtEl>
                                        <p:attrNameLst>
                                          <p:attrName>style.visibility</p:attrName>
                                        </p:attrNameLst>
                                      </p:cBhvr>
                                      <p:to>
                                        <p:strVal val="visible"/>
                                      </p:to>
                                    </p:set>
                                    <p:animEffect transition="in" filter="fade">
                                      <p:cBhvr>
                                        <p:cTn id="71" dur="500"/>
                                        <p:tgtEl>
                                          <p:spTgt spid="10"/>
                                        </p:tgtEl>
                                      </p:cBhvr>
                                    </p:animEffect>
                                    <p:anim calcmode="lin" valueType="num">
                                      <p:cBhvr additive="base">
                                        <p:cTn id="72" dur="500" fill="hold"/>
                                        <p:tgtEl>
                                          <p:spTgt spid="10"/>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39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anim calcmode="lin" valueType="num">
                                      <p:cBhvr additive="base">
                                        <p:cTn id="76" dur="500" fill="hold"/>
                                        <p:tgtEl>
                                          <p:spTgt spid="22"/>
                                        </p:tgtEl>
                                        <p:attrNameLst>
                                          <p:attrName>ppt_y</p:attrName>
                                        </p:attrNameLst>
                                      </p:cBhvr>
                                      <p:tavLst>
                                        <p:tav tm="0">
                                          <p:val>
                                            <p:strVal val="#ppt_y+.025"/>
                                          </p:val>
                                        </p:tav>
                                        <p:tav tm="100000">
                                          <p:val>
                                            <p:strVal val="#ppt_y"/>
                                          </p:val>
                                        </p:tav>
                                      </p:tavLst>
                                    </p:anim>
                                  </p:childTnLst>
                                </p:cTn>
                              </p:par>
                              <p:par>
                                <p:cTn id="77" presetID="10" presetClass="entr" presetSubtype="0" fill="hold" grpId="0" nodeType="withEffect">
                                  <p:stCondLst>
                                    <p:cond delay="455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500"/>
                                        <p:tgtEl>
                                          <p:spTgt spid="12"/>
                                        </p:tgtEl>
                                      </p:cBhvr>
                                    </p:animEffect>
                                    <p:anim calcmode="lin" valueType="num">
                                      <p:cBhvr additive="base">
                                        <p:cTn id="80" dur="500" fill="hold"/>
                                        <p:tgtEl>
                                          <p:spTgt spid="12"/>
                                        </p:tgtEl>
                                        <p:attrNameLst>
                                          <p:attrName>ppt_y</p:attrName>
                                        </p:attrNameLst>
                                      </p:cBhvr>
                                      <p:tavLst>
                                        <p:tav tm="0">
                                          <p:val>
                                            <p:strVal val="#ppt_y+.025"/>
                                          </p:val>
                                        </p:tav>
                                        <p:tav tm="100000">
                                          <p:val>
                                            <p:strVal val="#ppt_y"/>
                                          </p:val>
                                        </p:tav>
                                      </p:tavLst>
                                    </p:anim>
                                  </p:childTnLst>
                                </p:cTn>
                              </p:par>
                              <p:par>
                                <p:cTn id="81" presetID="10" presetClass="entr" presetSubtype="0" fill="hold" grpId="0" nodeType="withEffect">
                                  <p:stCondLst>
                                    <p:cond delay="455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anim calcmode="lin" valueType="num">
                                      <p:cBhvr additive="base">
                                        <p:cTn id="84" dur="500" fill="hold"/>
                                        <p:tgtEl>
                                          <p:spTgt spid="24"/>
                                        </p:tgtEl>
                                        <p:attrNameLst>
                                          <p:attrName>ppt_y</p:attrName>
                                        </p:attrNameLst>
                                      </p:cBhvr>
                                      <p:tavLst>
                                        <p:tav tm="0">
                                          <p:val>
                                            <p:strVal val="#ppt_y+.025"/>
                                          </p:val>
                                        </p:tav>
                                        <p:tav tm="100000">
                                          <p:val>
                                            <p:strVal val="#ppt_y"/>
                                          </p:val>
                                        </p:tav>
                                      </p:tavLst>
                                    </p:anim>
                                  </p:childTnLst>
                                </p:cTn>
                              </p:par>
                              <p:par>
                                <p:cTn id="85" presetID="10" presetClass="entr" presetSubtype="0" fill="hold" grpId="0" nodeType="withEffect">
                                  <p:stCondLst>
                                    <p:cond delay="5200"/>
                                  </p:stCondLst>
                                  <p:childTnLst>
                                    <p:set>
                                      <p:cBhvr>
                                        <p:cTn id="86" dur="1" fill="hold">
                                          <p:stCondLst>
                                            <p:cond delay="0"/>
                                          </p:stCondLst>
                                        </p:cTn>
                                        <p:tgtEl>
                                          <p:spTgt spid="14"/>
                                        </p:tgtEl>
                                        <p:attrNameLst>
                                          <p:attrName>style.visibility</p:attrName>
                                        </p:attrNameLst>
                                      </p:cBhvr>
                                      <p:to>
                                        <p:strVal val="visible"/>
                                      </p:to>
                                    </p:set>
                                    <p:animEffect transition="in" filter="fade">
                                      <p:cBhvr>
                                        <p:cTn id="87" dur="500"/>
                                        <p:tgtEl>
                                          <p:spTgt spid="14"/>
                                        </p:tgtEl>
                                      </p:cBhvr>
                                    </p:animEffect>
                                    <p:anim calcmode="lin" valueType="num">
                                      <p:cBhvr additive="base">
                                        <p:cTn id="88" dur="500" fill="hold"/>
                                        <p:tgtEl>
                                          <p:spTgt spid="14"/>
                                        </p:tgtEl>
                                        <p:attrNameLst>
                                          <p:attrName>ppt_y</p:attrName>
                                        </p:attrNameLst>
                                      </p:cBhvr>
                                      <p:tavLst>
                                        <p:tav tm="0">
                                          <p:val>
                                            <p:strVal val="#ppt_y+.025"/>
                                          </p:val>
                                        </p:tav>
                                        <p:tav tm="100000">
                                          <p:val>
                                            <p:strVal val="#ppt_y"/>
                                          </p:val>
                                        </p:tav>
                                      </p:tavLst>
                                    </p:anim>
                                  </p:childTnLst>
                                </p:cTn>
                              </p:par>
                              <p:par>
                                <p:cTn id="89" presetID="10" presetClass="entr" presetSubtype="0" fill="hold" grpId="0" nodeType="withEffect">
                                  <p:stCondLst>
                                    <p:cond delay="520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anim calcmode="lin" valueType="num">
                                      <p:cBhvr additive="base">
                                        <p:cTn id="92" dur="500" fill="hold"/>
                                        <p:tgtEl>
                                          <p:spTgt spid="26"/>
                                        </p:tgtEl>
                                        <p:attrNameLst>
                                          <p:attrName>ppt_y</p:attrName>
                                        </p:attrNameLst>
                                      </p:cBhvr>
                                      <p:tavLst>
                                        <p:tav tm="0">
                                          <p:val>
                                            <p:strVal val="#ppt_y+.025"/>
                                          </p:val>
                                        </p:tav>
                                        <p:tav tm="100000">
                                          <p:val>
                                            <p:strVal val="#ppt_y"/>
                                          </p:val>
                                        </p:tav>
                                      </p:tavLst>
                                    </p:anim>
                                  </p:childTnLst>
                                </p:cTn>
                              </p:par>
                              <p:par>
                                <p:cTn id="93" presetID="10" presetClass="entr" presetSubtype="0" fill="hold" grpId="0" nodeType="withEffect">
                                  <p:stCondLst>
                                    <p:cond delay="5200"/>
                                  </p:stCondLst>
                                  <p:childTnLst>
                                    <p:set>
                                      <p:cBhvr>
                                        <p:cTn id="94" dur="1" fill="hold">
                                          <p:stCondLst>
                                            <p:cond delay="0"/>
                                          </p:stCondLst>
                                        </p:cTn>
                                        <p:tgtEl>
                                          <p:spTgt spid="13"/>
                                        </p:tgtEl>
                                        <p:attrNameLst>
                                          <p:attrName>style.visibility</p:attrName>
                                        </p:attrNameLst>
                                      </p:cBhvr>
                                      <p:to>
                                        <p:strVal val="visible"/>
                                      </p:to>
                                    </p:set>
                                    <p:animEffect transition="in" filter="fade">
                                      <p:cBhvr>
                                        <p:cTn id="95" dur="500"/>
                                        <p:tgtEl>
                                          <p:spTgt spid="13"/>
                                        </p:tgtEl>
                                      </p:cBhvr>
                                    </p:animEffect>
                                    <p:anim calcmode="lin" valueType="num">
                                      <p:cBhvr additive="base">
                                        <p:cTn id="96" dur="500" fill="hold"/>
                                        <p:tgtEl>
                                          <p:spTgt spid="13"/>
                                        </p:tgtEl>
                                        <p:attrNameLst>
                                          <p:attrName>ppt_y</p:attrName>
                                        </p:attrNameLst>
                                      </p:cBhvr>
                                      <p:tavLst>
                                        <p:tav tm="0">
                                          <p:val>
                                            <p:strVal val="#ppt_y+.025"/>
                                          </p:val>
                                        </p:tav>
                                        <p:tav tm="100000">
                                          <p:val>
                                            <p:strVal val="#ppt_y"/>
                                          </p:val>
                                        </p:tav>
                                      </p:tavLst>
                                    </p:anim>
                                  </p:childTnLst>
                                </p:cTn>
                              </p:par>
                              <p:par>
                                <p:cTn id="97" presetID="10" presetClass="entr" presetSubtype="0" fill="hold" grpId="0" nodeType="withEffect">
                                  <p:stCondLst>
                                    <p:cond delay="52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500"/>
                                        <p:tgtEl>
                                          <p:spTgt spid="25"/>
                                        </p:tgtEl>
                                      </p:cBhvr>
                                    </p:animEffect>
                                    <p:anim calcmode="lin" valueType="num">
                                      <p:cBhvr additive="base">
                                        <p:cTn id="100" dur="500" fill="hold"/>
                                        <p:tgtEl>
                                          <p:spTgt spid="25"/>
                                        </p:tgtEl>
                                        <p:attrNameLst>
                                          <p:attrName>ppt_y</p:attrName>
                                        </p:attrNameLst>
                                      </p:cBhvr>
                                      <p:tavLst>
                                        <p:tav tm="0">
                                          <p:val>
                                            <p:strVal val="#ppt_y+.025"/>
                                          </p:val>
                                        </p:tav>
                                        <p:tav tm="100000">
                                          <p:val>
                                            <p:strVal val="#ppt_y"/>
                                          </p:val>
                                        </p:tav>
                                      </p:tavLst>
                                    </p:anim>
                                  </p:childTnLst>
                                </p:cTn>
                              </p:par>
                              <p:par>
                                <p:cTn id="101" presetID="10" presetClass="entr" presetSubtype="0" fill="hold" grpId="0" nodeType="withEffect">
                                  <p:stCondLst>
                                    <p:cond delay="5850"/>
                                  </p:stCondLst>
                                  <p:childTnLst>
                                    <p:set>
                                      <p:cBhvr>
                                        <p:cTn id="102" dur="1" fill="hold">
                                          <p:stCondLst>
                                            <p:cond delay="0"/>
                                          </p:stCondLst>
                                        </p:cTn>
                                        <p:tgtEl>
                                          <p:spTgt spid="15"/>
                                        </p:tgtEl>
                                        <p:attrNameLst>
                                          <p:attrName>style.visibility</p:attrName>
                                        </p:attrNameLst>
                                      </p:cBhvr>
                                      <p:to>
                                        <p:strVal val="visible"/>
                                      </p:to>
                                    </p:set>
                                    <p:animEffect transition="in" filter="fade">
                                      <p:cBhvr>
                                        <p:cTn id="103" dur="500"/>
                                        <p:tgtEl>
                                          <p:spTgt spid="15"/>
                                        </p:tgtEl>
                                      </p:cBhvr>
                                    </p:animEffect>
                                    <p:anim calcmode="lin" valueType="num">
                                      <p:cBhvr additive="base">
                                        <p:cTn id="104" dur="500" fill="hold"/>
                                        <p:tgtEl>
                                          <p:spTgt spid="15"/>
                                        </p:tgtEl>
                                        <p:attrNameLst>
                                          <p:attrName>ppt_y</p:attrName>
                                        </p:attrNameLst>
                                      </p:cBhvr>
                                      <p:tavLst>
                                        <p:tav tm="0">
                                          <p:val>
                                            <p:strVal val="#ppt_y+.025"/>
                                          </p:val>
                                        </p:tav>
                                        <p:tav tm="100000">
                                          <p:val>
                                            <p:strVal val="#ppt_y"/>
                                          </p:val>
                                        </p:tav>
                                      </p:tavLst>
                                    </p:anim>
                                  </p:childTnLst>
                                </p:cTn>
                              </p:par>
                              <p:par>
                                <p:cTn id="105" presetID="10" presetClass="entr" presetSubtype="0" fill="hold" grpId="0" nodeType="withEffect">
                                  <p:stCondLst>
                                    <p:cond delay="585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additive="base">
                                        <p:cTn id="108" dur="500" fill="hold"/>
                                        <p:tgtEl>
                                          <p:spTgt spid="27"/>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7" grpId="0"/>
      <p:bldP spid="4" grpId="0"/>
      <p:bldP spid="16" grpId="0"/>
      <p:bldP spid="6" grpId="0"/>
      <p:bldP spid="18" grpId="0"/>
      <p:bldP spid="8" grpId="0"/>
      <p:bldP spid="20" grpId="0"/>
      <p:bldP spid="7" grpId="0"/>
      <p:bldP spid="19" grpId="0"/>
      <p:bldP spid="9" grpId="0"/>
      <p:bldP spid="21" grpId="0"/>
      <p:bldP spid="11" grpId="0"/>
      <p:bldP spid="23" grpId="0"/>
      <p:bldP spid="10" grpId="0"/>
      <p:bldP spid="22" grpId="0"/>
      <p:bldP spid="12" grpId="0"/>
      <p:bldP spid="24" grpId="0"/>
      <p:bldP spid="14" grpId="0"/>
      <p:bldP spid="26" grpId="0"/>
      <p:bldP spid="13" grpId="0"/>
      <p:bldP spid="25" grpId="0"/>
      <p:bldP spid="15" grpId="0"/>
      <p:bldP spid="27"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01 · QUESTION · WORD CLOUD</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AI in design. One word.</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The first word that comes to mind. No right answer — we read the biggest words aloud.</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03</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8"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01</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Why are we here?</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AI IS IN THE TOOLS, IN THE PRODUCTS, AND IN THE JOB</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01 · WHY ARE WE HERE</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Three things changed</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THE TOOLS</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Your tools have models inside them.</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Generative fill in Photoshop. Layouts in Figma. A brief written with a chatbot at 2 a.m. You already work with AI, whether you chose to or not.</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THE PRODUCTS</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Your products have models inside them.</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Feeds, filters, recommendations, assistants. The thing you design increasingly decides, on its own, what each person sees. Someone has to design that.</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THE JOB</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Your job is moving.</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From making every artefact by hand to choosing, briefing, curating and setting the rules. What a designer is for is being renegotiated this decade. Better to be in the room.</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05</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anim calcmode="lin" valueType="num">
                                      <p:cBhvr additive="base">
                                        <p:cTn id="28" dur="500" fill="hold"/>
                                        <p:tgtEl>
                                          <p:spTgt spid="5"/>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additive="base">
                                        <p:cTn id="32" dur="500" fill="hold"/>
                                        <p:tgtEl>
                                          <p:spTgt spid="9"/>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additive="base">
                                        <p:cTn id="36" dur="500" fill="hold"/>
                                        <p:tgtEl>
                                          <p:spTgt spid="13"/>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95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anim calcmode="lin" valueType="num">
                                      <p:cBhvr additive="base">
                                        <p:cTn id="40" dur="500" fill="hold"/>
                                        <p:tgtEl>
                                          <p:spTgt spid="6"/>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9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additive="base">
                                        <p:cTn id="44" dur="500" fill="hold"/>
                                        <p:tgtEl>
                                          <p:spTgt spid="10"/>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additive="base">
                                        <p:cTn id="48" dur="500" fill="hold"/>
                                        <p:tgtEl>
                                          <p:spTgt spid="14"/>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260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500"/>
                                        <p:tgtEl>
                                          <p:spTgt spid="7"/>
                                        </p:tgtEl>
                                      </p:cBhvr>
                                    </p:animEffect>
                                    <p:anim calcmode="lin" valueType="num">
                                      <p:cBhvr additive="base">
                                        <p:cTn id="52" dur="500" fill="hold"/>
                                        <p:tgtEl>
                                          <p:spTgt spid="7"/>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26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additive="base">
                                        <p:cTn id="56" dur="500" fill="hold"/>
                                        <p:tgtEl>
                                          <p:spTgt spid="11"/>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260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5" grpId="0"/>
      <p:bldP spid="9" grpId="0"/>
      <p:bldP spid="13" grpId="0"/>
      <p:bldP spid="6" grpId="0"/>
      <p:bldP spid="10" grpId="0"/>
      <p:bldP spid="14" grpId="0"/>
      <p:bldP spid="7" grpId="0"/>
      <p:bldP spid="11" grpId="0"/>
      <p:bldP spid="15"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02</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Who are we?</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YOUR TEAM · AND YOU</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06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IS TEACHING YOU</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I study how machines form concepts.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Giovanni Lion. PhD in computational creativity: how a machine ends up with an idea of "chair", and what that does to makers.</a:t>
            </a:r>
          </a:p>
          <a:p>
            <a:pPr algn="l" marL="304800" indent="-304800">
              <a:lnSpc>
                <a:spcPct val="110500"/>
              </a:lnSpc>
              <a:spcBef>
                <a:spcPts val="1350"/>
              </a:spcBef>
              <a:buClr>
                <a:srgbClr val="ED6D24"/>
              </a:buClr>
              <a:buFont typeface="Inter Black"/>
              <a:buChar char="·"/>
            </a:pPr>
            <a:r>
              <a:rPr sz="2250" b="0">
                <a:solidFill>
                  <a:srgbClr val="2A323D"/>
                </a:solidFill>
                <a:latin typeface="Inter"/>
              </a:rPr>
              <a:t>Two years operating Sophia at Hanson Robotics. It rebooted minutes before a show. It came back.</a:t>
            </a:r>
          </a:p>
          <a:p>
            <a:pPr algn="l" marL="304800" indent="-304800">
              <a:lnSpc>
                <a:spcPct val="110500"/>
              </a:lnSpc>
              <a:spcBef>
                <a:spcPts val="1350"/>
              </a:spcBef>
              <a:buClr>
                <a:srgbClr val="ED6D24"/>
              </a:buClr>
              <a:buFont typeface="Inter Black"/>
              <a:buChar char="·"/>
            </a:pPr>
            <a:r>
              <a:rPr sz="2250" b="0">
                <a:solidFill>
                  <a:srgbClr val="2A323D"/>
                </a:solidFill>
                <a:latin typeface="Inter"/>
              </a:rPr>
              <a:t>Musical Fruitstand: fruit you can play. A-Eye: the audience repainted live at M+. Featherman: a game with WWF Mai Po.</a:t>
            </a:r>
          </a:p>
          <a:p>
            <a:pPr algn="l" marL="304800" indent="-304800">
              <a:lnSpc>
                <a:spcPct val="110500"/>
              </a:lnSpc>
              <a:spcBef>
                <a:spcPts val="1350"/>
              </a:spcBef>
              <a:buClr>
                <a:srgbClr val="ED6D24"/>
              </a:buClr>
              <a:buFont typeface="Inter Black"/>
              <a:buChar char="·"/>
            </a:pPr>
            <a:r>
              <a:rPr sz="2250" b="0">
                <a:solidFill>
                  <a:srgbClr val="2A323D"/>
                </a:solidFill>
                <a:latin typeface="Inter"/>
              </a:rPr>
              <a:t>One photo of me, three models, three styles.</a:t>
            </a:r>
          </a:p>
        </p:txBody>
      </p:sp>
      <p:pic>
        <p:nvPicPr>
          <p:cNvPr id="5" name="Picture 4" descr="gio-avatar-1.jpg"/>
          <p:cNvPicPr>
            <a:picLocks noChangeAspect="1"/>
          </p:cNvPicPr>
          <p:nvPr/>
        </p:nvPicPr>
        <p:blipFill>
          <a:blip r:embed="rId2"/>
          <a:stretch>
            <a:fillRect/>
          </a:stretch>
        </p:blipFill>
        <p:spPr>
          <a:xfrm>
            <a:off x="6350000" y="1168400"/>
            <a:ext cx="2108200" cy="2108200"/>
          </a:xfrm>
          <a:prstGeom prst="rect">
            <a:avLst/>
          </a:prstGeom>
        </p:spPr>
      </p:pic>
      <p:pic>
        <p:nvPicPr>
          <p:cNvPr id="6" name="Picture 5" descr="gio-avatar-2.jpg"/>
          <p:cNvPicPr>
            <a:picLocks noChangeAspect="1"/>
          </p:cNvPicPr>
          <p:nvPr/>
        </p:nvPicPr>
        <p:blipFill>
          <a:blip r:embed="rId3"/>
          <a:stretch>
            <a:fillRect/>
          </a:stretch>
        </p:blipFill>
        <p:spPr>
          <a:xfrm>
            <a:off x="8559800" y="1168400"/>
            <a:ext cx="2108200" cy="2108200"/>
          </a:xfrm>
          <a:prstGeom prst="rect">
            <a:avLst/>
          </a:prstGeom>
        </p:spPr>
      </p:pic>
      <p:pic>
        <p:nvPicPr>
          <p:cNvPr id="7" name="Picture 6" descr="gio-avatar-3.jpg"/>
          <p:cNvPicPr>
            <a:picLocks noChangeAspect="1"/>
          </p:cNvPicPr>
          <p:nvPr/>
        </p:nvPicPr>
        <p:blipFill>
          <a:blip r:embed="rId4"/>
          <a:srcRect t="15590" b="15590"/>
          <a:stretch>
            <a:fillRect/>
          </a:stretch>
        </p:blipFill>
        <p:spPr>
          <a:xfrm>
            <a:off x="6350000" y="3378200"/>
            <a:ext cx="2108200" cy="2108200"/>
          </a:xfrm>
          <a:prstGeom prst="rect">
            <a:avLst/>
          </a:prstGeom>
        </p:spPr>
      </p:pic>
      <p:pic>
        <p:nvPicPr>
          <p:cNvPr id="8" name="Picture 7" descr="ada-lovelace-generated.png"/>
          <p:cNvPicPr>
            <a:picLocks noChangeAspect="1"/>
          </p:cNvPicPr>
          <p:nvPr/>
        </p:nvPicPr>
        <p:blipFill>
          <a:blip r:embed="rId5"/>
          <a:stretch>
            <a:fillRect/>
          </a:stretch>
        </p:blipFill>
        <p:spPr>
          <a:xfrm>
            <a:off x="8559800" y="3378200"/>
            <a:ext cx="2108200" cy="2108200"/>
          </a:xfrm>
          <a:prstGeom prst="rect">
            <a:avLst/>
          </a:prstGeom>
        </p:spPr>
      </p:pic>
      <p:sp>
        <p:nvSpPr>
          <p:cNvPr id="9" name="TextBox 8"/>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Top: one photo of me through three image models. Bottom right: "Ada Lovelace at her machine", a diffusion model, 2025.</a:t>
            </a:r>
          </a:p>
        </p:txBody>
      </p:sp>
      <p:sp>
        <p:nvSpPr>
          <p:cNvPr id="10"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1"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07</a:t>
            </a:r>
          </a:p>
        </p:txBody>
      </p:sp>
      <p:pic>
        <p:nvPicPr>
          <p:cNvPr id="12" name="chrome-logo" descr="polyu-design-logo.png"/>
          <p:cNvPicPr>
            <a:picLocks noChangeAspect="1"/>
          </p:cNvPicPr>
          <p:nvPr/>
        </p:nvPicPr>
        <p:blipFill>
          <a:blip r:embed="rId6"/>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6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additive="base">
                                        <p:cTn id="20" dur="500" fill="hold"/>
                                        <p:tgtEl>
                                          <p:spTgt spid="6"/>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additive="base">
                                        <p:cTn id="24" dur="500" fill="hold"/>
                                        <p:tgtEl>
                                          <p:spTgt spid="4"/>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9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additive="base">
                                        <p:cTn id="28" dur="500" fill="hold"/>
                                        <p:tgtEl>
                                          <p:spTgt spid="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26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4" grpId="0"/>
      <p:bldP spid="7" grpId="0"/>
      <p:bldP spid="8" grpId="0"/>
      <p:bldP spid="9" grpId="0"/>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YOUR TEAM THIS SEMESTER</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Four people. Use them.</a:t>
            </a:r>
          </a:p>
        </p:txBody>
      </p:sp>
      <p:sp>
        <p:nvSpPr>
          <p:cNvPr id="4" name="Rectangle 3"/>
          <p:cNvSpPr/>
          <p:nvPr/>
        </p:nvSpPr>
        <p:spPr>
          <a:xfrm>
            <a:off x="762000" y="2362200"/>
            <a:ext cx="76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FFFFFF"/>
                </a:solidFill>
                <a:latin typeface="Inter Black"/>
              </a:rPr>
              <a:t>GL</a:t>
            </a:r>
          </a:p>
        </p:txBody>
      </p:sp>
      <p:sp>
        <p:nvSpPr>
          <p:cNvPr id="6" name="TextBox 5"/>
          <p:cNvSpPr txBox="1"/>
          <p:nvPr/>
        </p:nvSpPr>
        <p:spPr>
          <a:xfrm>
            <a:off x="7620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Giovanni Lion</a:t>
            </a:r>
          </a:p>
        </p:txBody>
      </p:sp>
      <p:sp>
        <p:nvSpPr>
          <p:cNvPr id="7" name="TextBox 6"/>
          <p:cNvSpPr txBox="1"/>
          <p:nvPr/>
        </p:nvSpPr>
        <p:spPr>
          <a:xfrm>
            <a:off x="7620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LECTURER</a:t>
            </a:r>
          </a:p>
        </p:txBody>
      </p:sp>
      <p:sp>
        <p:nvSpPr>
          <p:cNvPr id="8" name="TextBox 7"/>
          <p:cNvSpPr txBox="1"/>
          <p:nvPr/>
        </p:nvSpPr>
        <p:spPr>
          <a:xfrm>
            <a:off x="7620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Lectures, briefs, grading. Questions in class first, then email.</a:t>
            </a:r>
          </a:p>
          <a:p>
            <a:pPr algn="l">
              <a:lnSpc>
                <a:spcPct val="106400"/>
              </a:lnSpc>
              <a:spcBef>
                <a:spcPts val="750"/>
              </a:spcBef>
            </a:pPr>
            <a:r>
              <a:rPr sz="1950" b="0">
                <a:solidFill>
                  <a:srgbClr val="2A323D"/>
                </a:solidFill>
                <a:latin typeface="Inter"/>
              </a:rPr>
              <a:t>giovannilion.link</a:t>
            </a:r>
          </a:p>
        </p:txBody>
      </p:sp>
      <p:sp>
        <p:nvSpPr>
          <p:cNvPr id="9" name="Rectangle 8"/>
          <p:cNvSpPr/>
          <p:nvPr/>
        </p:nvSpPr>
        <p:spPr>
          <a:xfrm>
            <a:off x="3492500" y="2362200"/>
            <a:ext cx="762000" cy="762000"/>
          </a:xfrm>
          <a:prstGeom prst="rect">
            <a:avLst/>
          </a:prstGeom>
          <a:solidFill>
            <a:srgbClr val="64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25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000B1C"/>
                </a:solidFill>
                <a:latin typeface="Inter Black"/>
              </a:rPr>
              <a:t>N</a:t>
            </a:r>
          </a:p>
        </p:txBody>
      </p:sp>
      <p:sp>
        <p:nvSpPr>
          <p:cNvPr id="11" name="TextBox 10"/>
          <p:cNvSpPr txBox="1"/>
          <p:nvPr/>
        </p:nvSpPr>
        <p:spPr>
          <a:xfrm>
            <a:off x="34925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Nicolò</a:t>
            </a:r>
          </a:p>
        </p:txBody>
      </p:sp>
      <p:sp>
        <p:nvSpPr>
          <p:cNvPr id="12" name="TextBox 11"/>
          <p:cNvSpPr txBox="1"/>
          <p:nvPr/>
        </p:nvSpPr>
        <p:spPr>
          <a:xfrm>
            <a:off x="34925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TEACHING ASSISTANT</a:t>
            </a:r>
          </a:p>
        </p:txBody>
      </p:sp>
      <p:sp>
        <p:nvSpPr>
          <p:cNvPr id="13" name="TextBox 12"/>
          <p:cNvSpPr txBox="1"/>
          <p:nvPr/>
        </p:nvSpPr>
        <p:spPr>
          <a:xfrm>
            <a:off x="34925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In the room </a:t>
            </a:r>
            <a:r>
              <a:rPr sz="1950" b="1">
                <a:solidFill>
                  <a:srgbClr val="2A323D"/>
                </a:solidFill>
                <a:latin typeface="Inter"/>
              </a:rPr>
              <a:t>30 minutes before</a:t>
            </a:r>
            <a:r>
              <a:rPr sz="1950" b="0">
                <a:solidFill>
                  <a:srgbClr val="2A323D"/>
                </a:solidFill>
                <a:latin typeface="Inter"/>
              </a:rPr>
              <a:t> and </a:t>
            </a:r>
            <a:r>
              <a:rPr sz="1950" b="1">
                <a:solidFill>
                  <a:srgbClr val="2A323D"/>
                </a:solidFill>
                <a:latin typeface="Inter"/>
              </a:rPr>
              <a:t>30 minutes after</a:t>
            </a:r>
            <a:r>
              <a:rPr sz="1950" b="0">
                <a:solidFill>
                  <a:srgbClr val="2A323D"/>
                </a:solidFill>
                <a:latin typeface="Inter"/>
              </a:rPr>
              <a:t> every class.</a:t>
            </a:r>
          </a:p>
          <a:p>
            <a:pPr algn="l">
              <a:lnSpc>
                <a:spcPct val="106400"/>
              </a:lnSpc>
              <a:spcBef>
                <a:spcPts val="750"/>
              </a:spcBef>
            </a:pPr>
            <a:r>
              <a:rPr sz="1950" b="0">
                <a:solidFill>
                  <a:srgbClr val="2A323D"/>
                </a:solidFill>
                <a:latin typeface="Inter"/>
              </a:rPr>
              <a:t>Tools, accounts, code, the weekly challenges. Also built the course video playlist.</a:t>
            </a:r>
          </a:p>
        </p:txBody>
      </p:sp>
      <p:sp>
        <p:nvSpPr>
          <p:cNvPr id="14" name="Rectangle 13"/>
          <p:cNvSpPr/>
          <p:nvPr/>
        </p:nvSpPr>
        <p:spPr>
          <a:xfrm>
            <a:off x="6223000" y="2362200"/>
            <a:ext cx="762000" cy="762000"/>
          </a:xfrm>
          <a:prstGeom prst="rect">
            <a:avLst/>
          </a:prstGeom>
          <a:solidFill>
            <a:srgbClr val="ED6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30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000B1C"/>
                </a:solidFill>
                <a:latin typeface="Inter Black"/>
              </a:rPr>
              <a:t>A</a:t>
            </a:r>
          </a:p>
        </p:txBody>
      </p:sp>
      <p:sp>
        <p:nvSpPr>
          <p:cNvPr id="16" name="TextBox 15"/>
          <p:cNvSpPr txBox="1"/>
          <p:nvPr/>
        </p:nvSpPr>
        <p:spPr>
          <a:xfrm>
            <a:off x="62230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Amber</a:t>
            </a:r>
          </a:p>
        </p:txBody>
      </p:sp>
      <p:sp>
        <p:nvSpPr>
          <p:cNvPr id="17" name="TextBox 16"/>
          <p:cNvSpPr txBox="1"/>
          <p:nvPr/>
        </p:nvSpPr>
        <p:spPr>
          <a:xfrm>
            <a:off x="62230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TEACHING ASSISTANT</a:t>
            </a:r>
          </a:p>
        </p:txBody>
      </p:sp>
      <p:sp>
        <p:nvSpPr>
          <p:cNvPr id="18" name="TextBox 17"/>
          <p:cNvSpPr txBox="1"/>
          <p:nvPr/>
        </p:nvSpPr>
        <p:spPr>
          <a:xfrm>
            <a:off x="62230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In the room </a:t>
            </a:r>
            <a:r>
              <a:rPr sz="1950" b="1">
                <a:solidFill>
                  <a:srgbClr val="2A323D"/>
                </a:solidFill>
                <a:latin typeface="Inter"/>
              </a:rPr>
              <a:t>30 minutes before</a:t>
            </a:r>
            <a:r>
              <a:rPr sz="1950" b="0">
                <a:solidFill>
                  <a:srgbClr val="2A323D"/>
                </a:solidFill>
                <a:latin typeface="Inter"/>
              </a:rPr>
              <a:t> and </a:t>
            </a:r>
            <a:r>
              <a:rPr sz="1950" b="1">
                <a:solidFill>
                  <a:srgbClr val="2A323D"/>
                </a:solidFill>
                <a:latin typeface="Inter"/>
              </a:rPr>
              <a:t>30 minutes after</a:t>
            </a:r>
            <a:r>
              <a:rPr sz="1950" b="0">
                <a:solidFill>
                  <a:srgbClr val="2A323D"/>
                </a:solidFill>
                <a:latin typeface="Inter"/>
              </a:rPr>
              <a:t> every class.</a:t>
            </a:r>
          </a:p>
          <a:p>
            <a:pPr algn="l">
              <a:lnSpc>
                <a:spcPct val="106400"/>
              </a:lnSpc>
              <a:spcBef>
                <a:spcPts val="750"/>
              </a:spcBef>
            </a:pPr>
            <a:r>
              <a:rPr sz="1950" b="0">
                <a:solidFill>
                  <a:srgbClr val="2A323D"/>
                </a:solidFill>
                <a:latin typeface="Inter"/>
              </a:rPr>
              <a:t>Assignments, group project, feedback on your work in progress.</a:t>
            </a:r>
          </a:p>
        </p:txBody>
      </p:sp>
      <p:sp>
        <p:nvSpPr>
          <p:cNvPr id="19" name="Rectangle 18"/>
          <p:cNvSpPr/>
          <p:nvPr/>
        </p:nvSpPr>
        <p:spPr>
          <a:xfrm>
            <a:off x="8953500" y="2362200"/>
            <a:ext cx="762000" cy="762000"/>
          </a:xfrm>
          <a:prstGeom prst="rect">
            <a:avLst/>
          </a:prstGeom>
          <a:solidFill>
            <a:srgbClr val="943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53500" y="2362200"/>
            <a:ext cx="762000" cy="762000"/>
          </a:xfrm>
          <a:prstGeom prst="rect">
            <a:avLst/>
          </a:prstGeom>
          <a:noFill/>
        </p:spPr>
        <p:txBody>
          <a:bodyPr wrap="square" lIns="0" rIns="0" tIns="0" bIns="0" anchor="ctr">
            <a:noAutofit/>
          </a:bodyPr>
          <a:lstStyle/>
          <a:p>
            <a:pPr algn="ctr">
              <a:lnSpc>
                <a:spcPct val="81500"/>
              </a:lnSpc>
            </a:pPr>
            <a:r>
              <a:rPr sz="3300" b="0" spc="-132">
                <a:solidFill>
                  <a:srgbClr val="FFFFFF"/>
                </a:solidFill>
                <a:latin typeface="Inter Black"/>
              </a:rPr>
              <a:t>ZZ</a:t>
            </a:r>
          </a:p>
        </p:txBody>
      </p:sp>
      <p:sp>
        <p:nvSpPr>
          <p:cNvPr id="21" name="TextBox 20"/>
          <p:cNvSpPr txBox="1"/>
          <p:nvPr/>
        </p:nvSpPr>
        <p:spPr>
          <a:xfrm>
            <a:off x="8953500" y="3302000"/>
            <a:ext cx="2476500" cy="317500"/>
          </a:xfrm>
          <a:prstGeom prst="rect">
            <a:avLst/>
          </a:prstGeom>
          <a:noFill/>
        </p:spPr>
        <p:txBody>
          <a:bodyPr wrap="square" lIns="0" rIns="0" tIns="0" bIns="0" anchor="t">
            <a:noAutofit/>
          </a:bodyPr>
          <a:lstStyle/>
          <a:p>
            <a:pPr algn="l">
              <a:lnSpc>
                <a:spcPct val="89000"/>
              </a:lnSpc>
            </a:pPr>
            <a:r>
              <a:rPr sz="2550" b="0" spc="-51">
                <a:solidFill>
                  <a:srgbClr val="000B1C"/>
                </a:solidFill>
                <a:latin typeface="Inter ExtraBold"/>
              </a:rPr>
              <a:t>ZHOU Zhibin</a:t>
            </a:r>
          </a:p>
        </p:txBody>
      </p:sp>
      <p:sp>
        <p:nvSpPr>
          <p:cNvPr id="22" name="TextBox 21"/>
          <p:cNvSpPr txBox="1"/>
          <p:nvPr/>
        </p:nvSpPr>
        <p:spPr>
          <a:xfrm>
            <a:off x="8953500" y="3644900"/>
            <a:ext cx="2476500" cy="215900"/>
          </a:xfrm>
          <a:prstGeom prst="rect">
            <a:avLst/>
          </a:prstGeom>
          <a:noFill/>
        </p:spPr>
        <p:txBody>
          <a:bodyPr wrap="square" lIns="0" rIns="0" tIns="0" bIns="0" anchor="t">
            <a:noAutofit/>
          </a:bodyPr>
          <a:lstStyle/>
          <a:p>
            <a:pPr algn="l">
              <a:lnSpc>
                <a:spcPct val="88000"/>
              </a:lnSpc>
            </a:pPr>
            <a:r>
              <a:rPr sz="1650" b="0" spc="165">
                <a:solidFill>
                  <a:srgbClr val="ED6D24"/>
                </a:solidFill>
                <a:latin typeface="JetBrains Mono Medium"/>
              </a:rPr>
              <a:t>CLASS COORDINATOR</a:t>
            </a:r>
          </a:p>
        </p:txBody>
      </p:sp>
      <p:sp>
        <p:nvSpPr>
          <p:cNvPr id="23" name="TextBox 22"/>
          <p:cNvSpPr txBox="1"/>
          <p:nvPr/>
        </p:nvSpPr>
        <p:spPr>
          <a:xfrm>
            <a:off x="8953500" y="4000500"/>
            <a:ext cx="2476500" cy="2095500"/>
          </a:xfrm>
          <a:prstGeom prst="rect">
            <a:avLst/>
          </a:prstGeom>
          <a:noFill/>
        </p:spPr>
        <p:txBody>
          <a:bodyPr wrap="square" lIns="0" rIns="0" tIns="0" bIns="0" anchor="t">
            <a:noAutofit/>
          </a:bodyPr>
          <a:lstStyle/>
          <a:p>
            <a:pPr algn="l">
              <a:lnSpc>
                <a:spcPct val="106400"/>
              </a:lnSpc>
            </a:pPr>
            <a:r>
              <a:rPr sz="1950" b="0">
                <a:solidFill>
                  <a:srgbClr val="2A323D"/>
                </a:solidFill>
                <a:latin typeface="Inter"/>
              </a:rPr>
              <a:t>Attendance and absences, admin, anything about the class as a whole.</a:t>
            </a:r>
          </a:p>
          <a:p>
            <a:pPr algn="l">
              <a:lnSpc>
                <a:spcPct val="106400"/>
              </a:lnSpc>
              <a:spcBef>
                <a:spcPts val="750"/>
              </a:spcBef>
            </a:pPr>
            <a:r>
              <a:rPr sz="1950" b="1">
                <a:solidFill>
                  <a:srgbClr val="2A323D"/>
                </a:solidFill>
                <a:latin typeface="Inter"/>
              </a:rPr>
              <a:t>Cannot come? Tell Zhibin before class.</a:t>
            </a:r>
            <a:r>
              <a:rPr sz="1950" b="0">
                <a:solidFill>
                  <a:srgbClr val="2A323D"/>
                </a:solidFill>
                <a:latin typeface="Inter"/>
              </a:rPr>
              <a:t> That is what keeps your participation mark.</a:t>
            </a:r>
          </a:p>
        </p:txBody>
      </p:sp>
      <p:sp>
        <p:nvSpPr>
          <p:cNvPr id="2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08</a:t>
            </a:r>
          </a:p>
        </p:txBody>
      </p:sp>
      <p:pic>
        <p:nvPicPr>
          <p:cNvPr id="26"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additive="base">
                                        <p:cTn id="24" dur="500" fill="hold"/>
                                        <p:tgtEl>
                                          <p:spTgt spid="9"/>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anim calcmode="lin" valueType="num">
                                      <p:cBhvr additive="base">
                                        <p:cTn id="28" dur="500" fill="hold"/>
                                        <p:tgtEl>
                                          <p:spTgt spid="10"/>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anim calcmode="lin" valueType="num">
                                      <p:cBhvr additive="base">
                                        <p:cTn id="32" dur="500" fill="hold"/>
                                        <p:tgtEl>
                                          <p:spTgt spid="14"/>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additive="base">
                                        <p:cTn id="36" dur="500" fill="hold"/>
                                        <p:tgtEl>
                                          <p:spTgt spid="15"/>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30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additive="base">
                                        <p:cTn id="40" dur="500" fill="hold"/>
                                        <p:tgtEl>
                                          <p:spTgt spid="19"/>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3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anim calcmode="lin" valueType="num">
                                      <p:cBhvr additive="base">
                                        <p:cTn id="44" dur="500" fill="hold"/>
                                        <p:tgtEl>
                                          <p:spTgt spid="20"/>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additive="base">
                                        <p:cTn id="48" dur="500" fill="hold"/>
                                        <p:tgtEl>
                                          <p:spTgt spid="6"/>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195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additive="base">
                                        <p:cTn id="52" dur="500" fill="hold"/>
                                        <p:tgtEl>
                                          <p:spTgt spid="11"/>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195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additive="base">
                                        <p:cTn id="56" dur="500" fill="hold"/>
                                        <p:tgtEl>
                                          <p:spTgt spid="16"/>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195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anim calcmode="lin" valueType="num">
                                      <p:cBhvr additive="base">
                                        <p:cTn id="60" dur="500" fill="hold"/>
                                        <p:tgtEl>
                                          <p:spTgt spid="21"/>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260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500"/>
                                        <p:tgtEl>
                                          <p:spTgt spid="7"/>
                                        </p:tgtEl>
                                      </p:cBhvr>
                                    </p:animEffect>
                                    <p:anim calcmode="lin" valueType="num">
                                      <p:cBhvr additive="base">
                                        <p:cTn id="64" dur="500" fill="hold"/>
                                        <p:tgtEl>
                                          <p:spTgt spid="7"/>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260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anim calcmode="lin" valueType="num">
                                      <p:cBhvr additive="base">
                                        <p:cTn id="68" dur="500" fill="hold"/>
                                        <p:tgtEl>
                                          <p:spTgt spid="12"/>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260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anim calcmode="lin" valueType="num">
                                      <p:cBhvr additive="base">
                                        <p:cTn id="72" dur="500" fill="hold"/>
                                        <p:tgtEl>
                                          <p:spTgt spid="17"/>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26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anim calcmode="lin" valueType="num">
                                      <p:cBhvr additive="base">
                                        <p:cTn id="76" dur="500" fill="hold"/>
                                        <p:tgtEl>
                                          <p:spTgt spid="22"/>
                                        </p:tgtEl>
                                        <p:attrNameLst>
                                          <p:attrName>ppt_y</p:attrName>
                                        </p:attrNameLst>
                                      </p:cBhvr>
                                      <p:tavLst>
                                        <p:tav tm="0">
                                          <p:val>
                                            <p:strVal val="#ppt_y+.025"/>
                                          </p:val>
                                        </p:tav>
                                        <p:tav tm="100000">
                                          <p:val>
                                            <p:strVal val="#ppt_y"/>
                                          </p:val>
                                        </p:tav>
                                      </p:tavLst>
                                    </p:anim>
                                  </p:childTnLst>
                                </p:cTn>
                              </p:par>
                              <p:par>
                                <p:cTn id="77" presetID="10" presetClass="entr" presetSubtype="0" fill="hold" grpId="0" nodeType="withEffect">
                                  <p:stCondLst>
                                    <p:cond delay="3250"/>
                                  </p:stCondLst>
                                  <p:childTnLst>
                                    <p:set>
                                      <p:cBhvr>
                                        <p:cTn id="78" dur="1" fill="hold">
                                          <p:stCondLst>
                                            <p:cond delay="0"/>
                                          </p:stCondLst>
                                        </p:cTn>
                                        <p:tgtEl>
                                          <p:spTgt spid="8"/>
                                        </p:tgtEl>
                                        <p:attrNameLst>
                                          <p:attrName>style.visibility</p:attrName>
                                        </p:attrNameLst>
                                      </p:cBhvr>
                                      <p:to>
                                        <p:strVal val="visible"/>
                                      </p:to>
                                    </p:set>
                                    <p:animEffect transition="in" filter="fade">
                                      <p:cBhvr>
                                        <p:cTn id="79" dur="500"/>
                                        <p:tgtEl>
                                          <p:spTgt spid="8"/>
                                        </p:tgtEl>
                                      </p:cBhvr>
                                    </p:animEffect>
                                    <p:anim calcmode="lin" valueType="num">
                                      <p:cBhvr additive="base">
                                        <p:cTn id="80" dur="500" fill="hold"/>
                                        <p:tgtEl>
                                          <p:spTgt spid="8"/>
                                        </p:tgtEl>
                                        <p:attrNameLst>
                                          <p:attrName>ppt_y</p:attrName>
                                        </p:attrNameLst>
                                      </p:cBhvr>
                                      <p:tavLst>
                                        <p:tav tm="0">
                                          <p:val>
                                            <p:strVal val="#ppt_y+.025"/>
                                          </p:val>
                                        </p:tav>
                                        <p:tav tm="100000">
                                          <p:val>
                                            <p:strVal val="#ppt_y"/>
                                          </p:val>
                                        </p:tav>
                                      </p:tavLst>
                                    </p:anim>
                                  </p:childTnLst>
                                </p:cTn>
                              </p:par>
                              <p:par>
                                <p:cTn id="81" presetID="10" presetClass="entr" presetSubtype="0" fill="hold" grpId="0" nodeType="withEffect">
                                  <p:stCondLst>
                                    <p:cond delay="3250"/>
                                  </p:stCondLst>
                                  <p:childTnLst>
                                    <p:set>
                                      <p:cBhvr>
                                        <p:cTn id="82" dur="1" fill="hold">
                                          <p:stCondLst>
                                            <p:cond delay="0"/>
                                          </p:stCondLst>
                                        </p:cTn>
                                        <p:tgtEl>
                                          <p:spTgt spid="13"/>
                                        </p:tgtEl>
                                        <p:attrNameLst>
                                          <p:attrName>style.visibility</p:attrName>
                                        </p:attrNameLst>
                                      </p:cBhvr>
                                      <p:to>
                                        <p:strVal val="visible"/>
                                      </p:to>
                                    </p:set>
                                    <p:animEffect transition="in" filter="fade">
                                      <p:cBhvr>
                                        <p:cTn id="83" dur="500"/>
                                        <p:tgtEl>
                                          <p:spTgt spid="13"/>
                                        </p:tgtEl>
                                      </p:cBhvr>
                                    </p:animEffect>
                                    <p:anim calcmode="lin" valueType="num">
                                      <p:cBhvr additive="base">
                                        <p:cTn id="84" dur="500" fill="hold"/>
                                        <p:tgtEl>
                                          <p:spTgt spid="13"/>
                                        </p:tgtEl>
                                        <p:attrNameLst>
                                          <p:attrName>ppt_y</p:attrName>
                                        </p:attrNameLst>
                                      </p:cBhvr>
                                      <p:tavLst>
                                        <p:tav tm="0">
                                          <p:val>
                                            <p:strVal val="#ppt_y+.025"/>
                                          </p:val>
                                        </p:tav>
                                        <p:tav tm="100000">
                                          <p:val>
                                            <p:strVal val="#ppt_y"/>
                                          </p:val>
                                        </p:tav>
                                      </p:tavLst>
                                    </p:anim>
                                  </p:childTnLst>
                                </p:cTn>
                              </p:par>
                              <p:par>
                                <p:cTn id="85" presetID="10" presetClass="entr" presetSubtype="0" fill="hold" grpId="0" nodeType="withEffect">
                                  <p:stCondLst>
                                    <p:cond delay="325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anim calcmode="lin" valueType="num">
                                      <p:cBhvr additive="base">
                                        <p:cTn id="88" dur="500" fill="hold"/>
                                        <p:tgtEl>
                                          <p:spTgt spid="18"/>
                                        </p:tgtEl>
                                        <p:attrNameLst>
                                          <p:attrName>ppt_y</p:attrName>
                                        </p:attrNameLst>
                                      </p:cBhvr>
                                      <p:tavLst>
                                        <p:tav tm="0">
                                          <p:val>
                                            <p:strVal val="#ppt_y+.025"/>
                                          </p:val>
                                        </p:tav>
                                        <p:tav tm="100000">
                                          <p:val>
                                            <p:strVal val="#ppt_y"/>
                                          </p:val>
                                        </p:tav>
                                      </p:tavLst>
                                    </p:anim>
                                  </p:childTnLst>
                                </p:cTn>
                              </p:par>
                              <p:par>
                                <p:cTn id="89" presetID="10" presetClass="entr" presetSubtype="0" fill="hold" grpId="0" nodeType="withEffect">
                                  <p:stCondLst>
                                    <p:cond delay="325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9" grpId="0"/>
      <p:bldP spid="10" grpId="0"/>
      <p:bldP spid="14" grpId="0"/>
      <p:bldP spid="15" grpId="0"/>
      <p:bldP spid="19" grpId="0"/>
      <p:bldP spid="20" grpId="0"/>
      <p:bldP spid="6" grpId="0"/>
      <p:bldP spid="11" grpId="0"/>
      <p:bldP spid="16" grpId="0"/>
      <p:bldP spid="21" grpId="0"/>
      <p:bldP spid="7" grpId="0"/>
      <p:bldP spid="12" grpId="0"/>
      <p:bldP spid="17" grpId="0"/>
      <p:bldP spid="22" grpId="0"/>
      <p:bldP spid="8" grpId="0"/>
      <p:bldP spid="13" grpId="0"/>
      <p:bldP spid="18" grpId="0"/>
      <p:bldP spid="23" grpId="0"/>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ARE YOU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Which studio are you closest to?</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Communication or advertising design</a:t>
            </a:r>
          </a:p>
        </p:txBody>
      </p:sp>
      <p:sp>
        <p:nvSpPr>
          <p:cNvPr id="7" name="Rectangle 6"/>
          <p:cNvSpPr/>
          <p:nvPr/>
        </p:nvSpPr>
        <p:spPr>
          <a:xfrm>
            <a:off x="762000" y="47498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7498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7498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Product or industrial design</a:t>
            </a:r>
          </a:p>
        </p:txBody>
      </p:sp>
      <p:sp>
        <p:nvSpPr>
          <p:cNvPr id="10" name="Rectangle 9"/>
          <p:cNvSpPr/>
          <p:nvPr/>
        </p:nvSpPr>
        <p:spPr>
          <a:xfrm>
            <a:off x="762000" y="5181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181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181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Interaction, digital or media design</a:t>
            </a:r>
          </a:p>
        </p:txBody>
      </p:sp>
      <p:sp>
        <p:nvSpPr>
          <p:cNvPr id="13" name="Rectangle 12"/>
          <p:cNvSpPr/>
          <p:nvPr/>
        </p:nvSpPr>
        <p:spPr>
          <a:xfrm>
            <a:off x="762000" y="56134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6134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D</a:t>
            </a:r>
          </a:p>
        </p:txBody>
      </p:sp>
      <p:sp>
        <p:nvSpPr>
          <p:cNvPr id="15" name="TextBox 14"/>
          <p:cNvSpPr txBox="1"/>
          <p:nvPr/>
        </p:nvSpPr>
        <p:spPr>
          <a:xfrm>
            <a:off x="1346200" y="56134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Environment, interior, social — or something else</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09</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19"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9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additive="base">
                                        <p:cTn id="28" dur="500" fill="hold"/>
                                        <p:tgtEl>
                                          <p:spTgt spid="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95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26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additive="base">
                                        <p:cTn id="40" dur="500" fill="hold"/>
                                        <p:tgtEl>
                                          <p:spTgt spid="10"/>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26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additive="base">
                                        <p:cTn id="44" dur="500" fill="hold"/>
                                        <p:tgtEl>
                                          <p:spTgt spid="11"/>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26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additive="base">
                                        <p:cTn id="48" dur="500" fill="hold"/>
                                        <p:tgtEl>
                                          <p:spTgt spid="12"/>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32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anim calcmode="lin" valueType="num">
                                      <p:cBhvr additive="base">
                                        <p:cTn id="52" dur="500" fill="hold"/>
                                        <p:tgtEl>
                                          <p:spTgt spid="13"/>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32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325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ARE YOU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4900"/>
              </a:lnSpc>
            </a:pPr>
            <a:r>
              <a:rPr sz="6900" b="0" spc="-276">
                <a:solidFill>
                  <a:srgbClr val="000B1C"/>
                </a:solidFill>
                <a:latin typeface="Inter Black"/>
              </a:rPr>
              <a:t>How much have you used AI in your design work?</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Never, or once to try it</a:t>
            </a:r>
          </a:p>
        </p:txBody>
      </p:sp>
      <p:sp>
        <p:nvSpPr>
          <p:cNvPr id="7" name="Rectangle 6"/>
          <p:cNvSpPr/>
          <p:nvPr/>
        </p:nvSpPr>
        <p:spPr>
          <a:xfrm>
            <a:off x="762000" y="47498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7498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7498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Sometimes — for ideas, images, or text</a:t>
            </a:r>
          </a:p>
        </p:txBody>
      </p:sp>
      <p:sp>
        <p:nvSpPr>
          <p:cNvPr id="10" name="Rectangle 9"/>
          <p:cNvSpPr/>
          <p:nvPr/>
        </p:nvSpPr>
        <p:spPr>
          <a:xfrm>
            <a:off x="762000" y="5181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181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181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Every week; it is part of my workflow</a:t>
            </a:r>
          </a:p>
        </p:txBody>
      </p:sp>
      <p:sp>
        <p:nvSpPr>
          <p:cNvPr id="13" name="Rectangle 12"/>
          <p:cNvSpPr/>
          <p:nvPr/>
        </p:nvSpPr>
        <p:spPr>
          <a:xfrm>
            <a:off x="762000" y="56134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6134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D</a:t>
            </a:r>
          </a:p>
        </p:txBody>
      </p:sp>
      <p:sp>
        <p:nvSpPr>
          <p:cNvPr id="15" name="TextBox 14"/>
          <p:cNvSpPr txBox="1"/>
          <p:nvPr/>
        </p:nvSpPr>
        <p:spPr>
          <a:xfrm>
            <a:off x="1346200" y="56134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I have built something with a model or an API</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10</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19"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9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additive="base">
                                        <p:cTn id="28" dur="500" fill="hold"/>
                                        <p:tgtEl>
                                          <p:spTgt spid="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95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26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additive="base">
                                        <p:cTn id="40" dur="500" fill="hold"/>
                                        <p:tgtEl>
                                          <p:spTgt spid="10"/>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26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additive="base">
                                        <p:cTn id="44" dur="500" fill="hold"/>
                                        <p:tgtEl>
                                          <p:spTgt spid="11"/>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26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additive="base">
                                        <p:cTn id="48" dur="500" fill="hold"/>
                                        <p:tgtEl>
                                          <p:spTgt spid="12"/>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32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anim calcmode="lin" valueType="num">
                                      <p:cBhvr additive="base">
                                        <p:cTn id="52" dur="500" fill="hold"/>
                                        <p:tgtEl>
                                          <p:spTgt spid="13"/>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32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325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02 · WHO ARE YOU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Have you written code?</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No</a:t>
            </a:r>
          </a:p>
        </p:txBody>
      </p:sp>
      <p:sp>
        <p:nvSpPr>
          <p:cNvPr id="7" name="Rectangle 6"/>
          <p:cNvSpPr/>
          <p:nvPr/>
        </p:nvSpPr>
        <p:spPr>
          <a:xfrm>
            <a:off x="762000" y="4800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800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800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A little — p5.js, Python, HTML or CSS</a:t>
            </a:r>
          </a:p>
        </p:txBody>
      </p:sp>
      <p:sp>
        <p:nvSpPr>
          <p:cNvPr id="10" name="Rectangle 9"/>
          <p:cNvSpPr/>
          <p:nvPr/>
        </p:nvSpPr>
        <p:spPr>
          <a:xfrm>
            <a:off x="762000" y="52832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2832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2832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Comfortably</a:t>
            </a:r>
          </a:p>
        </p:txBody>
      </p:sp>
      <p:sp>
        <p:nvSpPr>
          <p:cNvPr id="13"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4"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11</a:t>
            </a:r>
          </a:p>
        </p:txBody>
      </p:sp>
      <p:pic>
        <p:nvPicPr>
          <p:cNvPr id="15"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16"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9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additive="base">
                                        <p:cTn id="28" dur="500" fill="hold"/>
                                        <p:tgtEl>
                                          <p:spTgt spid="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95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26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additive="base">
                                        <p:cTn id="40" dur="500" fill="hold"/>
                                        <p:tgtEl>
                                          <p:spTgt spid="10"/>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26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additive="base">
                                        <p:cTn id="44" dur="500" fill="hold"/>
                                        <p:tgtEl>
                                          <p:spTgt spid="11"/>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26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additive="base">
                                        <p:cTn id="48" dur="500" fill="hold"/>
                                        <p:tgtEl>
                                          <p:spTgt spid="12"/>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03</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The journey</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13 WEEKS · FOUR MODULES · ONE QUESTION</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03 · THE SEMESTER</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Where we are going</a:t>
            </a:r>
          </a:p>
        </p:txBody>
      </p:sp>
      <p:sp>
        <p:nvSpPr>
          <p:cNvPr id="4" name="Rectangle 3"/>
          <p:cNvSpPr/>
          <p:nvPr/>
        </p:nvSpPr>
        <p:spPr>
          <a:xfrm>
            <a:off x="762000" y="2019300"/>
            <a:ext cx="2413000" cy="622300"/>
          </a:xfrm>
          <a:prstGeom prst="rect">
            <a:avLst/>
          </a:prstGeom>
          <a:solidFill>
            <a:srgbClr val="64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9000" y="2019300"/>
            <a:ext cx="2159000" cy="622300"/>
          </a:xfrm>
          <a:prstGeom prst="rect">
            <a:avLst/>
          </a:prstGeom>
          <a:noFill/>
        </p:spPr>
        <p:txBody>
          <a:bodyPr wrap="square" lIns="0" rIns="0" tIns="0" bIns="0" anchor="ctr">
            <a:noAutofit/>
          </a:bodyPr>
          <a:lstStyle/>
          <a:p>
            <a:pPr algn="l">
              <a:lnSpc>
                <a:spcPct val="86700"/>
              </a:lnSpc>
            </a:pPr>
            <a:r>
              <a:rPr sz="1950" b="0" spc="-39">
                <a:solidFill>
                  <a:srgbClr val="000B1C"/>
                </a:solidFill>
                <a:latin typeface="Inter ExtraBold"/>
              </a:rPr>
              <a:t>1 · What is AI?</a:t>
            </a:r>
          </a:p>
        </p:txBody>
      </p:sp>
      <p:sp>
        <p:nvSpPr>
          <p:cNvPr id="6" name="Rectangle 5"/>
          <p:cNvSpPr/>
          <p:nvPr/>
        </p:nvSpPr>
        <p:spPr>
          <a:xfrm>
            <a:off x="3302000" y="2019300"/>
            <a:ext cx="2667000" cy="62230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03600" y="20828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a:t>
            </a:r>
          </a:p>
        </p:txBody>
      </p:sp>
      <p:sp>
        <p:nvSpPr>
          <p:cNvPr id="8" name="TextBox 7"/>
          <p:cNvSpPr txBox="1"/>
          <p:nvPr/>
        </p:nvSpPr>
        <p:spPr>
          <a:xfrm>
            <a:off x="3403600" y="22606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Two ways to teach a machine</a:t>
            </a:r>
          </a:p>
        </p:txBody>
      </p:sp>
      <p:sp>
        <p:nvSpPr>
          <p:cNvPr id="9" name="Rectangle 8"/>
          <p:cNvSpPr/>
          <p:nvPr/>
        </p:nvSpPr>
        <p:spPr>
          <a:xfrm>
            <a:off x="3302000" y="2019300"/>
            <a:ext cx="2667000" cy="622300"/>
          </a:xfrm>
          <a:prstGeom prst="rect">
            <a:avLst/>
          </a:prstGeom>
          <a:noFill/>
          <a:ln w="31750">
            <a:solidFill>
              <a:srgbClr val="ED6D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2500" y="2019300"/>
            <a:ext cx="2667000" cy="62230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34100" y="20828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2</a:t>
            </a:r>
          </a:p>
        </p:txBody>
      </p:sp>
      <p:sp>
        <p:nvSpPr>
          <p:cNvPr id="12" name="TextBox 11"/>
          <p:cNvSpPr txBox="1"/>
          <p:nvPr/>
        </p:nvSpPr>
        <p:spPr>
          <a:xfrm>
            <a:off x="6134100" y="22606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Rules that make things: code, chance, generative art</a:t>
            </a:r>
          </a:p>
        </p:txBody>
      </p:sp>
      <p:sp>
        <p:nvSpPr>
          <p:cNvPr id="13" name="Rectangle 12"/>
          <p:cNvSpPr/>
          <p:nvPr/>
        </p:nvSpPr>
        <p:spPr>
          <a:xfrm>
            <a:off x="8763000" y="2019300"/>
            <a:ext cx="2667000" cy="622300"/>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4600" y="20828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3</a:t>
            </a:r>
          </a:p>
        </p:txBody>
      </p:sp>
      <p:sp>
        <p:nvSpPr>
          <p:cNvPr id="15" name="TextBox 14"/>
          <p:cNvSpPr txBox="1"/>
          <p:nvPr/>
        </p:nvSpPr>
        <p:spPr>
          <a:xfrm>
            <a:off x="8864600" y="22606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Learning from examples: concepts, neurons, Move 37</a:t>
            </a:r>
          </a:p>
        </p:txBody>
      </p:sp>
      <p:sp>
        <p:nvSpPr>
          <p:cNvPr id="16" name="Rectangle 15"/>
          <p:cNvSpPr/>
          <p:nvPr/>
        </p:nvSpPr>
        <p:spPr>
          <a:xfrm>
            <a:off x="762000" y="2705100"/>
            <a:ext cx="2413000" cy="622300"/>
          </a:xfrm>
          <a:prstGeom prst="rect">
            <a:avLst/>
          </a:prstGeom>
          <a:solidFill>
            <a:srgbClr val="943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000" y="2705100"/>
            <a:ext cx="2159000" cy="622300"/>
          </a:xfrm>
          <a:prstGeom prst="rect">
            <a:avLst/>
          </a:prstGeom>
          <a:noFill/>
        </p:spPr>
        <p:txBody>
          <a:bodyPr wrap="square" lIns="0" rIns="0" tIns="0" bIns="0" anchor="ctr">
            <a:noAutofit/>
          </a:bodyPr>
          <a:lstStyle/>
          <a:p>
            <a:pPr algn="l">
              <a:lnSpc>
                <a:spcPct val="86700"/>
              </a:lnSpc>
            </a:pPr>
            <a:r>
              <a:rPr sz="1950" b="0" spc="-39">
                <a:solidFill>
                  <a:srgbClr val="FFFFFF"/>
                </a:solidFill>
                <a:latin typeface="Inter ExtraBold"/>
              </a:rPr>
              <a:t>2 · AI for the creative process</a:t>
            </a:r>
          </a:p>
        </p:txBody>
      </p:sp>
      <p:sp>
        <p:nvSpPr>
          <p:cNvPr id="18" name="Rectangle 17"/>
          <p:cNvSpPr/>
          <p:nvPr/>
        </p:nvSpPr>
        <p:spPr>
          <a:xfrm>
            <a:off x="3302000" y="2705100"/>
            <a:ext cx="2667000" cy="622300"/>
          </a:xfrm>
          <a:prstGeom prst="rect">
            <a:avLst/>
          </a:prstGeom>
          <a:solidFill>
            <a:srgbClr val="F2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03600" y="27686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4</a:t>
            </a:r>
          </a:p>
        </p:txBody>
      </p:sp>
      <p:sp>
        <p:nvSpPr>
          <p:cNvPr id="20" name="TextBox 19"/>
          <p:cNvSpPr txBox="1"/>
          <p:nvPr/>
        </p:nvSpPr>
        <p:spPr>
          <a:xfrm>
            <a:off x="3403600" y="29464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Language machines: LLMs, prompts, agents</a:t>
            </a:r>
          </a:p>
        </p:txBody>
      </p:sp>
      <p:sp>
        <p:nvSpPr>
          <p:cNvPr id="21" name="Rectangle 20"/>
          <p:cNvSpPr/>
          <p:nvPr/>
        </p:nvSpPr>
        <p:spPr>
          <a:xfrm>
            <a:off x="6032500" y="2705100"/>
            <a:ext cx="2667000" cy="622300"/>
          </a:xfrm>
          <a:prstGeom prst="rect">
            <a:avLst/>
          </a:prstGeom>
          <a:solidFill>
            <a:srgbClr val="F2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34100" y="27686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5</a:t>
            </a:r>
          </a:p>
        </p:txBody>
      </p:sp>
      <p:sp>
        <p:nvSpPr>
          <p:cNvPr id="23" name="TextBox 22"/>
          <p:cNvSpPr txBox="1"/>
          <p:nvPr/>
        </p:nvSpPr>
        <p:spPr>
          <a:xfrm>
            <a:off x="6134100" y="29464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Image machines: diffusion, CLIP, mediation</a:t>
            </a:r>
          </a:p>
        </p:txBody>
      </p:sp>
      <p:sp>
        <p:nvSpPr>
          <p:cNvPr id="24" name="Rectangle 23"/>
          <p:cNvSpPr/>
          <p:nvPr/>
        </p:nvSpPr>
        <p:spPr>
          <a:xfrm>
            <a:off x="8763000" y="2705100"/>
            <a:ext cx="2667000" cy="622300"/>
          </a:xfrm>
          <a:prstGeom prst="rect">
            <a:avLst/>
          </a:prstGeom>
          <a:solidFill>
            <a:srgbClr val="F2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4600" y="27686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6</a:t>
            </a:r>
          </a:p>
        </p:txBody>
      </p:sp>
      <p:sp>
        <p:nvSpPr>
          <p:cNvPr id="26" name="TextBox 25"/>
          <p:cNvSpPr txBox="1"/>
          <p:nvPr/>
        </p:nvSpPr>
        <p:spPr>
          <a:xfrm>
            <a:off x="8864600" y="29464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Sound machines: music, voice, spectrograms</a:t>
            </a:r>
          </a:p>
        </p:txBody>
      </p:sp>
      <p:sp>
        <p:nvSpPr>
          <p:cNvPr id="27" name="Rectangle 26"/>
          <p:cNvSpPr/>
          <p:nvPr/>
        </p:nvSpPr>
        <p:spPr>
          <a:xfrm>
            <a:off x="762000" y="3390900"/>
            <a:ext cx="241300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000" y="3390900"/>
            <a:ext cx="2159000" cy="622300"/>
          </a:xfrm>
          <a:prstGeom prst="rect">
            <a:avLst/>
          </a:prstGeom>
          <a:noFill/>
        </p:spPr>
        <p:txBody>
          <a:bodyPr wrap="square" lIns="0" rIns="0" tIns="0" bIns="0" anchor="ctr">
            <a:noAutofit/>
          </a:bodyPr>
          <a:lstStyle/>
          <a:p>
            <a:pPr algn="l">
              <a:lnSpc>
                <a:spcPct val="86700"/>
              </a:lnSpc>
            </a:pPr>
            <a:r>
              <a:rPr sz="1950" b="0" spc="-39">
                <a:solidFill>
                  <a:srgbClr val="000B1C"/>
                </a:solidFill>
                <a:latin typeface="Inter ExtraBold"/>
              </a:rPr>
              <a:t>Mid-term</a:t>
            </a:r>
          </a:p>
        </p:txBody>
      </p:sp>
      <p:sp>
        <p:nvSpPr>
          <p:cNvPr id="29" name="Rectangle 28"/>
          <p:cNvSpPr/>
          <p:nvPr/>
        </p:nvSpPr>
        <p:spPr>
          <a:xfrm>
            <a:off x="3302000" y="3390900"/>
            <a:ext cx="812800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03600" y="3454400"/>
            <a:ext cx="7924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7</a:t>
            </a:r>
          </a:p>
        </p:txBody>
      </p:sp>
      <p:sp>
        <p:nvSpPr>
          <p:cNvPr id="31" name="TextBox 30"/>
          <p:cNvSpPr txBox="1"/>
          <p:nvPr/>
        </p:nvSpPr>
        <p:spPr>
          <a:xfrm>
            <a:off x="3403600" y="3632200"/>
            <a:ext cx="7924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Mid-term quiz · project pitches · teams · reflection due</a:t>
            </a:r>
          </a:p>
        </p:txBody>
      </p:sp>
      <p:sp>
        <p:nvSpPr>
          <p:cNvPr id="32" name="Rectangle 31"/>
          <p:cNvSpPr/>
          <p:nvPr/>
        </p:nvSpPr>
        <p:spPr>
          <a:xfrm>
            <a:off x="762000" y="4076700"/>
            <a:ext cx="2413000" cy="622300"/>
          </a:xfrm>
          <a:prstGeom prst="rect">
            <a:avLst/>
          </a:prstGeom>
          <a:solidFill>
            <a:srgbClr val="ED6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9000" y="4076700"/>
            <a:ext cx="2159000" cy="622300"/>
          </a:xfrm>
          <a:prstGeom prst="rect">
            <a:avLst/>
          </a:prstGeom>
          <a:noFill/>
        </p:spPr>
        <p:txBody>
          <a:bodyPr wrap="square" lIns="0" rIns="0" tIns="0" bIns="0" anchor="ctr">
            <a:noAutofit/>
          </a:bodyPr>
          <a:lstStyle/>
          <a:p>
            <a:pPr algn="l">
              <a:lnSpc>
                <a:spcPct val="86700"/>
              </a:lnSpc>
            </a:pPr>
            <a:r>
              <a:rPr sz="1950" b="0" spc="-39">
                <a:solidFill>
                  <a:srgbClr val="000B1C"/>
                </a:solidFill>
                <a:latin typeface="Inter ExtraBold"/>
              </a:rPr>
              <a:t>3 · AI inside products</a:t>
            </a:r>
          </a:p>
        </p:txBody>
      </p:sp>
      <p:sp>
        <p:nvSpPr>
          <p:cNvPr id="34" name="Rectangle 33"/>
          <p:cNvSpPr/>
          <p:nvPr/>
        </p:nvSpPr>
        <p:spPr>
          <a:xfrm>
            <a:off x="3302000" y="4076700"/>
            <a:ext cx="2667000" cy="622300"/>
          </a:xfrm>
          <a:prstGeom prst="rect">
            <a:avLst/>
          </a:prstGeom>
          <a:solidFill>
            <a:srgbClr val="F9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03600" y="41402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8</a:t>
            </a:r>
          </a:p>
        </p:txBody>
      </p:sp>
      <p:sp>
        <p:nvSpPr>
          <p:cNvPr id="36" name="TextBox 35"/>
          <p:cNvSpPr txBox="1"/>
          <p:nvPr/>
        </p:nvSpPr>
        <p:spPr>
          <a:xfrm>
            <a:off x="3403600" y="43180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AI as design material: use vs incorporate</a:t>
            </a:r>
          </a:p>
        </p:txBody>
      </p:sp>
      <p:sp>
        <p:nvSpPr>
          <p:cNvPr id="37" name="Rectangle 36"/>
          <p:cNvSpPr/>
          <p:nvPr/>
        </p:nvSpPr>
        <p:spPr>
          <a:xfrm>
            <a:off x="6032500" y="4076700"/>
            <a:ext cx="2667000" cy="622300"/>
          </a:xfrm>
          <a:prstGeom prst="rect">
            <a:avLst/>
          </a:prstGeom>
          <a:solidFill>
            <a:srgbClr val="F9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34100" y="41402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9</a:t>
            </a:r>
          </a:p>
        </p:txBody>
      </p:sp>
      <p:sp>
        <p:nvSpPr>
          <p:cNvPr id="39" name="TextBox 38"/>
          <p:cNvSpPr txBox="1"/>
          <p:nvPr/>
        </p:nvSpPr>
        <p:spPr>
          <a:xfrm>
            <a:off x="6134100" y="43180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Data, bias and privacy</a:t>
            </a:r>
          </a:p>
        </p:txBody>
      </p:sp>
      <p:sp>
        <p:nvSpPr>
          <p:cNvPr id="40" name="Rectangle 39"/>
          <p:cNvSpPr/>
          <p:nvPr/>
        </p:nvSpPr>
        <p:spPr>
          <a:xfrm>
            <a:off x="8763000" y="4076700"/>
            <a:ext cx="2667000" cy="622300"/>
          </a:xfrm>
          <a:prstGeom prst="rect">
            <a:avLst/>
          </a:prstGeom>
          <a:solidFill>
            <a:srgbClr val="F9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64600" y="4140200"/>
            <a:ext cx="246380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10</a:t>
            </a:r>
          </a:p>
        </p:txBody>
      </p:sp>
      <p:sp>
        <p:nvSpPr>
          <p:cNvPr id="42" name="TextBox 41"/>
          <p:cNvSpPr txBox="1"/>
          <p:nvPr/>
        </p:nvSpPr>
        <p:spPr>
          <a:xfrm>
            <a:off x="8864600" y="4318000"/>
            <a:ext cx="246380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Recommendation systems and the feed</a:t>
            </a:r>
          </a:p>
        </p:txBody>
      </p:sp>
      <p:sp>
        <p:nvSpPr>
          <p:cNvPr id="43" name="Rectangle 42"/>
          <p:cNvSpPr/>
          <p:nvPr/>
        </p:nvSpPr>
        <p:spPr>
          <a:xfrm>
            <a:off x="762000" y="4762500"/>
            <a:ext cx="2413000" cy="622300"/>
          </a:xfrm>
          <a:prstGeom prst="rect">
            <a:avLst/>
          </a:prstGeom>
          <a:solidFill>
            <a:srgbClr val="E94D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9000" y="4762500"/>
            <a:ext cx="2159000" cy="622300"/>
          </a:xfrm>
          <a:prstGeom prst="rect">
            <a:avLst/>
          </a:prstGeom>
          <a:noFill/>
        </p:spPr>
        <p:txBody>
          <a:bodyPr wrap="square" lIns="0" rIns="0" tIns="0" bIns="0" anchor="ctr">
            <a:noAutofit/>
          </a:bodyPr>
          <a:lstStyle/>
          <a:p>
            <a:pPr algn="l">
              <a:lnSpc>
                <a:spcPct val="86700"/>
              </a:lnSpc>
            </a:pPr>
            <a:r>
              <a:rPr sz="1950" b="0" spc="-39">
                <a:solidFill>
                  <a:srgbClr val="FFFFFF"/>
                </a:solidFill>
                <a:latin typeface="Inter ExtraBold"/>
              </a:rPr>
              <a:t>4 · The designer's turn</a:t>
            </a:r>
          </a:p>
        </p:txBody>
      </p:sp>
      <p:sp>
        <p:nvSpPr>
          <p:cNvPr id="45" name="Rectangle 44"/>
          <p:cNvSpPr/>
          <p:nvPr/>
        </p:nvSpPr>
        <p:spPr>
          <a:xfrm>
            <a:off x="3302000" y="4762500"/>
            <a:ext cx="4032250" cy="622300"/>
          </a:xfrm>
          <a:prstGeom prst="rect">
            <a:avLst/>
          </a:prstGeom>
          <a:solidFill>
            <a:srgbClr val="F7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03600" y="48260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11</a:t>
            </a:r>
          </a:p>
        </p:txBody>
      </p:sp>
      <p:sp>
        <p:nvSpPr>
          <p:cNvPr id="47" name="TextBox 46"/>
          <p:cNvSpPr txBox="1"/>
          <p:nvPr/>
        </p:nvSpPr>
        <p:spPr>
          <a:xfrm>
            <a:off x="3403600" y="50038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Curating outputs and datasets · authorship</a:t>
            </a:r>
          </a:p>
        </p:txBody>
      </p:sp>
      <p:sp>
        <p:nvSpPr>
          <p:cNvPr id="48" name="Rectangle 47"/>
          <p:cNvSpPr/>
          <p:nvPr/>
        </p:nvSpPr>
        <p:spPr>
          <a:xfrm>
            <a:off x="7397750" y="4762500"/>
            <a:ext cx="4032250" cy="622300"/>
          </a:xfrm>
          <a:prstGeom prst="rect">
            <a:avLst/>
          </a:prstGeom>
          <a:solidFill>
            <a:srgbClr val="F7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99350" y="48260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12</a:t>
            </a:r>
          </a:p>
        </p:txBody>
      </p:sp>
      <p:sp>
        <p:nvSpPr>
          <p:cNvPr id="50" name="TextBox 49"/>
          <p:cNvSpPr txBox="1"/>
          <p:nvPr/>
        </p:nvSpPr>
        <p:spPr>
          <a:xfrm>
            <a:off x="7499350" y="50038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Language as an interface: chatbots and agents</a:t>
            </a:r>
          </a:p>
        </p:txBody>
      </p:sp>
      <p:sp>
        <p:nvSpPr>
          <p:cNvPr id="51" name="Rectangle 50"/>
          <p:cNvSpPr/>
          <p:nvPr/>
        </p:nvSpPr>
        <p:spPr>
          <a:xfrm>
            <a:off x="762000" y="5448300"/>
            <a:ext cx="2413000" cy="622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9000" y="5448300"/>
            <a:ext cx="2159000" cy="622300"/>
          </a:xfrm>
          <a:prstGeom prst="rect">
            <a:avLst/>
          </a:prstGeom>
          <a:noFill/>
        </p:spPr>
        <p:txBody>
          <a:bodyPr wrap="square" lIns="0" rIns="0" tIns="0" bIns="0" anchor="ctr">
            <a:noAutofit/>
          </a:bodyPr>
          <a:lstStyle/>
          <a:p>
            <a:pPr algn="l">
              <a:lnSpc>
                <a:spcPct val="86700"/>
              </a:lnSpc>
            </a:pPr>
            <a:r>
              <a:rPr sz="1950" b="0" spc="-39">
                <a:solidFill>
                  <a:srgbClr val="FFFFFF"/>
                </a:solidFill>
                <a:latin typeface="Inter ExtraBold"/>
              </a:rPr>
              <a:t>Showcase</a:t>
            </a:r>
          </a:p>
        </p:txBody>
      </p:sp>
      <p:sp>
        <p:nvSpPr>
          <p:cNvPr id="53" name="Rectangle 52"/>
          <p:cNvSpPr/>
          <p:nvPr/>
        </p:nvSpPr>
        <p:spPr>
          <a:xfrm>
            <a:off x="3302000" y="5448300"/>
            <a:ext cx="403225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03600" y="55118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13</a:t>
            </a:r>
          </a:p>
        </p:txBody>
      </p:sp>
      <p:sp>
        <p:nvSpPr>
          <p:cNvPr id="55" name="TextBox 54"/>
          <p:cNvSpPr txBox="1"/>
          <p:nvPr/>
        </p:nvSpPr>
        <p:spPr>
          <a:xfrm>
            <a:off x="3403600" y="56896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Poster fair — group projects</a:t>
            </a:r>
          </a:p>
        </p:txBody>
      </p:sp>
      <p:sp>
        <p:nvSpPr>
          <p:cNvPr id="56" name="Rectangle 55"/>
          <p:cNvSpPr/>
          <p:nvPr/>
        </p:nvSpPr>
        <p:spPr>
          <a:xfrm>
            <a:off x="7397750" y="5448300"/>
            <a:ext cx="4032250" cy="6223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9350" y="5511800"/>
            <a:ext cx="3829050" cy="152400"/>
          </a:xfrm>
          <a:prstGeom prst="rect">
            <a:avLst/>
          </a:prstGeom>
          <a:noFill/>
        </p:spPr>
        <p:txBody>
          <a:bodyPr wrap="square" lIns="0" rIns="0" tIns="0" bIns="0" anchor="t">
            <a:noAutofit/>
          </a:bodyPr>
          <a:lstStyle/>
          <a:p>
            <a:pPr algn="l">
              <a:lnSpc>
                <a:spcPct val="86400"/>
              </a:lnSpc>
            </a:pPr>
            <a:r>
              <a:rPr sz="1350" b="0" spc="189">
                <a:solidFill>
                  <a:srgbClr val="5C6470"/>
                </a:solidFill>
                <a:latin typeface="JetBrains Mono Medium"/>
              </a:rPr>
              <a:t>WEEK 14</a:t>
            </a:r>
          </a:p>
        </p:txBody>
      </p:sp>
      <p:sp>
        <p:nvSpPr>
          <p:cNvPr id="58" name="TextBox 57"/>
          <p:cNvSpPr txBox="1"/>
          <p:nvPr/>
        </p:nvSpPr>
        <p:spPr>
          <a:xfrm>
            <a:off x="7499350" y="5689600"/>
            <a:ext cx="3829050" cy="342900"/>
          </a:xfrm>
          <a:prstGeom prst="rect">
            <a:avLst/>
          </a:prstGeom>
          <a:noFill/>
        </p:spPr>
        <p:txBody>
          <a:bodyPr wrap="square" lIns="0" rIns="0" tIns="0" bIns="0" anchor="t">
            <a:noAutofit/>
          </a:bodyPr>
          <a:lstStyle/>
          <a:p>
            <a:pPr algn="l">
              <a:lnSpc>
                <a:spcPct val="86400"/>
              </a:lnSpc>
            </a:pPr>
            <a:r>
              <a:rPr sz="1650" b="0" spc="-16">
                <a:solidFill>
                  <a:srgbClr val="000B1C"/>
                </a:solidFill>
                <a:latin typeface="Inter SemiBold"/>
              </a:rPr>
              <a:t>Final quiz</a:t>
            </a:r>
          </a:p>
        </p:txBody>
      </p:sp>
      <p:sp>
        <p:nvSpPr>
          <p:cNvPr id="59"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0"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13</a:t>
            </a:r>
          </a:p>
        </p:txBody>
      </p:sp>
      <p:pic>
        <p:nvPicPr>
          <p:cNvPr id="61"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anim calcmode="lin" valueType="num">
                                      <p:cBhvr additive="base">
                                        <p:cTn id="32" dur="500" fill="hold"/>
                                        <p:tgtEl>
                                          <p:spTgt spid="10"/>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additive="base">
                                        <p:cTn id="36" dur="500" fill="hold"/>
                                        <p:tgtEl>
                                          <p:spTgt spid="13"/>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30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anim calcmode="lin" valueType="num">
                                      <p:cBhvr additive="base">
                                        <p:cTn id="40" dur="500" fill="hold"/>
                                        <p:tgtEl>
                                          <p:spTgt spid="7"/>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3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additive="base">
                                        <p:cTn id="44" dur="500" fill="hold"/>
                                        <p:tgtEl>
                                          <p:spTgt spid="11"/>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3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additive="base">
                                        <p:cTn id="48" dur="500" fill="hold"/>
                                        <p:tgtEl>
                                          <p:spTgt spid="14"/>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130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anim calcmode="lin" valueType="num">
                                      <p:cBhvr additive="base">
                                        <p:cTn id="52" dur="500" fill="hold"/>
                                        <p:tgtEl>
                                          <p:spTgt spid="8"/>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13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anim calcmode="lin" valueType="num">
                                      <p:cBhvr additive="base">
                                        <p:cTn id="56" dur="500" fill="hold"/>
                                        <p:tgtEl>
                                          <p:spTgt spid="12"/>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130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195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anim calcmode="lin" valueType="num">
                                      <p:cBhvr additive="base">
                                        <p:cTn id="64" dur="500" fill="hold"/>
                                        <p:tgtEl>
                                          <p:spTgt spid="16"/>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195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anim calcmode="lin" valueType="num">
                                      <p:cBhvr additive="base">
                                        <p:cTn id="68" dur="500" fill="hold"/>
                                        <p:tgtEl>
                                          <p:spTgt spid="17"/>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195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anim calcmode="lin" valueType="num">
                                      <p:cBhvr additive="base">
                                        <p:cTn id="72" dur="500" fill="hold"/>
                                        <p:tgtEl>
                                          <p:spTgt spid="18"/>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195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additive="base">
                                        <p:cTn id="76" dur="500" fill="hold"/>
                                        <p:tgtEl>
                                          <p:spTgt spid="21"/>
                                        </p:tgtEl>
                                        <p:attrNameLst>
                                          <p:attrName>ppt_y</p:attrName>
                                        </p:attrNameLst>
                                      </p:cBhvr>
                                      <p:tavLst>
                                        <p:tav tm="0">
                                          <p:val>
                                            <p:strVal val="#ppt_y+.025"/>
                                          </p:val>
                                        </p:tav>
                                        <p:tav tm="100000">
                                          <p:val>
                                            <p:strVal val="#ppt_y"/>
                                          </p:val>
                                        </p:tav>
                                      </p:tavLst>
                                    </p:anim>
                                  </p:childTnLst>
                                </p:cTn>
                              </p:par>
                              <p:par>
                                <p:cTn id="77" presetID="10" presetClass="entr" presetSubtype="0" fill="hold" grpId="0" nodeType="withEffect">
                                  <p:stCondLst>
                                    <p:cond delay="195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anim calcmode="lin" valueType="num">
                                      <p:cBhvr additive="base">
                                        <p:cTn id="80" dur="500" fill="hold"/>
                                        <p:tgtEl>
                                          <p:spTgt spid="24"/>
                                        </p:tgtEl>
                                        <p:attrNameLst>
                                          <p:attrName>ppt_y</p:attrName>
                                        </p:attrNameLst>
                                      </p:cBhvr>
                                      <p:tavLst>
                                        <p:tav tm="0">
                                          <p:val>
                                            <p:strVal val="#ppt_y+.025"/>
                                          </p:val>
                                        </p:tav>
                                        <p:tav tm="100000">
                                          <p:val>
                                            <p:strVal val="#ppt_y"/>
                                          </p:val>
                                        </p:tav>
                                      </p:tavLst>
                                    </p:anim>
                                  </p:childTnLst>
                                </p:cTn>
                              </p:par>
                              <p:par>
                                <p:cTn id="81" presetID="10" presetClass="entr" presetSubtype="0" fill="hold" grpId="0" nodeType="withEffect">
                                  <p:stCondLst>
                                    <p:cond delay="195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500"/>
                                        <p:tgtEl>
                                          <p:spTgt spid="19"/>
                                        </p:tgtEl>
                                      </p:cBhvr>
                                    </p:animEffect>
                                    <p:anim calcmode="lin" valueType="num">
                                      <p:cBhvr additive="base">
                                        <p:cTn id="84" dur="500" fill="hold"/>
                                        <p:tgtEl>
                                          <p:spTgt spid="19"/>
                                        </p:tgtEl>
                                        <p:attrNameLst>
                                          <p:attrName>ppt_y</p:attrName>
                                        </p:attrNameLst>
                                      </p:cBhvr>
                                      <p:tavLst>
                                        <p:tav tm="0">
                                          <p:val>
                                            <p:strVal val="#ppt_y+.025"/>
                                          </p:val>
                                        </p:tav>
                                        <p:tav tm="100000">
                                          <p:val>
                                            <p:strVal val="#ppt_y"/>
                                          </p:val>
                                        </p:tav>
                                      </p:tavLst>
                                    </p:anim>
                                  </p:childTnLst>
                                </p:cTn>
                              </p:par>
                              <p:par>
                                <p:cTn id="85" presetID="10" presetClass="entr" presetSubtype="0" fill="hold" grpId="0" nodeType="withEffect">
                                  <p:stCondLst>
                                    <p:cond delay="195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00"/>
                                        <p:tgtEl>
                                          <p:spTgt spid="22"/>
                                        </p:tgtEl>
                                      </p:cBhvr>
                                    </p:animEffect>
                                    <p:anim calcmode="lin" valueType="num">
                                      <p:cBhvr additive="base">
                                        <p:cTn id="88" dur="500" fill="hold"/>
                                        <p:tgtEl>
                                          <p:spTgt spid="22"/>
                                        </p:tgtEl>
                                        <p:attrNameLst>
                                          <p:attrName>ppt_y</p:attrName>
                                        </p:attrNameLst>
                                      </p:cBhvr>
                                      <p:tavLst>
                                        <p:tav tm="0">
                                          <p:val>
                                            <p:strVal val="#ppt_y+.025"/>
                                          </p:val>
                                        </p:tav>
                                        <p:tav tm="100000">
                                          <p:val>
                                            <p:strVal val="#ppt_y"/>
                                          </p:val>
                                        </p:tav>
                                      </p:tavLst>
                                    </p:anim>
                                  </p:childTnLst>
                                </p:cTn>
                              </p:par>
                              <p:par>
                                <p:cTn id="89" presetID="10" presetClass="entr" presetSubtype="0" fill="hold" grpId="0" nodeType="withEffect">
                                  <p:stCondLst>
                                    <p:cond delay="195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500"/>
                                        <p:tgtEl>
                                          <p:spTgt spid="25"/>
                                        </p:tgtEl>
                                      </p:cBhvr>
                                    </p:animEffect>
                                    <p:anim calcmode="lin" valueType="num">
                                      <p:cBhvr additive="base">
                                        <p:cTn id="92" dur="500" fill="hold"/>
                                        <p:tgtEl>
                                          <p:spTgt spid="25"/>
                                        </p:tgtEl>
                                        <p:attrNameLst>
                                          <p:attrName>ppt_y</p:attrName>
                                        </p:attrNameLst>
                                      </p:cBhvr>
                                      <p:tavLst>
                                        <p:tav tm="0">
                                          <p:val>
                                            <p:strVal val="#ppt_y+.025"/>
                                          </p:val>
                                        </p:tav>
                                        <p:tav tm="100000">
                                          <p:val>
                                            <p:strVal val="#ppt_y"/>
                                          </p:val>
                                        </p:tav>
                                      </p:tavLst>
                                    </p:anim>
                                  </p:childTnLst>
                                </p:cTn>
                              </p:par>
                              <p:par>
                                <p:cTn id="93" presetID="10" presetClass="entr" presetSubtype="0" fill="hold" grpId="0" nodeType="withEffect">
                                  <p:stCondLst>
                                    <p:cond delay="195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500"/>
                                        <p:tgtEl>
                                          <p:spTgt spid="20"/>
                                        </p:tgtEl>
                                      </p:cBhvr>
                                    </p:animEffect>
                                    <p:anim calcmode="lin" valueType="num">
                                      <p:cBhvr additive="base">
                                        <p:cTn id="96" dur="500" fill="hold"/>
                                        <p:tgtEl>
                                          <p:spTgt spid="20"/>
                                        </p:tgtEl>
                                        <p:attrNameLst>
                                          <p:attrName>ppt_y</p:attrName>
                                        </p:attrNameLst>
                                      </p:cBhvr>
                                      <p:tavLst>
                                        <p:tav tm="0">
                                          <p:val>
                                            <p:strVal val="#ppt_y+.025"/>
                                          </p:val>
                                        </p:tav>
                                        <p:tav tm="100000">
                                          <p:val>
                                            <p:strVal val="#ppt_y"/>
                                          </p:val>
                                        </p:tav>
                                      </p:tavLst>
                                    </p:anim>
                                  </p:childTnLst>
                                </p:cTn>
                              </p:par>
                              <p:par>
                                <p:cTn id="97" presetID="10" presetClass="entr" presetSubtype="0" fill="hold" grpId="0" nodeType="withEffect">
                                  <p:stCondLst>
                                    <p:cond delay="195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500"/>
                                        <p:tgtEl>
                                          <p:spTgt spid="23"/>
                                        </p:tgtEl>
                                      </p:cBhvr>
                                    </p:animEffect>
                                    <p:anim calcmode="lin" valueType="num">
                                      <p:cBhvr additive="base">
                                        <p:cTn id="100" dur="500" fill="hold"/>
                                        <p:tgtEl>
                                          <p:spTgt spid="23"/>
                                        </p:tgtEl>
                                        <p:attrNameLst>
                                          <p:attrName>ppt_y</p:attrName>
                                        </p:attrNameLst>
                                      </p:cBhvr>
                                      <p:tavLst>
                                        <p:tav tm="0">
                                          <p:val>
                                            <p:strVal val="#ppt_y+.025"/>
                                          </p:val>
                                        </p:tav>
                                        <p:tav tm="100000">
                                          <p:val>
                                            <p:strVal val="#ppt_y"/>
                                          </p:val>
                                        </p:tav>
                                      </p:tavLst>
                                    </p:anim>
                                  </p:childTnLst>
                                </p:cTn>
                              </p:par>
                              <p:par>
                                <p:cTn id="101" presetID="10" presetClass="entr" presetSubtype="0" fill="hold" grpId="0" nodeType="withEffect">
                                  <p:stCondLst>
                                    <p:cond delay="195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anim calcmode="lin" valueType="num">
                                      <p:cBhvr additive="base">
                                        <p:cTn id="104" dur="500" fill="hold"/>
                                        <p:tgtEl>
                                          <p:spTgt spid="26"/>
                                        </p:tgtEl>
                                        <p:attrNameLst>
                                          <p:attrName>ppt_y</p:attrName>
                                        </p:attrNameLst>
                                      </p:cBhvr>
                                      <p:tavLst>
                                        <p:tav tm="0">
                                          <p:val>
                                            <p:strVal val="#ppt_y+.025"/>
                                          </p:val>
                                        </p:tav>
                                        <p:tav tm="100000">
                                          <p:val>
                                            <p:strVal val="#ppt_y"/>
                                          </p:val>
                                        </p:tav>
                                      </p:tavLst>
                                    </p:anim>
                                  </p:childTnLst>
                                </p:cTn>
                              </p:par>
                              <p:par>
                                <p:cTn id="105" presetID="10" presetClass="entr" presetSubtype="0" fill="hold" grpId="0" nodeType="withEffect">
                                  <p:stCondLst>
                                    <p:cond delay="260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additive="base">
                                        <p:cTn id="108" dur="500" fill="hold"/>
                                        <p:tgtEl>
                                          <p:spTgt spid="27"/>
                                        </p:tgtEl>
                                        <p:attrNameLst>
                                          <p:attrName>ppt_y</p:attrName>
                                        </p:attrNameLst>
                                      </p:cBhvr>
                                      <p:tavLst>
                                        <p:tav tm="0">
                                          <p:val>
                                            <p:strVal val="#ppt_y+.025"/>
                                          </p:val>
                                        </p:tav>
                                        <p:tav tm="100000">
                                          <p:val>
                                            <p:strVal val="#ppt_y"/>
                                          </p:val>
                                        </p:tav>
                                      </p:tavLst>
                                    </p:anim>
                                  </p:childTnLst>
                                </p:cTn>
                              </p:par>
                              <p:par>
                                <p:cTn id="109" presetID="10" presetClass="entr" presetSubtype="0" fill="hold" grpId="0" nodeType="withEffect">
                                  <p:stCondLst>
                                    <p:cond delay="260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500"/>
                                        <p:tgtEl>
                                          <p:spTgt spid="28"/>
                                        </p:tgtEl>
                                      </p:cBhvr>
                                    </p:animEffect>
                                    <p:anim calcmode="lin" valueType="num">
                                      <p:cBhvr additive="base">
                                        <p:cTn id="112" dur="500" fill="hold"/>
                                        <p:tgtEl>
                                          <p:spTgt spid="28"/>
                                        </p:tgtEl>
                                        <p:attrNameLst>
                                          <p:attrName>ppt_y</p:attrName>
                                        </p:attrNameLst>
                                      </p:cBhvr>
                                      <p:tavLst>
                                        <p:tav tm="0">
                                          <p:val>
                                            <p:strVal val="#ppt_y+.025"/>
                                          </p:val>
                                        </p:tav>
                                        <p:tav tm="100000">
                                          <p:val>
                                            <p:strVal val="#ppt_y"/>
                                          </p:val>
                                        </p:tav>
                                      </p:tavLst>
                                    </p:anim>
                                  </p:childTnLst>
                                </p:cTn>
                              </p:par>
                              <p:par>
                                <p:cTn id="113" presetID="10" presetClass="entr" presetSubtype="0" fill="hold" grpId="0" nodeType="withEffect">
                                  <p:stCondLst>
                                    <p:cond delay="260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500"/>
                                        <p:tgtEl>
                                          <p:spTgt spid="29"/>
                                        </p:tgtEl>
                                      </p:cBhvr>
                                    </p:animEffect>
                                    <p:anim calcmode="lin" valueType="num">
                                      <p:cBhvr additive="base">
                                        <p:cTn id="116" dur="500" fill="hold"/>
                                        <p:tgtEl>
                                          <p:spTgt spid="29"/>
                                        </p:tgtEl>
                                        <p:attrNameLst>
                                          <p:attrName>ppt_y</p:attrName>
                                        </p:attrNameLst>
                                      </p:cBhvr>
                                      <p:tavLst>
                                        <p:tav tm="0">
                                          <p:val>
                                            <p:strVal val="#ppt_y+.025"/>
                                          </p:val>
                                        </p:tav>
                                        <p:tav tm="100000">
                                          <p:val>
                                            <p:strVal val="#ppt_y"/>
                                          </p:val>
                                        </p:tav>
                                      </p:tavLst>
                                    </p:anim>
                                  </p:childTnLst>
                                </p:cTn>
                              </p:par>
                              <p:par>
                                <p:cTn id="117" presetID="10" presetClass="entr" presetSubtype="0" fill="hold" grpId="0" nodeType="withEffect">
                                  <p:stCondLst>
                                    <p:cond delay="260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additive="base">
                                        <p:cTn id="120" dur="500" fill="hold"/>
                                        <p:tgtEl>
                                          <p:spTgt spid="30"/>
                                        </p:tgtEl>
                                        <p:attrNameLst>
                                          <p:attrName>ppt_y</p:attrName>
                                        </p:attrNameLst>
                                      </p:cBhvr>
                                      <p:tavLst>
                                        <p:tav tm="0">
                                          <p:val>
                                            <p:strVal val="#ppt_y+.025"/>
                                          </p:val>
                                        </p:tav>
                                        <p:tav tm="100000">
                                          <p:val>
                                            <p:strVal val="#ppt_y"/>
                                          </p:val>
                                        </p:tav>
                                      </p:tavLst>
                                    </p:anim>
                                  </p:childTnLst>
                                </p:cTn>
                              </p:par>
                              <p:par>
                                <p:cTn id="121" presetID="10" presetClass="entr" presetSubtype="0" fill="hold" grpId="0" nodeType="withEffect">
                                  <p:stCondLst>
                                    <p:cond delay="2600"/>
                                  </p:stCondLst>
                                  <p:childTnLst>
                                    <p:set>
                                      <p:cBhvr>
                                        <p:cTn id="122" dur="1" fill="hold">
                                          <p:stCondLst>
                                            <p:cond delay="0"/>
                                          </p:stCondLst>
                                        </p:cTn>
                                        <p:tgtEl>
                                          <p:spTgt spid="31"/>
                                        </p:tgtEl>
                                        <p:attrNameLst>
                                          <p:attrName>style.visibility</p:attrName>
                                        </p:attrNameLst>
                                      </p:cBhvr>
                                      <p:to>
                                        <p:strVal val="visible"/>
                                      </p:to>
                                    </p:set>
                                    <p:animEffect transition="in" filter="fade">
                                      <p:cBhvr>
                                        <p:cTn id="123" dur="500"/>
                                        <p:tgtEl>
                                          <p:spTgt spid="31"/>
                                        </p:tgtEl>
                                      </p:cBhvr>
                                    </p:animEffect>
                                    <p:anim calcmode="lin" valueType="num">
                                      <p:cBhvr additive="base">
                                        <p:cTn id="124" dur="500" fill="hold"/>
                                        <p:tgtEl>
                                          <p:spTgt spid="31"/>
                                        </p:tgtEl>
                                        <p:attrNameLst>
                                          <p:attrName>ppt_y</p:attrName>
                                        </p:attrNameLst>
                                      </p:cBhvr>
                                      <p:tavLst>
                                        <p:tav tm="0">
                                          <p:val>
                                            <p:strVal val="#ppt_y+.025"/>
                                          </p:val>
                                        </p:tav>
                                        <p:tav tm="100000">
                                          <p:val>
                                            <p:strVal val="#ppt_y"/>
                                          </p:val>
                                        </p:tav>
                                      </p:tavLst>
                                    </p:anim>
                                  </p:childTnLst>
                                </p:cTn>
                              </p:par>
                              <p:par>
                                <p:cTn id="125" presetID="10" presetClass="entr" presetSubtype="0" fill="hold" grpId="0" nodeType="withEffect">
                                  <p:stCondLst>
                                    <p:cond delay="325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500"/>
                                        <p:tgtEl>
                                          <p:spTgt spid="32"/>
                                        </p:tgtEl>
                                      </p:cBhvr>
                                    </p:animEffect>
                                    <p:anim calcmode="lin" valueType="num">
                                      <p:cBhvr additive="base">
                                        <p:cTn id="128" dur="500" fill="hold"/>
                                        <p:tgtEl>
                                          <p:spTgt spid="32"/>
                                        </p:tgtEl>
                                        <p:attrNameLst>
                                          <p:attrName>ppt_y</p:attrName>
                                        </p:attrNameLst>
                                      </p:cBhvr>
                                      <p:tavLst>
                                        <p:tav tm="0">
                                          <p:val>
                                            <p:strVal val="#ppt_y+.025"/>
                                          </p:val>
                                        </p:tav>
                                        <p:tav tm="100000">
                                          <p:val>
                                            <p:strVal val="#ppt_y"/>
                                          </p:val>
                                        </p:tav>
                                      </p:tavLst>
                                    </p:anim>
                                  </p:childTnLst>
                                </p:cTn>
                              </p:par>
                              <p:par>
                                <p:cTn id="129" presetID="10" presetClass="entr" presetSubtype="0" fill="hold" grpId="0" nodeType="withEffect">
                                  <p:stCondLst>
                                    <p:cond delay="325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500"/>
                                        <p:tgtEl>
                                          <p:spTgt spid="33"/>
                                        </p:tgtEl>
                                      </p:cBhvr>
                                    </p:animEffect>
                                    <p:anim calcmode="lin" valueType="num">
                                      <p:cBhvr additive="base">
                                        <p:cTn id="132" dur="500" fill="hold"/>
                                        <p:tgtEl>
                                          <p:spTgt spid="33"/>
                                        </p:tgtEl>
                                        <p:attrNameLst>
                                          <p:attrName>ppt_y</p:attrName>
                                        </p:attrNameLst>
                                      </p:cBhvr>
                                      <p:tavLst>
                                        <p:tav tm="0">
                                          <p:val>
                                            <p:strVal val="#ppt_y+.025"/>
                                          </p:val>
                                        </p:tav>
                                        <p:tav tm="100000">
                                          <p:val>
                                            <p:strVal val="#ppt_y"/>
                                          </p:val>
                                        </p:tav>
                                      </p:tavLst>
                                    </p:anim>
                                  </p:childTnLst>
                                </p:cTn>
                              </p:par>
                              <p:par>
                                <p:cTn id="133" presetID="10" presetClass="entr" presetSubtype="0" fill="hold" grpId="0" nodeType="withEffect">
                                  <p:stCondLst>
                                    <p:cond delay="3250"/>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500"/>
                                        <p:tgtEl>
                                          <p:spTgt spid="34"/>
                                        </p:tgtEl>
                                      </p:cBhvr>
                                    </p:animEffect>
                                    <p:anim calcmode="lin" valueType="num">
                                      <p:cBhvr additive="base">
                                        <p:cTn id="136" dur="500" fill="hold"/>
                                        <p:tgtEl>
                                          <p:spTgt spid="34"/>
                                        </p:tgtEl>
                                        <p:attrNameLst>
                                          <p:attrName>ppt_y</p:attrName>
                                        </p:attrNameLst>
                                      </p:cBhvr>
                                      <p:tavLst>
                                        <p:tav tm="0">
                                          <p:val>
                                            <p:strVal val="#ppt_y+.025"/>
                                          </p:val>
                                        </p:tav>
                                        <p:tav tm="100000">
                                          <p:val>
                                            <p:strVal val="#ppt_y"/>
                                          </p:val>
                                        </p:tav>
                                      </p:tavLst>
                                    </p:anim>
                                  </p:childTnLst>
                                </p:cTn>
                              </p:par>
                              <p:par>
                                <p:cTn id="137" presetID="10" presetClass="entr" presetSubtype="0" fill="hold" grpId="0" nodeType="withEffect">
                                  <p:stCondLst>
                                    <p:cond delay="3250"/>
                                  </p:stCondLst>
                                  <p:childTnLst>
                                    <p:set>
                                      <p:cBhvr>
                                        <p:cTn id="138" dur="1" fill="hold">
                                          <p:stCondLst>
                                            <p:cond delay="0"/>
                                          </p:stCondLst>
                                        </p:cTn>
                                        <p:tgtEl>
                                          <p:spTgt spid="37"/>
                                        </p:tgtEl>
                                        <p:attrNameLst>
                                          <p:attrName>style.visibility</p:attrName>
                                        </p:attrNameLst>
                                      </p:cBhvr>
                                      <p:to>
                                        <p:strVal val="visible"/>
                                      </p:to>
                                    </p:set>
                                    <p:animEffect transition="in" filter="fade">
                                      <p:cBhvr>
                                        <p:cTn id="139" dur="500"/>
                                        <p:tgtEl>
                                          <p:spTgt spid="37"/>
                                        </p:tgtEl>
                                      </p:cBhvr>
                                    </p:animEffect>
                                    <p:anim calcmode="lin" valueType="num">
                                      <p:cBhvr additive="base">
                                        <p:cTn id="140" dur="500" fill="hold"/>
                                        <p:tgtEl>
                                          <p:spTgt spid="37"/>
                                        </p:tgtEl>
                                        <p:attrNameLst>
                                          <p:attrName>ppt_y</p:attrName>
                                        </p:attrNameLst>
                                      </p:cBhvr>
                                      <p:tavLst>
                                        <p:tav tm="0">
                                          <p:val>
                                            <p:strVal val="#ppt_y+.025"/>
                                          </p:val>
                                        </p:tav>
                                        <p:tav tm="100000">
                                          <p:val>
                                            <p:strVal val="#ppt_y"/>
                                          </p:val>
                                        </p:tav>
                                      </p:tavLst>
                                    </p:anim>
                                  </p:childTnLst>
                                </p:cTn>
                              </p:par>
                              <p:par>
                                <p:cTn id="141" presetID="10" presetClass="entr" presetSubtype="0" fill="hold" grpId="0" nodeType="withEffect">
                                  <p:stCondLst>
                                    <p:cond delay="3250"/>
                                  </p:stCondLst>
                                  <p:childTnLst>
                                    <p:set>
                                      <p:cBhvr>
                                        <p:cTn id="142" dur="1" fill="hold">
                                          <p:stCondLst>
                                            <p:cond delay="0"/>
                                          </p:stCondLst>
                                        </p:cTn>
                                        <p:tgtEl>
                                          <p:spTgt spid="40"/>
                                        </p:tgtEl>
                                        <p:attrNameLst>
                                          <p:attrName>style.visibility</p:attrName>
                                        </p:attrNameLst>
                                      </p:cBhvr>
                                      <p:to>
                                        <p:strVal val="visible"/>
                                      </p:to>
                                    </p:set>
                                    <p:animEffect transition="in" filter="fade">
                                      <p:cBhvr>
                                        <p:cTn id="143" dur="500"/>
                                        <p:tgtEl>
                                          <p:spTgt spid="40"/>
                                        </p:tgtEl>
                                      </p:cBhvr>
                                    </p:animEffect>
                                    <p:anim calcmode="lin" valueType="num">
                                      <p:cBhvr additive="base">
                                        <p:cTn id="144" dur="500" fill="hold"/>
                                        <p:tgtEl>
                                          <p:spTgt spid="40"/>
                                        </p:tgtEl>
                                        <p:attrNameLst>
                                          <p:attrName>ppt_y</p:attrName>
                                        </p:attrNameLst>
                                      </p:cBhvr>
                                      <p:tavLst>
                                        <p:tav tm="0">
                                          <p:val>
                                            <p:strVal val="#ppt_y+.025"/>
                                          </p:val>
                                        </p:tav>
                                        <p:tav tm="100000">
                                          <p:val>
                                            <p:strVal val="#ppt_y"/>
                                          </p:val>
                                        </p:tav>
                                      </p:tavLst>
                                    </p:anim>
                                  </p:childTnLst>
                                </p:cTn>
                              </p:par>
                              <p:par>
                                <p:cTn id="145" presetID="10" presetClass="entr" presetSubtype="0" fill="hold" grpId="0" nodeType="withEffect">
                                  <p:stCondLst>
                                    <p:cond delay="3250"/>
                                  </p:stCondLst>
                                  <p:childTnLst>
                                    <p:set>
                                      <p:cBhvr>
                                        <p:cTn id="146" dur="1" fill="hold">
                                          <p:stCondLst>
                                            <p:cond delay="0"/>
                                          </p:stCondLst>
                                        </p:cTn>
                                        <p:tgtEl>
                                          <p:spTgt spid="35"/>
                                        </p:tgtEl>
                                        <p:attrNameLst>
                                          <p:attrName>style.visibility</p:attrName>
                                        </p:attrNameLst>
                                      </p:cBhvr>
                                      <p:to>
                                        <p:strVal val="visible"/>
                                      </p:to>
                                    </p:set>
                                    <p:animEffect transition="in" filter="fade">
                                      <p:cBhvr>
                                        <p:cTn id="147" dur="500"/>
                                        <p:tgtEl>
                                          <p:spTgt spid="35"/>
                                        </p:tgtEl>
                                      </p:cBhvr>
                                    </p:animEffect>
                                    <p:anim calcmode="lin" valueType="num">
                                      <p:cBhvr additive="base">
                                        <p:cTn id="148" dur="500" fill="hold"/>
                                        <p:tgtEl>
                                          <p:spTgt spid="35"/>
                                        </p:tgtEl>
                                        <p:attrNameLst>
                                          <p:attrName>ppt_y</p:attrName>
                                        </p:attrNameLst>
                                      </p:cBhvr>
                                      <p:tavLst>
                                        <p:tav tm="0">
                                          <p:val>
                                            <p:strVal val="#ppt_y+.025"/>
                                          </p:val>
                                        </p:tav>
                                        <p:tav tm="100000">
                                          <p:val>
                                            <p:strVal val="#ppt_y"/>
                                          </p:val>
                                        </p:tav>
                                      </p:tavLst>
                                    </p:anim>
                                  </p:childTnLst>
                                </p:cTn>
                              </p:par>
                              <p:par>
                                <p:cTn id="149" presetID="10" presetClass="entr" presetSubtype="0" fill="hold" grpId="0" nodeType="withEffect">
                                  <p:stCondLst>
                                    <p:cond delay="3250"/>
                                  </p:stCondLst>
                                  <p:childTnLst>
                                    <p:set>
                                      <p:cBhvr>
                                        <p:cTn id="150" dur="1" fill="hold">
                                          <p:stCondLst>
                                            <p:cond delay="0"/>
                                          </p:stCondLst>
                                        </p:cTn>
                                        <p:tgtEl>
                                          <p:spTgt spid="38"/>
                                        </p:tgtEl>
                                        <p:attrNameLst>
                                          <p:attrName>style.visibility</p:attrName>
                                        </p:attrNameLst>
                                      </p:cBhvr>
                                      <p:to>
                                        <p:strVal val="visible"/>
                                      </p:to>
                                    </p:set>
                                    <p:animEffect transition="in" filter="fade">
                                      <p:cBhvr>
                                        <p:cTn id="151" dur="500"/>
                                        <p:tgtEl>
                                          <p:spTgt spid="38"/>
                                        </p:tgtEl>
                                      </p:cBhvr>
                                    </p:animEffect>
                                    <p:anim calcmode="lin" valueType="num">
                                      <p:cBhvr additive="base">
                                        <p:cTn id="152" dur="500" fill="hold"/>
                                        <p:tgtEl>
                                          <p:spTgt spid="38"/>
                                        </p:tgtEl>
                                        <p:attrNameLst>
                                          <p:attrName>ppt_y</p:attrName>
                                        </p:attrNameLst>
                                      </p:cBhvr>
                                      <p:tavLst>
                                        <p:tav tm="0">
                                          <p:val>
                                            <p:strVal val="#ppt_y+.025"/>
                                          </p:val>
                                        </p:tav>
                                        <p:tav tm="100000">
                                          <p:val>
                                            <p:strVal val="#ppt_y"/>
                                          </p:val>
                                        </p:tav>
                                      </p:tavLst>
                                    </p:anim>
                                  </p:childTnLst>
                                </p:cTn>
                              </p:par>
                              <p:par>
                                <p:cTn id="153" presetID="10" presetClass="entr" presetSubtype="0" fill="hold" grpId="0" nodeType="withEffect">
                                  <p:stCondLst>
                                    <p:cond delay="3250"/>
                                  </p:stCondLst>
                                  <p:childTnLst>
                                    <p:set>
                                      <p:cBhvr>
                                        <p:cTn id="154" dur="1" fill="hold">
                                          <p:stCondLst>
                                            <p:cond delay="0"/>
                                          </p:stCondLst>
                                        </p:cTn>
                                        <p:tgtEl>
                                          <p:spTgt spid="41"/>
                                        </p:tgtEl>
                                        <p:attrNameLst>
                                          <p:attrName>style.visibility</p:attrName>
                                        </p:attrNameLst>
                                      </p:cBhvr>
                                      <p:to>
                                        <p:strVal val="visible"/>
                                      </p:to>
                                    </p:set>
                                    <p:animEffect transition="in" filter="fade">
                                      <p:cBhvr>
                                        <p:cTn id="155" dur="500"/>
                                        <p:tgtEl>
                                          <p:spTgt spid="41"/>
                                        </p:tgtEl>
                                      </p:cBhvr>
                                    </p:animEffect>
                                    <p:anim calcmode="lin" valueType="num">
                                      <p:cBhvr additive="base">
                                        <p:cTn id="156" dur="500" fill="hold"/>
                                        <p:tgtEl>
                                          <p:spTgt spid="41"/>
                                        </p:tgtEl>
                                        <p:attrNameLst>
                                          <p:attrName>ppt_y</p:attrName>
                                        </p:attrNameLst>
                                      </p:cBhvr>
                                      <p:tavLst>
                                        <p:tav tm="0">
                                          <p:val>
                                            <p:strVal val="#ppt_y+.025"/>
                                          </p:val>
                                        </p:tav>
                                        <p:tav tm="100000">
                                          <p:val>
                                            <p:strVal val="#ppt_y"/>
                                          </p:val>
                                        </p:tav>
                                      </p:tavLst>
                                    </p:anim>
                                  </p:childTnLst>
                                </p:cTn>
                              </p:par>
                              <p:par>
                                <p:cTn id="157" presetID="10" presetClass="entr" presetSubtype="0" fill="hold" grpId="0" nodeType="withEffect">
                                  <p:stCondLst>
                                    <p:cond delay="3250"/>
                                  </p:stCondLst>
                                  <p:childTnLst>
                                    <p:set>
                                      <p:cBhvr>
                                        <p:cTn id="158" dur="1" fill="hold">
                                          <p:stCondLst>
                                            <p:cond delay="0"/>
                                          </p:stCondLst>
                                        </p:cTn>
                                        <p:tgtEl>
                                          <p:spTgt spid="36"/>
                                        </p:tgtEl>
                                        <p:attrNameLst>
                                          <p:attrName>style.visibility</p:attrName>
                                        </p:attrNameLst>
                                      </p:cBhvr>
                                      <p:to>
                                        <p:strVal val="visible"/>
                                      </p:to>
                                    </p:set>
                                    <p:animEffect transition="in" filter="fade">
                                      <p:cBhvr>
                                        <p:cTn id="159" dur="500"/>
                                        <p:tgtEl>
                                          <p:spTgt spid="36"/>
                                        </p:tgtEl>
                                      </p:cBhvr>
                                    </p:animEffect>
                                    <p:anim calcmode="lin" valueType="num">
                                      <p:cBhvr additive="base">
                                        <p:cTn id="160" dur="500" fill="hold"/>
                                        <p:tgtEl>
                                          <p:spTgt spid="36"/>
                                        </p:tgtEl>
                                        <p:attrNameLst>
                                          <p:attrName>ppt_y</p:attrName>
                                        </p:attrNameLst>
                                      </p:cBhvr>
                                      <p:tavLst>
                                        <p:tav tm="0">
                                          <p:val>
                                            <p:strVal val="#ppt_y+.025"/>
                                          </p:val>
                                        </p:tav>
                                        <p:tav tm="100000">
                                          <p:val>
                                            <p:strVal val="#ppt_y"/>
                                          </p:val>
                                        </p:tav>
                                      </p:tavLst>
                                    </p:anim>
                                  </p:childTnLst>
                                </p:cTn>
                              </p:par>
                              <p:par>
                                <p:cTn id="161" presetID="10" presetClass="entr" presetSubtype="0" fill="hold" grpId="0" nodeType="withEffect">
                                  <p:stCondLst>
                                    <p:cond delay="3250"/>
                                  </p:stCondLst>
                                  <p:childTnLst>
                                    <p:set>
                                      <p:cBhvr>
                                        <p:cTn id="162" dur="1" fill="hold">
                                          <p:stCondLst>
                                            <p:cond delay="0"/>
                                          </p:stCondLst>
                                        </p:cTn>
                                        <p:tgtEl>
                                          <p:spTgt spid="39"/>
                                        </p:tgtEl>
                                        <p:attrNameLst>
                                          <p:attrName>style.visibility</p:attrName>
                                        </p:attrNameLst>
                                      </p:cBhvr>
                                      <p:to>
                                        <p:strVal val="visible"/>
                                      </p:to>
                                    </p:set>
                                    <p:animEffect transition="in" filter="fade">
                                      <p:cBhvr>
                                        <p:cTn id="163" dur="500"/>
                                        <p:tgtEl>
                                          <p:spTgt spid="39"/>
                                        </p:tgtEl>
                                      </p:cBhvr>
                                    </p:animEffect>
                                    <p:anim calcmode="lin" valueType="num">
                                      <p:cBhvr additive="base">
                                        <p:cTn id="164" dur="500" fill="hold"/>
                                        <p:tgtEl>
                                          <p:spTgt spid="39"/>
                                        </p:tgtEl>
                                        <p:attrNameLst>
                                          <p:attrName>ppt_y</p:attrName>
                                        </p:attrNameLst>
                                      </p:cBhvr>
                                      <p:tavLst>
                                        <p:tav tm="0">
                                          <p:val>
                                            <p:strVal val="#ppt_y+.025"/>
                                          </p:val>
                                        </p:tav>
                                        <p:tav tm="100000">
                                          <p:val>
                                            <p:strVal val="#ppt_y"/>
                                          </p:val>
                                        </p:tav>
                                      </p:tavLst>
                                    </p:anim>
                                  </p:childTnLst>
                                </p:cTn>
                              </p:par>
                              <p:par>
                                <p:cTn id="165" presetID="10" presetClass="entr" presetSubtype="0" fill="hold" grpId="0" nodeType="withEffect">
                                  <p:stCondLst>
                                    <p:cond delay="3250"/>
                                  </p:stCondLst>
                                  <p:childTnLst>
                                    <p:set>
                                      <p:cBhvr>
                                        <p:cTn id="166" dur="1" fill="hold">
                                          <p:stCondLst>
                                            <p:cond delay="0"/>
                                          </p:stCondLst>
                                        </p:cTn>
                                        <p:tgtEl>
                                          <p:spTgt spid="42"/>
                                        </p:tgtEl>
                                        <p:attrNameLst>
                                          <p:attrName>style.visibility</p:attrName>
                                        </p:attrNameLst>
                                      </p:cBhvr>
                                      <p:to>
                                        <p:strVal val="visible"/>
                                      </p:to>
                                    </p:set>
                                    <p:animEffect transition="in" filter="fade">
                                      <p:cBhvr>
                                        <p:cTn id="167" dur="500"/>
                                        <p:tgtEl>
                                          <p:spTgt spid="42"/>
                                        </p:tgtEl>
                                      </p:cBhvr>
                                    </p:animEffect>
                                    <p:anim calcmode="lin" valueType="num">
                                      <p:cBhvr additive="base">
                                        <p:cTn id="168" dur="500" fill="hold"/>
                                        <p:tgtEl>
                                          <p:spTgt spid="42"/>
                                        </p:tgtEl>
                                        <p:attrNameLst>
                                          <p:attrName>ppt_y</p:attrName>
                                        </p:attrNameLst>
                                      </p:cBhvr>
                                      <p:tavLst>
                                        <p:tav tm="0">
                                          <p:val>
                                            <p:strVal val="#ppt_y+.025"/>
                                          </p:val>
                                        </p:tav>
                                        <p:tav tm="100000">
                                          <p:val>
                                            <p:strVal val="#ppt_y"/>
                                          </p:val>
                                        </p:tav>
                                      </p:tavLst>
                                    </p:anim>
                                  </p:childTnLst>
                                </p:cTn>
                              </p:par>
                              <p:par>
                                <p:cTn id="169" presetID="10" presetClass="entr" presetSubtype="0" fill="hold" grpId="0" nodeType="withEffect">
                                  <p:stCondLst>
                                    <p:cond delay="3900"/>
                                  </p:stCondLst>
                                  <p:childTnLst>
                                    <p:set>
                                      <p:cBhvr>
                                        <p:cTn id="170" dur="1" fill="hold">
                                          <p:stCondLst>
                                            <p:cond delay="0"/>
                                          </p:stCondLst>
                                        </p:cTn>
                                        <p:tgtEl>
                                          <p:spTgt spid="43"/>
                                        </p:tgtEl>
                                        <p:attrNameLst>
                                          <p:attrName>style.visibility</p:attrName>
                                        </p:attrNameLst>
                                      </p:cBhvr>
                                      <p:to>
                                        <p:strVal val="visible"/>
                                      </p:to>
                                    </p:set>
                                    <p:animEffect transition="in" filter="fade">
                                      <p:cBhvr>
                                        <p:cTn id="171" dur="500"/>
                                        <p:tgtEl>
                                          <p:spTgt spid="43"/>
                                        </p:tgtEl>
                                      </p:cBhvr>
                                    </p:animEffect>
                                    <p:anim calcmode="lin" valueType="num">
                                      <p:cBhvr additive="base">
                                        <p:cTn id="172" dur="500" fill="hold"/>
                                        <p:tgtEl>
                                          <p:spTgt spid="43"/>
                                        </p:tgtEl>
                                        <p:attrNameLst>
                                          <p:attrName>ppt_y</p:attrName>
                                        </p:attrNameLst>
                                      </p:cBhvr>
                                      <p:tavLst>
                                        <p:tav tm="0">
                                          <p:val>
                                            <p:strVal val="#ppt_y+.025"/>
                                          </p:val>
                                        </p:tav>
                                        <p:tav tm="100000">
                                          <p:val>
                                            <p:strVal val="#ppt_y"/>
                                          </p:val>
                                        </p:tav>
                                      </p:tavLst>
                                    </p:anim>
                                  </p:childTnLst>
                                </p:cTn>
                              </p:par>
                              <p:par>
                                <p:cTn id="173" presetID="10" presetClass="entr" presetSubtype="0" fill="hold" grpId="0" nodeType="withEffect">
                                  <p:stCondLst>
                                    <p:cond delay="3900"/>
                                  </p:stCondLst>
                                  <p:childTnLst>
                                    <p:set>
                                      <p:cBhvr>
                                        <p:cTn id="174" dur="1" fill="hold">
                                          <p:stCondLst>
                                            <p:cond delay="0"/>
                                          </p:stCondLst>
                                        </p:cTn>
                                        <p:tgtEl>
                                          <p:spTgt spid="44"/>
                                        </p:tgtEl>
                                        <p:attrNameLst>
                                          <p:attrName>style.visibility</p:attrName>
                                        </p:attrNameLst>
                                      </p:cBhvr>
                                      <p:to>
                                        <p:strVal val="visible"/>
                                      </p:to>
                                    </p:set>
                                    <p:animEffect transition="in" filter="fade">
                                      <p:cBhvr>
                                        <p:cTn id="175" dur="500"/>
                                        <p:tgtEl>
                                          <p:spTgt spid="44"/>
                                        </p:tgtEl>
                                      </p:cBhvr>
                                    </p:animEffect>
                                    <p:anim calcmode="lin" valueType="num">
                                      <p:cBhvr additive="base">
                                        <p:cTn id="176" dur="500" fill="hold"/>
                                        <p:tgtEl>
                                          <p:spTgt spid="44"/>
                                        </p:tgtEl>
                                        <p:attrNameLst>
                                          <p:attrName>ppt_y</p:attrName>
                                        </p:attrNameLst>
                                      </p:cBhvr>
                                      <p:tavLst>
                                        <p:tav tm="0">
                                          <p:val>
                                            <p:strVal val="#ppt_y+.025"/>
                                          </p:val>
                                        </p:tav>
                                        <p:tav tm="100000">
                                          <p:val>
                                            <p:strVal val="#ppt_y"/>
                                          </p:val>
                                        </p:tav>
                                      </p:tavLst>
                                    </p:anim>
                                  </p:childTnLst>
                                </p:cTn>
                              </p:par>
                              <p:par>
                                <p:cTn id="177" presetID="10" presetClass="entr" presetSubtype="0" fill="hold" grpId="0" nodeType="withEffect">
                                  <p:stCondLst>
                                    <p:cond delay="3900"/>
                                  </p:stCondLst>
                                  <p:childTnLst>
                                    <p:set>
                                      <p:cBhvr>
                                        <p:cTn id="178" dur="1" fill="hold">
                                          <p:stCondLst>
                                            <p:cond delay="0"/>
                                          </p:stCondLst>
                                        </p:cTn>
                                        <p:tgtEl>
                                          <p:spTgt spid="45"/>
                                        </p:tgtEl>
                                        <p:attrNameLst>
                                          <p:attrName>style.visibility</p:attrName>
                                        </p:attrNameLst>
                                      </p:cBhvr>
                                      <p:to>
                                        <p:strVal val="visible"/>
                                      </p:to>
                                    </p:set>
                                    <p:animEffect transition="in" filter="fade">
                                      <p:cBhvr>
                                        <p:cTn id="179" dur="500"/>
                                        <p:tgtEl>
                                          <p:spTgt spid="45"/>
                                        </p:tgtEl>
                                      </p:cBhvr>
                                    </p:animEffect>
                                    <p:anim calcmode="lin" valueType="num">
                                      <p:cBhvr additive="base">
                                        <p:cTn id="180" dur="500" fill="hold"/>
                                        <p:tgtEl>
                                          <p:spTgt spid="45"/>
                                        </p:tgtEl>
                                        <p:attrNameLst>
                                          <p:attrName>ppt_y</p:attrName>
                                        </p:attrNameLst>
                                      </p:cBhvr>
                                      <p:tavLst>
                                        <p:tav tm="0">
                                          <p:val>
                                            <p:strVal val="#ppt_y+.025"/>
                                          </p:val>
                                        </p:tav>
                                        <p:tav tm="100000">
                                          <p:val>
                                            <p:strVal val="#ppt_y"/>
                                          </p:val>
                                        </p:tav>
                                      </p:tavLst>
                                    </p:anim>
                                  </p:childTnLst>
                                </p:cTn>
                              </p:par>
                              <p:par>
                                <p:cTn id="181" presetID="10" presetClass="entr" presetSubtype="0" fill="hold" grpId="0" nodeType="withEffect">
                                  <p:stCondLst>
                                    <p:cond delay="3900"/>
                                  </p:stCondLst>
                                  <p:childTnLst>
                                    <p:set>
                                      <p:cBhvr>
                                        <p:cTn id="182" dur="1" fill="hold">
                                          <p:stCondLst>
                                            <p:cond delay="0"/>
                                          </p:stCondLst>
                                        </p:cTn>
                                        <p:tgtEl>
                                          <p:spTgt spid="48"/>
                                        </p:tgtEl>
                                        <p:attrNameLst>
                                          <p:attrName>style.visibility</p:attrName>
                                        </p:attrNameLst>
                                      </p:cBhvr>
                                      <p:to>
                                        <p:strVal val="visible"/>
                                      </p:to>
                                    </p:set>
                                    <p:animEffect transition="in" filter="fade">
                                      <p:cBhvr>
                                        <p:cTn id="183" dur="500"/>
                                        <p:tgtEl>
                                          <p:spTgt spid="48"/>
                                        </p:tgtEl>
                                      </p:cBhvr>
                                    </p:animEffect>
                                    <p:anim calcmode="lin" valueType="num">
                                      <p:cBhvr additive="base">
                                        <p:cTn id="184" dur="500" fill="hold"/>
                                        <p:tgtEl>
                                          <p:spTgt spid="48"/>
                                        </p:tgtEl>
                                        <p:attrNameLst>
                                          <p:attrName>ppt_y</p:attrName>
                                        </p:attrNameLst>
                                      </p:cBhvr>
                                      <p:tavLst>
                                        <p:tav tm="0">
                                          <p:val>
                                            <p:strVal val="#ppt_y+.025"/>
                                          </p:val>
                                        </p:tav>
                                        <p:tav tm="100000">
                                          <p:val>
                                            <p:strVal val="#ppt_y"/>
                                          </p:val>
                                        </p:tav>
                                      </p:tavLst>
                                    </p:anim>
                                  </p:childTnLst>
                                </p:cTn>
                              </p:par>
                              <p:par>
                                <p:cTn id="185" presetID="10" presetClass="entr" presetSubtype="0" fill="hold" grpId="0" nodeType="withEffect">
                                  <p:stCondLst>
                                    <p:cond delay="3900"/>
                                  </p:stCondLst>
                                  <p:childTnLst>
                                    <p:set>
                                      <p:cBhvr>
                                        <p:cTn id="186" dur="1" fill="hold">
                                          <p:stCondLst>
                                            <p:cond delay="0"/>
                                          </p:stCondLst>
                                        </p:cTn>
                                        <p:tgtEl>
                                          <p:spTgt spid="46"/>
                                        </p:tgtEl>
                                        <p:attrNameLst>
                                          <p:attrName>style.visibility</p:attrName>
                                        </p:attrNameLst>
                                      </p:cBhvr>
                                      <p:to>
                                        <p:strVal val="visible"/>
                                      </p:to>
                                    </p:set>
                                    <p:animEffect transition="in" filter="fade">
                                      <p:cBhvr>
                                        <p:cTn id="187" dur="500"/>
                                        <p:tgtEl>
                                          <p:spTgt spid="46"/>
                                        </p:tgtEl>
                                      </p:cBhvr>
                                    </p:animEffect>
                                    <p:anim calcmode="lin" valueType="num">
                                      <p:cBhvr additive="base">
                                        <p:cTn id="188" dur="500" fill="hold"/>
                                        <p:tgtEl>
                                          <p:spTgt spid="46"/>
                                        </p:tgtEl>
                                        <p:attrNameLst>
                                          <p:attrName>ppt_y</p:attrName>
                                        </p:attrNameLst>
                                      </p:cBhvr>
                                      <p:tavLst>
                                        <p:tav tm="0">
                                          <p:val>
                                            <p:strVal val="#ppt_y+.025"/>
                                          </p:val>
                                        </p:tav>
                                        <p:tav tm="100000">
                                          <p:val>
                                            <p:strVal val="#ppt_y"/>
                                          </p:val>
                                        </p:tav>
                                      </p:tavLst>
                                    </p:anim>
                                  </p:childTnLst>
                                </p:cTn>
                              </p:par>
                              <p:par>
                                <p:cTn id="189" presetID="10" presetClass="entr" presetSubtype="0" fill="hold" grpId="0" nodeType="withEffect">
                                  <p:stCondLst>
                                    <p:cond delay="3900"/>
                                  </p:stCondLst>
                                  <p:childTnLst>
                                    <p:set>
                                      <p:cBhvr>
                                        <p:cTn id="190" dur="1" fill="hold">
                                          <p:stCondLst>
                                            <p:cond delay="0"/>
                                          </p:stCondLst>
                                        </p:cTn>
                                        <p:tgtEl>
                                          <p:spTgt spid="49"/>
                                        </p:tgtEl>
                                        <p:attrNameLst>
                                          <p:attrName>style.visibility</p:attrName>
                                        </p:attrNameLst>
                                      </p:cBhvr>
                                      <p:to>
                                        <p:strVal val="visible"/>
                                      </p:to>
                                    </p:set>
                                    <p:animEffect transition="in" filter="fade">
                                      <p:cBhvr>
                                        <p:cTn id="191" dur="500"/>
                                        <p:tgtEl>
                                          <p:spTgt spid="49"/>
                                        </p:tgtEl>
                                      </p:cBhvr>
                                    </p:animEffect>
                                    <p:anim calcmode="lin" valueType="num">
                                      <p:cBhvr additive="base">
                                        <p:cTn id="192" dur="500" fill="hold"/>
                                        <p:tgtEl>
                                          <p:spTgt spid="49"/>
                                        </p:tgtEl>
                                        <p:attrNameLst>
                                          <p:attrName>ppt_y</p:attrName>
                                        </p:attrNameLst>
                                      </p:cBhvr>
                                      <p:tavLst>
                                        <p:tav tm="0">
                                          <p:val>
                                            <p:strVal val="#ppt_y+.025"/>
                                          </p:val>
                                        </p:tav>
                                        <p:tav tm="100000">
                                          <p:val>
                                            <p:strVal val="#ppt_y"/>
                                          </p:val>
                                        </p:tav>
                                      </p:tavLst>
                                    </p:anim>
                                  </p:childTnLst>
                                </p:cTn>
                              </p:par>
                              <p:par>
                                <p:cTn id="193" presetID="10" presetClass="entr" presetSubtype="0" fill="hold" grpId="0" nodeType="withEffect">
                                  <p:stCondLst>
                                    <p:cond delay="3900"/>
                                  </p:stCondLst>
                                  <p:childTnLst>
                                    <p:set>
                                      <p:cBhvr>
                                        <p:cTn id="194" dur="1" fill="hold">
                                          <p:stCondLst>
                                            <p:cond delay="0"/>
                                          </p:stCondLst>
                                        </p:cTn>
                                        <p:tgtEl>
                                          <p:spTgt spid="47"/>
                                        </p:tgtEl>
                                        <p:attrNameLst>
                                          <p:attrName>style.visibility</p:attrName>
                                        </p:attrNameLst>
                                      </p:cBhvr>
                                      <p:to>
                                        <p:strVal val="visible"/>
                                      </p:to>
                                    </p:set>
                                    <p:animEffect transition="in" filter="fade">
                                      <p:cBhvr>
                                        <p:cTn id="195" dur="500"/>
                                        <p:tgtEl>
                                          <p:spTgt spid="47"/>
                                        </p:tgtEl>
                                      </p:cBhvr>
                                    </p:animEffect>
                                    <p:anim calcmode="lin" valueType="num">
                                      <p:cBhvr additive="base">
                                        <p:cTn id="196" dur="500" fill="hold"/>
                                        <p:tgtEl>
                                          <p:spTgt spid="47"/>
                                        </p:tgtEl>
                                        <p:attrNameLst>
                                          <p:attrName>ppt_y</p:attrName>
                                        </p:attrNameLst>
                                      </p:cBhvr>
                                      <p:tavLst>
                                        <p:tav tm="0">
                                          <p:val>
                                            <p:strVal val="#ppt_y+.025"/>
                                          </p:val>
                                        </p:tav>
                                        <p:tav tm="100000">
                                          <p:val>
                                            <p:strVal val="#ppt_y"/>
                                          </p:val>
                                        </p:tav>
                                      </p:tavLst>
                                    </p:anim>
                                  </p:childTnLst>
                                </p:cTn>
                              </p:par>
                              <p:par>
                                <p:cTn id="197" presetID="10" presetClass="entr" presetSubtype="0" fill="hold" grpId="0" nodeType="withEffect">
                                  <p:stCondLst>
                                    <p:cond delay="3900"/>
                                  </p:stCondLst>
                                  <p:childTnLst>
                                    <p:set>
                                      <p:cBhvr>
                                        <p:cTn id="198" dur="1" fill="hold">
                                          <p:stCondLst>
                                            <p:cond delay="0"/>
                                          </p:stCondLst>
                                        </p:cTn>
                                        <p:tgtEl>
                                          <p:spTgt spid="50"/>
                                        </p:tgtEl>
                                        <p:attrNameLst>
                                          <p:attrName>style.visibility</p:attrName>
                                        </p:attrNameLst>
                                      </p:cBhvr>
                                      <p:to>
                                        <p:strVal val="visible"/>
                                      </p:to>
                                    </p:set>
                                    <p:animEffect transition="in" filter="fade">
                                      <p:cBhvr>
                                        <p:cTn id="199" dur="500"/>
                                        <p:tgtEl>
                                          <p:spTgt spid="50"/>
                                        </p:tgtEl>
                                      </p:cBhvr>
                                    </p:animEffect>
                                    <p:anim calcmode="lin" valueType="num">
                                      <p:cBhvr additive="base">
                                        <p:cTn id="200" dur="500" fill="hold"/>
                                        <p:tgtEl>
                                          <p:spTgt spid="50"/>
                                        </p:tgtEl>
                                        <p:attrNameLst>
                                          <p:attrName>ppt_y</p:attrName>
                                        </p:attrNameLst>
                                      </p:cBhvr>
                                      <p:tavLst>
                                        <p:tav tm="0">
                                          <p:val>
                                            <p:strVal val="#ppt_y+.025"/>
                                          </p:val>
                                        </p:tav>
                                        <p:tav tm="100000">
                                          <p:val>
                                            <p:strVal val="#ppt_y"/>
                                          </p:val>
                                        </p:tav>
                                      </p:tavLst>
                                    </p:anim>
                                  </p:childTnLst>
                                </p:cTn>
                              </p:par>
                              <p:par>
                                <p:cTn id="201" presetID="10" presetClass="entr" presetSubtype="0" fill="hold" grpId="0" nodeType="withEffect">
                                  <p:stCondLst>
                                    <p:cond delay="4550"/>
                                  </p:stCondLst>
                                  <p:childTnLst>
                                    <p:set>
                                      <p:cBhvr>
                                        <p:cTn id="202" dur="1" fill="hold">
                                          <p:stCondLst>
                                            <p:cond delay="0"/>
                                          </p:stCondLst>
                                        </p:cTn>
                                        <p:tgtEl>
                                          <p:spTgt spid="51"/>
                                        </p:tgtEl>
                                        <p:attrNameLst>
                                          <p:attrName>style.visibility</p:attrName>
                                        </p:attrNameLst>
                                      </p:cBhvr>
                                      <p:to>
                                        <p:strVal val="visible"/>
                                      </p:to>
                                    </p:set>
                                    <p:animEffect transition="in" filter="fade">
                                      <p:cBhvr>
                                        <p:cTn id="203" dur="500"/>
                                        <p:tgtEl>
                                          <p:spTgt spid="51"/>
                                        </p:tgtEl>
                                      </p:cBhvr>
                                    </p:animEffect>
                                    <p:anim calcmode="lin" valueType="num">
                                      <p:cBhvr additive="base">
                                        <p:cTn id="204" dur="500" fill="hold"/>
                                        <p:tgtEl>
                                          <p:spTgt spid="51"/>
                                        </p:tgtEl>
                                        <p:attrNameLst>
                                          <p:attrName>ppt_y</p:attrName>
                                        </p:attrNameLst>
                                      </p:cBhvr>
                                      <p:tavLst>
                                        <p:tav tm="0">
                                          <p:val>
                                            <p:strVal val="#ppt_y+.025"/>
                                          </p:val>
                                        </p:tav>
                                        <p:tav tm="100000">
                                          <p:val>
                                            <p:strVal val="#ppt_y"/>
                                          </p:val>
                                        </p:tav>
                                      </p:tavLst>
                                    </p:anim>
                                  </p:childTnLst>
                                </p:cTn>
                              </p:par>
                              <p:par>
                                <p:cTn id="205" presetID="10" presetClass="entr" presetSubtype="0" fill="hold" grpId="0" nodeType="withEffect">
                                  <p:stCondLst>
                                    <p:cond delay="4550"/>
                                  </p:stCondLst>
                                  <p:childTnLst>
                                    <p:set>
                                      <p:cBhvr>
                                        <p:cTn id="206" dur="1" fill="hold">
                                          <p:stCondLst>
                                            <p:cond delay="0"/>
                                          </p:stCondLst>
                                        </p:cTn>
                                        <p:tgtEl>
                                          <p:spTgt spid="52"/>
                                        </p:tgtEl>
                                        <p:attrNameLst>
                                          <p:attrName>style.visibility</p:attrName>
                                        </p:attrNameLst>
                                      </p:cBhvr>
                                      <p:to>
                                        <p:strVal val="visible"/>
                                      </p:to>
                                    </p:set>
                                    <p:animEffect transition="in" filter="fade">
                                      <p:cBhvr>
                                        <p:cTn id="207" dur="500"/>
                                        <p:tgtEl>
                                          <p:spTgt spid="52"/>
                                        </p:tgtEl>
                                      </p:cBhvr>
                                    </p:animEffect>
                                    <p:anim calcmode="lin" valueType="num">
                                      <p:cBhvr additive="base">
                                        <p:cTn id="208" dur="500" fill="hold"/>
                                        <p:tgtEl>
                                          <p:spTgt spid="52"/>
                                        </p:tgtEl>
                                        <p:attrNameLst>
                                          <p:attrName>ppt_y</p:attrName>
                                        </p:attrNameLst>
                                      </p:cBhvr>
                                      <p:tavLst>
                                        <p:tav tm="0">
                                          <p:val>
                                            <p:strVal val="#ppt_y+.025"/>
                                          </p:val>
                                        </p:tav>
                                        <p:tav tm="100000">
                                          <p:val>
                                            <p:strVal val="#ppt_y"/>
                                          </p:val>
                                        </p:tav>
                                      </p:tavLst>
                                    </p:anim>
                                  </p:childTnLst>
                                </p:cTn>
                              </p:par>
                              <p:par>
                                <p:cTn id="209" presetID="10" presetClass="entr" presetSubtype="0" fill="hold" grpId="0" nodeType="withEffect">
                                  <p:stCondLst>
                                    <p:cond delay="4550"/>
                                  </p:stCondLst>
                                  <p:childTnLst>
                                    <p:set>
                                      <p:cBhvr>
                                        <p:cTn id="210" dur="1" fill="hold">
                                          <p:stCondLst>
                                            <p:cond delay="0"/>
                                          </p:stCondLst>
                                        </p:cTn>
                                        <p:tgtEl>
                                          <p:spTgt spid="53"/>
                                        </p:tgtEl>
                                        <p:attrNameLst>
                                          <p:attrName>style.visibility</p:attrName>
                                        </p:attrNameLst>
                                      </p:cBhvr>
                                      <p:to>
                                        <p:strVal val="visible"/>
                                      </p:to>
                                    </p:set>
                                    <p:animEffect transition="in" filter="fade">
                                      <p:cBhvr>
                                        <p:cTn id="211" dur="500"/>
                                        <p:tgtEl>
                                          <p:spTgt spid="53"/>
                                        </p:tgtEl>
                                      </p:cBhvr>
                                    </p:animEffect>
                                    <p:anim calcmode="lin" valueType="num">
                                      <p:cBhvr additive="base">
                                        <p:cTn id="212" dur="500" fill="hold"/>
                                        <p:tgtEl>
                                          <p:spTgt spid="53"/>
                                        </p:tgtEl>
                                        <p:attrNameLst>
                                          <p:attrName>ppt_y</p:attrName>
                                        </p:attrNameLst>
                                      </p:cBhvr>
                                      <p:tavLst>
                                        <p:tav tm="0">
                                          <p:val>
                                            <p:strVal val="#ppt_y+.025"/>
                                          </p:val>
                                        </p:tav>
                                        <p:tav tm="100000">
                                          <p:val>
                                            <p:strVal val="#ppt_y"/>
                                          </p:val>
                                        </p:tav>
                                      </p:tavLst>
                                    </p:anim>
                                  </p:childTnLst>
                                </p:cTn>
                              </p:par>
                              <p:par>
                                <p:cTn id="213" presetID="10" presetClass="entr" presetSubtype="0" fill="hold" grpId="0" nodeType="withEffect">
                                  <p:stCondLst>
                                    <p:cond delay="4550"/>
                                  </p:stCondLst>
                                  <p:childTnLst>
                                    <p:set>
                                      <p:cBhvr>
                                        <p:cTn id="214" dur="1" fill="hold">
                                          <p:stCondLst>
                                            <p:cond delay="0"/>
                                          </p:stCondLst>
                                        </p:cTn>
                                        <p:tgtEl>
                                          <p:spTgt spid="56"/>
                                        </p:tgtEl>
                                        <p:attrNameLst>
                                          <p:attrName>style.visibility</p:attrName>
                                        </p:attrNameLst>
                                      </p:cBhvr>
                                      <p:to>
                                        <p:strVal val="visible"/>
                                      </p:to>
                                    </p:set>
                                    <p:animEffect transition="in" filter="fade">
                                      <p:cBhvr>
                                        <p:cTn id="215" dur="500"/>
                                        <p:tgtEl>
                                          <p:spTgt spid="56"/>
                                        </p:tgtEl>
                                      </p:cBhvr>
                                    </p:animEffect>
                                    <p:anim calcmode="lin" valueType="num">
                                      <p:cBhvr additive="base">
                                        <p:cTn id="216" dur="500" fill="hold"/>
                                        <p:tgtEl>
                                          <p:spTgt spid="56"/>
                                        </p:tgtEl>
                                        <p:attrNameLst>
                                          <p:attrName>ppt_y</p:attrName>
                                        </p:attrNameLst>
                                      </p:cBhvr>
                                      <p:tavLst>
                                        <p:tav tm="0">
                                          <p:val>
                                            <p:strVal val="#ppt_y+.025"/>
                                          </p:val>
                                        </p:tav>
                                        <p:tav tm="100000">
                                          <p:val>
                                            <p:strVal val="#ppt_y"/>
                                          </p:val>
                                        </p:tav>
                                      </p:tavLst>
                                    </p:anim>
                                  </p:childTnLst>
                                </p:cTn>
                              </p:par>
                              <p:par>
                                <p:cTn id="217" presetID="10" presetClass="entr" presetSubtype="0" fill="hold" grpId="0" nodeType="withEffect">
                                  <p:stCondLst>
                                    <p:cond delay="4550"/>
                                  </p:stCondLst>
                                  <p:childTnLst>
                                    <p:set>
                                      <p:cBhvr>
                                        <p:cTn id="218" dur="1" fill="hold">
                                          <p:stCondLst>
                                            <p:cond delay="0"/>
                                          </p:stCondLst>
                                        </p:cTn>
                                        <p:tgtEl>
                                          <p:spTgt spid="54"/>
                                        </p:tgtEl>
                                        <p:attrNameLst>
                                          <p:attrName>style.visibility</p:attrName>
                                        </p:attrNameLst>
                                      </p:cBhvr>
                                      <p:to>
                                        <p:strVal val="visible"/>
                                      </p:to>
                                    </p:set>
                                    <p:animEffect transition="in" filter="fade">
                                      <p:cBhvr>
                                        <p:cTn id="219" dur="500"/>
                                        <p:tgtEl>
                                          <p:spTgt spid="54"/>
                                        </p:tgtEl>
                                      </p:cBhvr>
                                    </p:animEffect>
                                    <p:anim calcmode="lin" valueType="num">
                                      <p:cBhvr additive="base">
                                        <p:cTn id="220" dur="500" fill="hold"/>
                                        <p:tgtEl>
                                          <p:spTgt spid="54"/>
                                        </p:tgtEl>
                                        <p:attrNameLst>
                                          <p:attrName>ppt_y</p:attrName>
                                        </p:attrNameLst>
                                      </p:cBhvr>
                                      <p:tavLst>
                                        <p:tav tm="0">
                                          <p:val>
                                            <p:strVal val="#ppt_y+.025"/>
                                          </p:val>
                                        </p:tav>
                                        <p:tav tm="100000">
                                          <p:val>
                                            <p:strVal val="#ppt_y"/>
                                          </p:val>
                                        </p:tav>
                                      </p:tavLst>
                                    </p:anim>
                                  </p:childTnLst>
                                </p:cTn>
                              </p:par>
                              <p:par>
                                <p:cTn id="221" presetID="10" presetClass="entr" presetSubtype="0" fill="hold" grpId="0" nodeType="withEffect">
                                  <p:stCondLst>
                                    <p:cond delay="4550"/>
                                  </p:stCondLst>
                                  <p:childTnLst>
                                    <p:set>
                                      <p:cBhvr>
                                        <p:cTn id="222" dur="1" fill="hold">
                                          <p:stCondLst>
                                            <p:cond delay="0"/>
                                          </p:stCondLst>
                                        </p:cTn>
                                        <p:tgtEl>
                                          <p:spTgt spid="57"/>
                                        </p:tgtEl>
                                        <p:attrNameLst>
                                          <p:attrName>style.visibility</p:attrName>
                                        </p:attrNameLst>
                                      </p:cBhvr>
                                      <p:to>
                                        <p:strVal val="visible"/>
                                      </p:to>
                                    </p:set>
                                    <p:animEffect transition="in" filter="fade">
                                      <p:cBhvr>
                                        <p:cTn id="223" dur="500"/>
                                        <p:tgtEl>
                                          <p:spTgt spid="57"/>
                                        </p:tgtEl>
                                      </p:cBhvr>
                                    </p:animEffect>
                                    <p:anim calcmode="lin" valueType="num">
                                      <p:cBhvr additive="base">
                                        <p:cTn id="224" dur="500" fill="hold"/>
                                        <p:tgtEl>
                                          <p:spTgt spid="57"/>
                                        </p:tgtEl>
                                        <p:attrNameLst>
                                          <p:attrName>ppt_y</p:attrName>
                                        </p:attrNameLst>
                                      </p:cBhvr>
                                      <p:tavLst>
                                        <p:tav tm="0">
                                          <p:val>
                                            <p:strVal val="#ppt_y+.025"/>
                                          </p:val>
                                        </p:tav>
                                        <p:tav tm="100000">
                                          <p:val>
                                            <p:strVal val="#ppt_y"/>
                                          </p:val>
                                        </p:tav>
                                      </p:tavLst>
                                    </p:anim>
                                  </p:childTnLst>
                                </p:cTn>
                              </p:par>
                              <p:par>
                                <p:cTn id="225" presetID="10" presetClass="entr" presetSubtype="0" fill="hold" grpId="0" nodeType="withEffect">
                                  <p:stCondLst>
                                    <p:cond delay="4550"/>
                                  </p:stCondLst>
                                  <p:childTnLst>
                                    <p:set>
                                      <p:cBhvr>
                                        <p:cTn id="226" dur="1" fill="hold">
                                          <p:stCondLst>
                                            <p:cond delay="0"/>
                                          </p:stCondLst>
                                        </p:cTn>
                                        <p:tgtEl>
                                          <p:spTgt spid="55"/>
                                        </p:tgtEl>
                                        <p:attrNameLst>
                                          <p:attrName>style.visibility</p:attrName>
                                        </p:attrNameLst>
                                      </p:cBhvr>
                                      <p:to>
                                        <p:strVal val="visible"/>
                                      </p:to>
                                    </p:set>
                                    <p:animEffect transition="in" filter="fade">
                                      <p:cBhvr>
                                        <p:cTn id="227" dur="500"/>
                                        <p:tgtEl>
                                          <p:spTgt spid="55"/>
                                        </p:tgtEl>
                                      </p:cBhvr>
                                    </p:animEffect>
                                    <p:anim calcmode="lin" valueType="num">
                                      <p:cBhvr additive="base">
                                        <p:cTn id="228" dur="500" fill="hold"/>
                                        <p:tgtEl>
                                          <p:spTgt spid="55"/>
                                        </p:tgtEl>
                                        <p:attrNameLst>
                                          <p:attrName>ppt_y</p:attrName>
                                        </p:attrNameLst>
                                      </p:cBhvr>
                                      <p:tavLst>
                                        <p:tav tm="0">
                                          <p:val>
                                            <p:strVal val="#ppt_y+.025"/>
                                          </p:val>
                                        </p:tav>
                                        <p:tav tm="100000">
                                          <p:val>
                                            <p:strVal val="#ppt_y"/>
                                          </p:val>
                                        </p:tav>
                                      </p:tavLst>
                                    </p:anim>
                                  </p:childTnLst>
                                </p:cTn>
                              </p:par>
                              <p:par>
                                <p:cTn id="229" presetID="10" presetClass="entr" presetSubtype="0" fill="hold" grpId="0" nodeType="withEffect">
                                  <p:stCondLst>
                                    <p:cond delay="4550"/>
                                  </p:stCondLst>
                                  <p:childTnLst>
                                    <p:set>
                                      <p:cBhvr>
                                        <p:cTn id="230" dur="1" fill="hold">
                                          <p:stCondLst>
                                            <p:cond delay="0"/>
                                          </p:stCondLst>
                                        </p:cTn>
                                        <p:tgtEl>
                                          <p:spTgt spid="58"/>
                                        </p:tgtEl>
                                        <p:attrNameLst>
                                          <p:attrName>style.visibility</p:attrName>
                                        </p:attrNameLst>
                                      </p:cBhvr>
                                      <p:to>
                                        <p:strVal val="visible"/>
                                      </p:to>
                                    </p:set>
                                    <p:animEffect transition="in" filter="fade">
                                      <p:cBhvr>
                                        <p:cTn id="231" dur="500"/>
                                        <p:tgtEl>
                                          <p:spTgt spid="58"/>
                                        </p:tgtEl>
                                      </p:cBhvr>
                                    </p:animEffect>
                                    <p:anim calcmode="lin" valueType="num">
                                      <p:cBhvr additive="base">
                                        <p:cTn id="232" dur="500" fill="hold"/>
                                        <p:tgtEl>
                                          <p:spTgt spid="58"/>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9" grpId="0"/>
      <p:bldP spid="10" grpId="0"/>
      <p:bldP spid="13" grpId="0"/>
      <p:bldP spid="7" grpId="0"/>
      <p:bldP spid="11" grpId="0"/>
      <p:bldP spid="14" grpId="0"/>
      <p:bldP spid="8" grpId="0"/>
      <p:bldP spid="12" grpId="0"/>
      <p:bldP spid="15" grpId="0"/>
      <p:bldP spid="16" grpId="0"/>
      <p:bldP spid="17" grpId="0"/>
      <p:bldP spid="18" grpId="0"/>
      <p:bldP spid="21" grpId="0"/>
      <p:bldP spid="24" grpId="0"/>
      <p:bldP spid="19" grpId="0"/>
      <p:bldP spid="22" grpId="0"/>
      <p:bldP spid="25" grpId="0"/>
      <p:bldP spid="20" grpId="0"/>
      <p:bldP spid="23" grpId="0"/>
      <p:bldP spid="26" grpId="0"/>
      <p:bldP spid="27" grpId="0"/>
      <p:bldP spid="28" grpId="0"/>
      <p:bldP spid="29" grpId="0"/>
      <p:bldP spid="30" grpId="0"/>
      <p:bldP spid="31" grpId="0"/>
      <p:bldP spid="32" grpId="0"/>
      <p:bldP spid="33" grpId="0"/>
      <p:bldP spid="34" grpId="0"/>
      <p:bldP spid="37" grpId="0"/>
      <p:bldP spid="40" grpId="0"/>
      <p:bldP spid="35" grpId="0"/>
      <p:bldP spid="38" grpId="0"/>
      <p:bldP spid="41" grpId="0"/>
      <p:bldP spid="36" grpId="0"/>
      <p:bldP spid="39" grpId="0"/>
      <p:bldP spid="42" grpId="0"/>
      <p:bldP spid="43" grpId="0"/>
      <p:bldP spid="44" grpId="0"/>
      <p:bldP spid="45" grpId="0"/>
      <p:bldP spid="48" grpId="0"/>
      <p:bldP spid="46" grpId="0"/>
      <p:bldP spid="49" grpId="0"/>
      <p:bldP spid="47" grpId="0"/>
      <p:bldP spid="50" grpId="0"/>
      <p:bldP spid="51" grpId="0"/>
      <p:bldP spid="52" grpId="0"/>
      <p:bldP spid="53" grpId="0"/>
      <p:bldP spid="56" grpId="0"/>
      <p:bldP spid="54" grpId="0"/>
      <p:bldP spid="57" grpId="0"/>
      <p:bldP spid="55" grpId="0"/>
      <p:bldP spid="58" grpId="0"/>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pic>
        <p:nvPicPr>
          <p:cNvPr id="2" name="Picture 1" descr="ada-lovelace-portrait.jpg"/>
          <p:cNvPicPr>
            <a:picLocks noChangeAspect="1"/>
          </p:cNvPicPr>
          <p:nvPr/>
        </p:nvPicPr>
        <p:blipFill>
          <a:blip r:embed="rId2"/>
          <a:srcRect t="7250" b="7250"/>
          <a:stretch>
            <a:fillRect/>
          </a:stretch>
        </p:blipFill>
        <p:spPr>
          <a:xfrm>
            <a:off x="762000" y="1168400"/>
            <a:ext cx="3556000" cy="4864100"/>
          </a:xfrm>
          <a:prstGeom prst="rect">
            <a:avLst/>
          </a:prstGeom>
        </p:spPr>
      </p:pic>
      <p:sp>
        <p:nvSpPr>
          <p:cNvPr id="3" name="TextBox 2"/>
          <p:cNvSpPr txBox="1"/>
          <p:nvPr/>
        </p:nvSpPr>
        <p:spPr>
          <a:xfrm>
            <a:off x="4953000" y="1905000"/>
            <a:ext cx="6477000" cy="3175000"/>
          </a:xfrm>
          <a:prstGeom prst="rect">
            <a:avLst/>
          </a:prstGeom>
          <a:noFill/>
        </p:spPr>
        <p:txBody>
          <a:bodyPr wrap="square" lIns="0" rIns="0" tIns="0" bIns="0" anchor="ctr">
            <a:noAutofit/>
          </a:bodyPr>
          <a:lstStyle/>
          <a:p>
            <a:pPr algn="l">
              <a:lnSpc>
                <a:spcPct val="82100"/>
              </a:lnSpc>
            </a:pPr>
            <a:r>
              <a:rPr sz="4800" b="0" spc="-144">
                <a:solidFill>
                  <a:srgbClr val="000B1C"/>
                </a:solidFill>
                <a:latin typeface="Inter ExtraBold"/>
              </a:rPr>
              <a:t>"The Analytical Engine has no pretensions whatever to originate anything. It can do whatever we know how to order it to perform."</a:t>
            </a:r>
          </a:p>
        </p:txBody>
      </p:sp>
      <p:sp>
        <p:nvSpPr>
          <p:cNvPr id="4" name="TextBox 3"/>
          <p:cNvSpPr txBox="1"/>
          <p:nvPr/>
        </p:nvSpPr>
        <p:spPr>
          <a:xfrm>
            <a:off x="4953000" y="5334000"/>
            <a:ext cx="6477000" cy="508000"/>
          </a:xfrm>
          <a:prstGeom prst="rect">
            <a:avLst/>
          </a:prstGeom>
          <a:noFill/>
        </p:spPr>
        <p:txBody>
          <a:bodyPr wrap="square" lIns="0" rIns="0" tIns="0" bIns="0" anchor="t">
            <a:noAutofit/>
          </a:bodyPr>
          <a:lstStyle/>
          <a:p>
            <a:pPr algn="l">
              <a:lnSpc>
                <a:spcPct val="96600"/>
              </a:lnSpc>
            </a:pPr>
            <a:r>
              <a:rPr sz="1950" b="0">
                <a:solidFill>
                  <a:srgbClr val="5C6470"/>
                </a:solidFill>
                <a:latin typeface="JetBrains Mono"/>
              </a:rPr>
              <a:t>Ada Lovelace, Note G, 1843 — the first published program, for a machine that was never built</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03 · THE QUESTION</a:t>
            </a:r>
          </a:p>
        </p:txBody>
      </p:sp>
      <p:sp>
        <p:nvSpPr>
          <p:cNvPr id="3" name="TextBox 2"/>
          <p:cNvSpPr txBox="1"/>
          <p:nvPr/>
        </p:nvSpPr>
        <p:spPr>
          <a:xfrm>
            <a:off x="762000" y="1168400"/>
            <a:ext cx="10668000" cy="4826000"/>
          </a:xfrm>
          <a:prstGeom prst="rect">
            <a:avLst/>
          </a:prstGeom>
          <a:noFill/>
        </p:spPr>
        <p:txBody>
          <a:bodyPr wrap="square" lIns="0" rIns="0" tIns="0" bIns="0" anchor="ctr">
            <a:noAutofit/>
          </a:bodyPr>
          <a:lstStyle/>
          <a:p>
            <a:pPr algn="l">
              <a:lnSpc>
                <a:spcPct val="75300"/>
              </a:lnSpc>
            </a:pPr>
            <a:r>
              <a:rPr sz="7800" b="0" spc="-312">
                <a:solidFill>
                  <a:srgbClr val="FFFFFF"/>
                </a:solidFill>
                <a:latin typeface="Inter Black"/>
              </a:rPr>
              <a:t>Can a machine originate a design? By week 13 you will have an answer you can defend.</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04</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What is AI?</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A DEFINITION · TWO MACHINES · ONE CHAIR</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QUESTION · SHORT ANSWER</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4900"/>
              </a:lnSpc>
            </a:pPr>
            <a:r>
              <a:rPr sz="6900" b="0" spc="-276">
                <a:solidFill>
                  <a:srgbClr val="000B1C"/>
                </a:solidFill>
                <a:latin typeface="Inter Black"/>
              </a:rPr>
              <a:t>What is AI? One sentence, your own words.</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Do not look it up. Write what you actually think it is.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17</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8"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04 · A WORKING DEFINITION · GIO, 2025</a:t>
            </a:r>
          </a:p>
        </p:txBody>
      </p:sp>
      <p:sp>
        <p:nvSpPr>
          <p:cNvPr id="3" name="TextBox 2"/>
          <p:cNvSpPr txBox="1"/>
          <p:nvPr/>
        </p:nvSpPr>
        <p:spPr>
          <a:xfrm>
            <a:off x="762000" y="1168400"/>
            <a:ext cx="10668000" cy="4826000"/>
          </a:xfrm>
          <a:prstGeom prst="rect">
            <a:avLst/>
          </a:prstGeom>
          <a:noFill/>
        </p:spPr>
        <p:txBody>
          <a:bodyPr wrap="square" lIns="0" rIns="0" tIns="0" bIns="0" anchor="ctr">
            <a:noAutofit/>
          </a:bodyPr>
          <a:lstStyle/>
          <a:p>
            <a:pPr algn="l">
              <a:lnSpc>
                <a:spcPct val="75500"/>
              </a:lnSpc>
            </a:pPr>
            <a:r>
              <a:rPr sz="8250" b="0" spc="-330">
                <a:solidFill>
                  <a:srgbClr val="FFFFFF"/>
                </a:solidFill>
                <a:latin typeface="Inter Black"/>
              </a:rPr>
              <a:t>Intelligent-like output or behaviour, achieved through computation.</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INTELLIGENT, OR CREATIVE?</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Intelligent is not the same as creative.</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Wiggins, 2006: computational creativity is "the performance of tasks which, if performed by a human, would be deemed creative."</a:t>
            </a:r>
          </a:p>
          <a:p>
            <a:pPr algn="l">
              <a:lnSpc>
                <a:spcPct val="110500"/>
              </a:lnSpc>
              <a:spcBef>
                <a:spcPts val="1350"/>
              </a:spcBef>
            </a:pPr>
            <a:r>
              <a:rPr sz="2250" b="0">
                <a:solidFill>
                  <a:srgbClr val="2A323D"/>
                </a:solidFill>
                <a:latin typeface="Inter"/>
              </a:rPr>
              <a:t>The trick: it judges the </a:t>
            </a:r>
            <a:r>
              <a:rPr sz="2250" b="1">
                <a:solidFill>
                  <a:srgbClr val="2A323D"/>
                </a:solidFill>
                <a:latin typeface="Inter"/>
              </a:rPr>
              <a:t>output</a:t>
            </a:r>
            <a:r>
              <a:rPr sz="2250" b="0">
                <a:solidFill>
                  <a:srgbClr val="2A323D"/>
                </a:solidFill>
                <a:latin typeface="Inter"/>
              </a:rPr>
              <a:t>, not the process.</a:t>
            </a:r>
          </a:p>
          <a:p>
            <a:pPr algn="l" marL="304800" indent="-304800">
              <a:lnSpc>
                <a:spcPct val="110500"/>
              </a:lnSpc>
              <a:spcBef>
                <a:spcPts val="1350"/>
              </a:spcBef>
              <a:buClr>
                <a:srgbClr val="ED6D24"/>
              </a:buClr>
              <a:buFont typeface="Inter Black"/>
              <a:buChar char="·"/>
            </a:pPr>
            <a:r>
              <a:rPr sz="2250" b="0">
                <a:solidFill>
                  <a:srgbClr val="2A323D"/>
                </a:solidFill>
                <a:latin typeface="Inter"/>
              </a:rPr>
              <a:t>Intelligent: solves the problem you set.</a:t>
            </a:r>
          </a:p>
          <a:p>
            <a:pPr algn="l" marL="304800" indent="-304800">
              <a:lnSpc>
                <a:spcPct val="110500"/>
              </a:lnSpc>
              <a:spcBef>
                <a:spcPts val="1350"/>
              </a:spcBef>
              <a:buClr>
                <a:srgbClr val="ED6D24"/>
              </a:buClr>
              <a:buFont typeface="Inter Black"/>
              <a:buChar char="·"/>
            </a:pPr>
            <a:r>
              <a:rPr sz="2250" b="0">
                <a:solidFill>
                  <a:srgbClr val="2A323D"/>
                </a:solidFill>
                <a:latin typeface="Inter"/>
              </a:rPr>
              <a:t>Creative: makes something you did not order, and you still want it.</a:t>
            </a:r>
          </a:p>
          <a:p>
            <a:pPr algn="l">
              <a:lnSpc>
                <a:spcPct val="110500"/>
              </a:lnSpc>
              <a:spcBef>
                <a:spcPts val="1350"/>
              </a:spcBef>
            </a:pPr>
            <a:r>
              <a:rPr sz="2250" b="0">
                <a:solidFill>
                  <a:srgbClr val="2A323D"/>
                </a:solidFill>
                <a:latin typeface="Inter"/>
              </a:rPr>
              <a:t>Lovelace said the second is impossible. Hold that until Move 37.</a:t>
            </a:r>
          </a:p>
        </p:txBody>
      </p:sp>
      <p:pic>
        <p:nvPicPr>
          <p:cNvPr id="5" name="Picture 4" descr="alan-turing.png"/>
          <p:cNvPicPr>
            <a:picLocks noChangeAspect="1"/>
          </p:cNvPicPr>
          <p:nvPr/>
        </p:nvPicPr>
        <p:blipFill>
          <a:blip r:embed="rId2"/>
          <a:srcRect l="17130" r="17130"/>
          <a:stretch>
            <a:fillRect/>
          </a:stretch>
        </p:blipFill>
        <p:spPr>
          <a:xfrm>
            <a:off x="6350000" y="1168400"/>
            <a:ext cx="50800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Alan Turing. 1936: every computer is a Turing machine. 1950: "Can machines think?" becomes the imitation game.</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19</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additive="base">
                                        <p:cTn id="20" dur="500" fill="hold"/>
                                        <p:tgtEl>
                                          <p:spTgt spid="4"/>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9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p:bldP spid="6" grpId="0"/>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pic>
        <p:nvPicPr>
          <p:cNvPr id="2" name="Picture 1" descr="babbage-analytical-engine.jpg"/>
          <p:cNvPicPr>
            <a:picLocks noChangeAspect="1"/>
          </p:cNvPicPr>
          <p:nvPr/>
        </p:nvPicPr>
        <p:blipFill>
          <a:blip r:embed="rId2"/>
          <a:srcRect t="5560" b="5560"/>
          <a:stretch>
            <a:fillRect/>
          </a:stretch>
        </p:blipFill>
        <p:spPr>
          <a:xfrm>
            <a:off x="0" y="0"/>
            <a:ext cx="12192000" cy="6096000"/>
          </a:xfrm>
          <a:prstGeom prst="rect">
            <a:avLst/>
          </a:prstGeom>
        </p:spPr>
      </p:pic>
      <p:sp>
        <p:nvSpPr>
          <p:cNvPr id="3" name="Rectangle 2"/>
          <p:cNvSpPr/>
          <p:nvPr/>
        </p:nvSpPr>
        <p:spPr>
          <a:xfrm>
            <a:off x="0" y="6096000"/>
            <a:ext cx="1219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1722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1837 · CHARLES BABBAGE · THE ANALYTICAL ENGINE</a:t>
            </a:r>
          </a:p>
        </p:txBody>
      </p:sp>
      <p:sp>
        <p:nvSpPr>
          <p:cNvPr id="5" name="TextBox 4"/>
          <p:cNvSpPr txBox="1"/>
          <p:nvPr/>
        </p:nvSpPr>
        <p:spPr>
          <a:xfrm>
            <a:off x="762000" y="6388100"/>
            <a:ext cx="9906000" cy="406400"/>
          </a:xfrm>
          <a:prstGeom prst="rect">
            <a:avLst/>
          </a:prstGeom>
          <a:noFill/>
        </p:spPr>
        <p:txBody>
          <a:bodyPr wrap="square" lIns="0" rIns="0" tIns="0" bIns="0" anchor="t">
            <a:noAutofit/>
          </a:bodyPr>
          <a:lstStyle/>
          <a:p>
            <a:pPr algn="l">
              <a:lnSpc>
                <a:spcPct val="96000"/>
              </a:lnSpc>
            </a:pPr>
            <a:r>
              <a:rPr sz="1800" b="0">
                <a:solidFill>
                  <a:srgbClr val="FFFFFF"/>
                </a:solidFill>
                <a:latin typeface="Inter"/>
              </a:rPr>
              <a:t>A computer is a physical thing: brass and steel, cut by hand. This one was designed and never finished. Lovelace programmed it anyway.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6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B3B7BE"/>
                </a:solidFill>
                <a:latin typeface="JetBrains Mono Medium"/>
              </a:rPr>
              <a:t>04 · TWO MACHINES</a:t>
            </a:r>
          </a:p>
        </p:txBody>
      </p:sp>
      <p:sp>
        <p:nvSpPr>
          <p:cNvPr id="3" name="TextBox 2"/>
          <p:cNvSpPr txBox="1"/>
          <p:nvPr/>
        </p:nvSpPr>
        <p:spPr>
          <a:xfrm>
            <a:off x="762000" y="1168400"/>
            <a:ext cx="10668000" cy="4826000"/>
          </a:xfrm>
          <a:prstGeom prst="rect">
            <a:avLst/>
          </a:prstGeom>
          <a:noFill/>
        </p:spPr>
        <p:txBody>
          <a:bodyPr wrap="square" lIns="0" rIns="0" tIns="0" bIns="0" anchor="ctr">
            <a:noAutofit/>
          </a:bodyPr>
          <a:lstStyle/>
          <a:p>
            <a:pPr algn="l">
              <a:lnSpc>
                <a:spcPct val="75500"/>
              </a:lnSpc>
            </a:pPr>
            <a:r>
              <a:rPr sz="9300" b="0" spc="-372">
                <a:solidFill>
                  <a:srgbClr val="FFFFFF"/>
                </a:solidFill>
                <a:latin typeface="Inter Black"/>
              </a:rPr>
              <a:t>Two ways to teach a machine what a chair is.</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TWO MACHINES</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Write the rule, or show the examples.</a:t>
            </a:r>
          </a:p>
        </p:txBody>
      </p:sp>
      <p:pic>
        <p:nvPicPr>
          <p:cNvPr id="4" name="Picture 3" descr="two-machines.png"/>
          <p:cNvPicPr>
            <a:picLocks noChangeAspect="1"/>
          </p:cNvPicPr>
          <p:nvPr/>
        </p:nvPicPr>
        <p:blipFill>
          <a:blip r:embed="rId2"/>
          <a:stretch>
            <a:fillRect/>
          </a:stretch>
        </p:blipFill>
        <p:spPr>
          <a:xfrm>
            <a:off x="762000" y="2032000"/>
            <a:ext cx="10668000" cy="3302000"/>
          </a:xfrm>
          <a:prstGeom prst="rect">
            <a:avLst/>
          </a:prstGeom>
        </p:spPr>
      </p:pic>
      <p:sp>
        <p:nvSpPr>
          <p:cNvPr id="5" name="TextBox 4"/>
          <p:cNvSpPr txBox="1"/>
          <p:nvPr/>
        </p:nvSpPr>
        <p:spPr>
          <a:xfrm>
            <a:off x="762000" y="5791200"/>
            <a:ext cx="10668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Machine A: symbolic AI, 1956 onwards — definitions, logic, expert systems. Machine B: machine learning, 1958 / 1986 / 2012 — statistics over examples.</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22</a:t>
            </a:r>
          </a:p>
        </p:txBody>
      </p:sp>
      <p:pic>
        <p:nvPicPr>
          <p:cNvPr id="8"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9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A · RULES</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One rule. Twelve chairs.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Every chair here comes from the same six numbers: seat height, seat width, back height, back angle, number of legs, splay.</a:t>
            </a:r>
          </a:p>
          <a:p>
            <a:pPr algn="l" marL="304800" indent="-304800">
              <a:lnSpc>
                <a:spcPct val="110500"/>
              </a:lnSpc>
              <a:spcBef>
                <a:spcPts val="1350"/>
              </a:spcBef>
              <a:buClr>
                <a:srgbClr val="ED6D24"/>
              </a:buClr>
              <a:buFont typeface="Inter Black"/>
              <a:buChar char="·"/>
            </a:pPr>
            <a:r>
              <a:rPr sz="2250" b="0">
                <a:solidFill>
                  <a:srgbClr val="2A323D"/>
                </a:solidFill>
                <a:latin typeface="Inter"/>
              </a:rPr>
              <a:t>Change a number, get a chair. It can make a million and every one is a chair by definition.</a:t>
            </a:r>
          </a:p>
          <a:p>
            <a:pPr algn="l" marL="304800" indent="-304800">
              <a:lnSpc>
                <a:spcPct val="110500"/>
              </a:lnSpc>
              <a:spcBef>
                <a:spcPts val="1350"/>
              </a:spcBef>
              <a:buClr>
                <a:srgbClr val="ED6D24"/>
              </a:buClr>
              <a:buFont typeface="Inter Black"/>
              <a:buChar char="·"/>
            </a:pPr>
            <a:r>
              <a:rPr sz="2250" b="0">
                <a:solidFill>
                  <a:srgbClr val="2A323D"/>
                </a:solidFill>
                <a:latin typeface="Inter"/>
              </a:rPr>
              <a:t>It can never make a beanbag. The definition does not know beanbags exist.</a:t>
            </a:r>
          </a:p>
          <a:p>
            <a:pPr algn="l">
              <a:lnSpc>
                <a:spcPct val="110500"/>
              </a:lnSpc>
              <a:spcBef>
                <a:spcPts val="1350"/>
              </a:spcBef>
            </a:pPr>
            <a:r>
              <a:rPr sz="2250" b="0">
                <a:solidFill>
                  <a:srgbClr val="2A323D"/>
                </a:solidFill>
                <a:latin typeface="Inter"/>
              </a:rPr>
              <a:t>This is parametric design — Grasshopper, variable fonts, CSS grid. Week 2 is this: rules that make things.</a:t>
            </a:r>
          </a:p>
        </p:txBody>
      </p:sp>
      <p:pic>
        <p:nvPicPr>
          <p:cNvPr id="5" name="Picture 4" descr="chairs-rules.png"/>
          <p:cNvPicPr>
            <a:picLocks noChangeAspect="1"/>
          </p:cNvPicPr>
          <p:nvPr/>
        </p:nvPicPr>
        <p:blipFill>
          <a:blip r:embed="rId2"/>
          <a:srcRect t="30" b="30"/>
          <a:stretch>
            <a:fillRect/>
          </a:stretch>
        </p:blipFill>
        <p:spPr>
          <a:xfrm>
            <a:off x="6489700" y="1168400"/>
            <a:ext cx="48006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chair(seat=0.45, width=0.62, back=0.6, angle=8, legs=4, splay=0.05) — the same function, twelve times</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23</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additive="base">
                                        <p:cTn id="20" dur="500" fill="hold"/>
                                        <p:tgtEl>
                                          <p:spTgt spid="4"/>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9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p:bldP spid="6" grpId="0"/>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B · EXAMPLES</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Ask a model for "a chair". Four times.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No rule anywhere. A diffusion model saw millions of pictures with the word "chair" nearby and learned a feel for it.</a:t>
            </a:r>
          </a:p>
          <a:p>
            <a:pPr algn="l" marL="304800" indent="-304800">
              <a:lnSpc>
                <a:spcPct val="110500"/>
              </a:lnSpc>
              <a:spcBef>
                <a:spcPts val="1350"/>
              </a:spcBef>
              <a:buClr>
                <a:srgbClr val="ED6D24"/>
              </a:buClr>
              <a:buFont typeface="Inter Black"/>
              <a:buChar char="·"/>
            </a:pPr>
            <a:r>
              <a:rPr sz="2250" b="0">
                <a:solidFill>
                  <a:srgbClr val="2A323D"/>
                </a:solidFill>
                <a:latin typeface="Inter"/>
              </a:rPr>
              <a:t>Four requests, four chairs, and they are all the </a:t>
            </a:r>
            <a:r>
              <a:rPr sz="2250" b="1">
                <a:solidFill>
                  <a:srgbClr val="2A323D"/>
                </a:solidFill>
                <a:latin typeface="Inter"/>
              </a:rPr>
              <a:t>same</a:t>
            </a:r>
            <a:r>
              <a:rPr sz="2250" b="0">
                <a:solidFill>
                  <a:srgbClr val="2A323D"/>
                </a:solidFill>
                <a:latin typeface="Inter"/>
              </a:rPr>
              <a:t> chair: four legs, a back, wood, a bit of mid-century.</a:t>
            </a:r>
          </a:p>
          <a:p>
            <a:pPr algn="l" marL="304800" indent="-304800">
              <a:lnSpc>
                <a:spcPct val="110500"/>
              </a:lnSpc>
              <a:spcBef>
                <a:spcPts val="1350"/>
              </a:spcBef>
              <a:buClr>
                <a:srgbClr val="ED6D24"/>
              </a:buClr>
              <a:buFont typeface="Inter Black"/>
              <a:buChar char="·"/>
            </a:pPr>
            <a:r>
              <a:rPr sz="2250" b="0">
                <a:solidFill>
                  <a:srgbClr val="2A323D"/>
                </a:solidFill>
                <a:latin typeface="Inter"/>
              </a:rPr>
              <a:t>It cannot tell you why. It can tell you what is typical.</a:t>
            </a:r>
          </a:p>
          <a:p>
            <a:pPr algn="l">
              <a:lnSpc>
                <a:spcPct val="110500"/>
              </a:lnSpc>
              <a:spcBef>
                <a:spcPts val="1350"/>
              </a:spcBef>
            </a:pPr>
            <a:r>
              <a:rPr sz="2250" b="0">
                <a:solidFill>
                  <a:srgbClr val="2A323D"/>
                </a:solidFill>
                <a:latin typeface="Inter"/>
              </a:rPr>
              <a:t>Weeks 3 and 5 are this: learning from examples, and what the examples do to the result.</a:t>
            </a:r>
          </a:p>
        </p:txBody>
      </p:sp>
      <p:pic>
        <p:nvPicPr>
          <p:cNvPr id="5" name="Picture 4" descr="ai-chair-1.jpg"/>
          <p:cNvPicPr>
            <a:picLocks noChangeAspect="1"/>
          </p:cNvPicPr>
          <p:nvPr/>
        </p:nvPicPr>
        <p:blipFill>
          <a:blip r:embed="rId2"/>
          <a:stretch>
            <a:fillRect/>
          </a:stretch>
        </p:blipFill>
        <p:spPr>
          <a:xfrm>
            <a:off x="6350000" y="1168400"/>
            <a:ext cx="2108200" cy="2108200"/>
          </a:xfrm>
          <a:prstGeom prst="rect">
            <a:avLst/>
          </a:prstGeom>
        </p:spPr>
      </p:pic>
      <p:pic>
        <p:nvPicPr>
          <p:cNvPr id="6" name="Picture 5" descr="ai-chair-2.jpg"/>
          <p:cNvPicPr>
            <a:picLocks noChangeAspect="1"/>
          </p:cNvPicPr>
          <p:nvPr/>
        </p:nvPicPr>
        <p:blipFill>
          <a:blip r:embed="rId3"/>
          <a:stretch>
            <a:fillRect/>
          </a:stretch>
        </p:blipFill>
        <p:spPr>
          <a:xfrm>
            <a:off x="8559800" y="1168400"/>
            <a:ext cx="2108200" cy="2108200"/>
          </a:xfrm>
          <a:prstGeom prst="rect">
            <a:avLst/>
          </a:prstGeom>
        </p:spPr>
      </p:pic>
      <p:pic>
        <p:nvPicPr>
          <p:cNvPr id="7" name="Picture 6" descr="ai-chair-3.jpg"/>
          <p:cNvPicPr>
            <a:picLocks noChangeAspect="1"/>
          </p:cNvPicPr>
          <p:nvPr/>
        </p:nvPicPr>
        <p:blipFill>
          <a:blip r:embed="rId4"/>
          <a:stretch>
            <a:fillRect/>
          </a:stretch>
        </p:blipFill>
        <p:spPr>
          <a:xfrm>
            <a:off x="6350000" y="3378200"/>
            <a:ext cx="2108200" cy="2108200"/>
          </a:xfrm>
          <a:prstGeom prst="rect">
            <a:avLst/>
          </a:prstGeom>
        </p:spPr>
      </p:pic>
      <p:pic>
        <p:nvPicPr>
          <p:cNvPr id="8" name="Picture 7" descr="ai-chair-4.jpg"/>
          <p:cNvPicPr>
            <a:picLocks noChangeAspect="1"/>
          </p:cNvPicPr>
          <p:nvPr/>
        </p:nvPicPr>
        <p:blipFill>
          <a:blip r:embed="rId5"/>
          <a:stretch>
            <a:fillRect/>
          </a:stretch>
        </p:blipFill>
        <p:spPr>
          <a:xfrm>
            <a:off x="8559800" y="3378200"/>
            <a:ext cx="2108200" cy="2108200"/>
          </a:xfrm>
          <a:prstGeom prst="rect">
            <a:avLst/>
          </a:prstGeom>
        </p:spPr>
      </p:pic>
      <p:sp>
        <p:nvSpPr>
          <p:cNvPr id="9" name="TextBox 8"/>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Prompt: "a chair, studio product photograph, plain white background" — one fast text-to-image model, four seeds, September 2026.</a:t>
            </a:r>
          </a:p>
        </p:txBody>
      </p:sp>
      <p:sp>
        <p:nvSpPr>
          <p:cNvPr id="10"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1"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24</a:t>
            </a:r>
          </a:p>
        </p:txBody>
      </p:sp>
      <p:pic>
        <p:nvPicPr>
          <p:cNvPr id="12" name="chrome-logo" descr="polyu-design-logo.png"/>
          <p:cNvPicPr>
            <a:picLocks noChangeAspect="1"/>
          </p:cNvPicPr>
          <p:nvPr/>
        </p:nvPicPr>
        <p:blipFill>
          <a:blip r:embed="rId6"/>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6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additive="base">
                                        <p:cTn id="20" dur="500" fill="hold"/>
                                        <p:tgtEl>
                                          <p:spTgt spid="6"/>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additive="base">
                                        <p:cTn id="24" dur="500" fill="hold"/>
                                        <p:tgtEl>
                                          <p:spTgt spid="4"/>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9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additive="base">
                                        <p:cTn id="28" dur="500" fill="hold"/>
                                        <p:tgtEl>
                                          <p:spTgt spid="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26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4" grpId="0"/>
      <p:bldP spid="7" grpId="0"/>
      <p:bldP spid="8" grpId="0"/>
      <p:bldP spid="9" grpId="0"/>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04 · ONE MINUTE · DRAW</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15 sec</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Draw a chair. Fifteen seconds. Hold it up.</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Pen, paper, no thinking. When the time is up, hold the drawing above your head and look around the room.</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additive="base">
                                        <p:cTn id="12" dur="500" fill="hold"/>
                                        <p:tgtEl>
                                          <p:spTgt spid="2"/>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5" grpId="0"/>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ROSCH, 1975 · TYPICALITY</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Concepts have a middle and an edge.</a:t>
            </a:r>
          </a:p>
        </p:txBody>
      </p:sp>
      <p:sp>
        <p:nvSpPr>
          <p:cNvPr id="4" name="TextBox 3"/>
          <p:cNvSpPr txBox="1"/>
          <p:nvPr/>
        </p:nvSpPr>
        <p:spPr>
          <a:xfrm>
            <a:off x="762000" y="1905000"/>
            <a:ext cx="10668000" cy="571500"/>
          </a:xfrm>
          <a:prstGeom prst="rect">
            <a:avLst/>
          </a:prstGeom>
          <a:noFill/>
        </p:spPr>
        <p:txBody>
          <a:bodyPr wrap="square" lIns="0" rIns="0" tIns="0" bIns="0" anchor="t">
            <a:noAutofit/>
          </a:bodyPr>
          <a:lstStyle/>
          <a:p>
            <a:pPr algn="l">
              <a:lnSpc>
                <a:spcPct val="102600"/>
              </a:lnSpc>
            </a:pPr>
            <a:r>
              <a:rPr sz="2250" b="0">
                <a:solidFill>
                  <a:srgbClr val="2A323D"/>
                </a:solidFill>
                <a:latin typeface="Inter"/>
              </a:rPr>
              <a:t>Typical members are named first, learned first, recognised faster. The edge is where the definition breaks: is a bean bag a chair? a swing? the rock you sat on at lunch?</a:t>
            </a:r>
          </a:p>
        </p:txBody>
      </p:sp>
      <p:pic>
        <p:nvPicPr>
          <p:cNvPr id="5" name="Picture 4" descr="typicality.png"/>
          <p:cNvPicPr>
            <a:picLocks noChangeAspect="1"/>
          </p:cNvPicPr>
          <p:nvPr/>
        </p:nvPicPr>
        <p:blipFill>
          <a:blip r:embed="rId2"/>
          <a:stretch>
            <a:fillRect/>
          </a:stretch>
        </p:blipFill>
        <p:spPr>
          <a:xfrm>
            <a:off x="762000" y="2540000"/>
            <a:ext cx="10668000" cy="1905000"/>
          </a:xfrm>
          <a:prstGeom prst="rect">
            <a:avLst/>
          </a:prstGeom>
        </p:spPr>
      </p:pic>
      <p:sp>
        <p:nvSpPr>
          <p:cNvPr id="6" name="TextBox 5"/>
          <p:cNvSpPr txBox="1"/>
          <p:nvPr/>
        </p:nvSpPr>
        <p:spPr>
          <a:xfrm>
            <a:off x="762000" y="5791200"/>
            <a:ext cx="10668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Rosch &amp; Mervis 1975 — family resemblance, not necessary and sufficient conditions. Machine A lives on the definition. Machine B lives in the middle. Designers work at the edge.</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26</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9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26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B · AT THE EDGE</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Ask for the edge. Get the middle.</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I asked the same model for "an object that is barely still a chair, an unusual seat that stretches the definition".</a:t>
            </a:r>
          </a:p>
          <a:p>
            <a:pPr algn="l" marL="304800" indent="-304800">
              <a:lnSpc>
                <a:spcPct val="110500"/>
              </a:lnSpc>
              <a:spcBef>
                <a:spcPts val="1350"/>
              </a:spcBef>
              <a:buClr>
                <a:srgbClr val="ED6D24"/>
              </a:buClr>
              <a:buFont typeface="Inter Black"/>
              <a:buChar char="·"/>
            </a:pPr>
            <a:r>
              <a:rPr sz="2250" b="0">
                <a:solidFill>
                  <a:srgbClr val="2A323D"/>
                </a:solidFill>
                <a:latin typeface="Inter"/>
              </a:rPr>
              <a:t>It gave me this. A chair. Slightly more designed. Four legs and a back.</a:t>
            </a:r>
          </a:p>
          <a:p>
            <a:pPr algn="l" marL="304800" indent="-304800">
              <a:lnSpc>
                <a:spcPct val="110500"/>
              </a:lnSpc>
              <a:spcBef>
                <a:spcPts val="1350"/>
              </a:spcBef>
              <a:buClr>
                <a:srgbClr val="ED6D24"/>
              </a:buClr>
              <a:buFont typeface="Inter Black"/>
              <a:buChar char="·"/>
            </a:pPr>
            <a:r>
              <a:rPr sz="2250" b="0">
                <a:solidFill>
                  <a:srgbClr val="2A323D"/>
                </a:solidFill>
                <a:latin typeface="Inter"/>
              </a:rPr>
              <a:t>A model trained on examples pulls towards the typical. The edge is where its examples run out.</a:t>
            </a:r>
          </a:p>
          <a:p>
            <a:pPr algn="l">
              <a:lnSpc>
                <a:spcPct val="110500"/>
              </a:lnSpc>
              <a:spcBef>
                <a:spcPts val="1350"/>
              </a:spcBef>
            </a:pPr>
            <a:r>
              <a:rPr sz="2250" b="0">
                <a:solidFill>
                  <a:srgbClr val="2A323D"/>
                </a:solidFill>
                <a:latin typeface="Inter"/>
              </a:rPr>
              <a:t>The designer's job starts exactly where the model's confidence ends.</a:t>
            </a:r>
          </a:p>
        </p:txBody>
      </p:sp>
      <p:pic>
        <p:nvPicPr>
          <p:cNvPr id="5" name="Picture 4" descr="ai-chair-edge.jpg"/>
          <p:cNvPicPr>
            <a:picLocks noChangeAspect="1"/>
          </p:cNvPicPr>
          <p:nvPr/>
        </p:nvPicPr>
        <p:blipFill>
          <a:blip r:embed="rId2"/>
          <a:srcRect t="7500" b="7500"/>
          <a:stretch>
            <a:fillRect/>
          </a:stretch>
        </p:blipFill>
        <p:spPr>
          <a:xfrm>
            <a:off x="6350000" y="1168400"/>
            <a:ext cx="50800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Prompt: "an object that is barely still a chair, an unusual seat that stretches the definition of chair, studio product photograph". Same model, one seed.</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27</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additive="base">
                                        <p:cTn id="20" dur="500" fill="hold"/>
                                        <p:tgtEl>
                                          <p:spTgt spid="4"/>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9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p:bldP spid="6" grpId="0"/>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QUICK CHECK · MULTIPLE CHOICE</a:t>
            </a:r>
          </a:p>
        </p:txBody>
      </p:sp>
      <p:sp>
        <p:nvSpPr>
          <p:cNvPr id="3" name="TextBox 2"/>
          <p:cNvSpPr txBox="1"/>
          <p:nvPr/>
        </p:nvSpPr>
        <p:spPr>
          <a:xfrm>
            <a:off x="762000" y="1270000"/>
            <a:ext cx="10668000" cy="2794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Which of these is a chair?</a:t>
            </a:r>
          </a:p>
        </p:txBody>
      </p:sp>
      <p:sp>
        <p:nvSpPr>
          <p:cNvPr id="4" name="Rectangle 3"/>
          <p:cNvSpPr/>
          <p:nvPr/>
        </p:nvSpPr>
        <p:spPr>
          <a:xfrm>
            <a:off x="762000" y="43180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3180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A</a:t>
            </a:r>
          </a:p>
        </p:txBody>
      </p:sp>
      <p:sp>
        <p:nvSpPr>
          <p:cNvPr id="6" name="TextBox 5"/>
          <p:cNvSpPr txBox="1"/>
          <p:nvPr/>
        </p:nvSpPr>
        <p:spPr>
          <a:xfrm>
            <a:off x="1346200" y="43180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A bean bag</a:t>
            </a:r>
          </a:p>
        </p:txBody>
      </p:sp>
      <p:sp>
        <p:nvSpPr>
          <p:cNvPr id="7" name="Rectangle 6"/>
          <p:cNvSpPr/>
          <p:nvPr/>
        </p:nvSpPr>
        <p:spPr>
          <a:xfrm>
            <a:off x="762000" y="47498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47498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B</a:t>
            </a:r>
          </a:p>
        </p:txBody>
      </p:sp>
      <p:sp>
        <p:nvSpPr>
          <p:cNvPr id="9" name="TextBox 8"/>
          <p:cNvSpPr txBox="1"/>
          <p:nvPr/>
        </p:nvSpPr>
        <p:spPr>
          <a:xfrm>
            <a:off x="1346200" y="47498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A tree stump you sit on</a:t>
            </a:r>
          </a:p>
        </p:txBody>
      </p:sp>
      <p:sp>
        <p:nvSpPr>
          <p:cNvPr id="10" name="Rectangle 9"/>
          <p:cNvSpPr/>
          <p:nvPr/>
        </p:nvSpPr>
        <p:spPr>
          <a:xfrm>
            <a:off x="762000" y="51816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51816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C</a:t>
            </a:r>
          </a:p>
        </p:txBody>
      </p:sp>
      <p:sp>
        <p:nvSpPr>
          <p:cNvPr id="12" name="TextBox 11"/>
          <p:cNvSpPr txBox="1"/>
          <p:nvPr/>
        </p:nvSpPr>
        <p:spPr>
          <a:xfrm>
            <a:off x="1346200" y="51816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Both</a:t>
            </a:r>
          </a:p>
        </p:txBody>
      </p:sp>
      <p:sp>
        <p:nvSpPr>
          <p:cNvPr id="13" name="Rectangle 12"/>
          <p:cNvSpPr/>
          <p:nvPr/>
        </p:nvSpPr>
        <p:spPr>
          <a:xfrm>
            <a:off x="762000" y="5613400"/>
            <a:ext cx="406400" cy="3556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613400"/>
            <a:ext cx="406400" cy="355600"/>
          </a:xfrm>
          <a:prstGeom prst="rect">
            <a:avLst/>
          </a:prstGeom>
          <a:noFill/>
        </p:spPr>
        <p:txBody>
          <a:bodyPr wrap="square" lIns="0" rIns="0" tIns="0" bIns="0" anchor="ctr">
            <a:noAutofit/>
          </a:bodyPr>
          <a:lstStyle/>
          <a:p>
            <a:pPr algn="ctr">
              <a:lnSpc>
                <a:spcPct val="88400"/>
              </a:lnSpc>
            </a:pPr>
            <a:r>
              <a:rPr sz="2100" b="0">
                <a:solidFill>
                  <a:srgbClr val="FFFFFF"/>
                </a:solidFill>
                <a:latin typeface="JetBrains Mono Medium"/>
              </a:rPr>
              <a:t>D</a:t>
            </a:r>
          </a:p>
        </p:txBody>
      </p:sp>
      <p:sp>
        <p:nvSpPr>
          <p:cNvPr id="15" name="TextBox 14"/>
          <p:cNvSpPr txBox="1"/>
          <p:nvPr/>
        </p:nvSpPr>
        <p:spPr>
          <a:xfrm>
            <a:off x="1346200" y="5613400"/>
            <a:ext cx="7620000" cy="355600"/>
          </a:xfrm>
          <a:prstGeom prst="rect">
            <a:avLst/>
          </a:prstGeom>
          <a:noFill/>
        </p:spPr>
        <p:txBody>
          <a:bodyPr wrap="square" lIns="0" rIns="0" tIns="0" bIns="0" anchor="ctr">
            <a:noAutofit/>
          </a:bodyPr>
          <a:lstStyle/>
          <a:p>
            <a:pPr algn="l">
              <a:lnSpc>
                <a:spcPct val="97100"/>
              </a:lnSpc>
            </a:pPr>
            <a:r>
              <a:rPr sz="2550" b="0">
                <a:solidFill>
                  <a:srgbClr val="000B1C"/>
                </a:solidFill>
                <a:latin typeface="Inter"/>
              </a:rPr>
              <a:t>Neither</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28</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19"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9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anim calcmode="lin" valueType="num">
                                      <p:cBhvr additive="base">
                                        <p:cTn id="28" dur="500" fill="hold"/>
                                        <p:tgtEl>
                                          <p:spTgt spid="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95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26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additive="base">
                                        <p:cTn id="40" dur="500" fill="hold"/>
                                        <p:tgtEl>
                                          <p:spTgt spid="10"/>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26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additive="base">
                                        <p:cTn id="44" dur="500" fill="hold"/>
                                        <p:tgtEl>
                                          <p:spTgt spid="11"/>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26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additive="base">
                                        <p:cTn id="48" dur="500" fill="hold"/>
                                        <p:tgtEl>
                                          <p:spTgt spid="12"/>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32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anim calcmode="lin" valueType="num">
                                      <p:cBhvr additive="base">
                                        <p:cTn id="52" dur="500" fill="hold"/>
                                        <p:tgtEl>
                                          <p:spTgt spid="13"/>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32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325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SAME APP, TWO MACHINES</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You already use both, every day.</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PHOTOSHOP · 1990S</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Auto Levels</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 rule: stretch the histogram until the darkest pixel is black and the lightest is white. Same input, same output, forever. Machine A.</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PHOTOSHOP · 2010</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Content-Aware Fill</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An algorithm (PatchMatch) that searches the image for patches that fit the hole. Clever rules, no training. Still machine A.</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PHOTOSHOP · 2023</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Generative Fill</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 diffusion model trained on Adobe Stock invents what belongs in the hole. Fluent, surprising, sometimes wrong. Machine B.</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29</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anim calcmode="lin" valueType="num">
                                      <p:cBhvr additive="base">
                                        <p:cTn id="28" dur="500" fill="hold"/>
                                        <p:tgtEl>
                                          <p:spTgt spid="5"/>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additive="base">
                                        <p:cTn id="32" dur="500" fill="hold"/>
                                        <p:tgtEl>
                                          <p:spTgt spid="9"/>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additive="base">
                                        <p:cTn id="36" dur="500" fill="hold"/>
                                        <p:tgtEl>
                                          <p:spTgt spid="13"/>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95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anim calcmode="lin" valueType="num">
                                      <p:cBhvr additive="base">
                                        <p:cTn id="40" dur="500" fill="hold"/>
                                        <p:tgtEl>
                                          <p:spTgt spid="6"/>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9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additive="base">
                                        <p:cTn id="44" dur="500" fill="hold"/>
                                        <p:tgtEl>
                                          <p:spTgt spid="10"/>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additive="base">
                                        <p:cTn id="48" dur="500" fill="hold"/>
                                        <p:tgtEl>
                                          <p:spTgt spid="14"/>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260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500"/>
                                        <p:tgtEl>
                                          <p:spTgt spid="7"/>
                                        </p:tgtEl>
                                      </p:cBhvr>
                                    </p:animEffect>
                                    <p:anim calcmode="lin" valueType="num">
                                      <p:cBhvr additive="base">
                                        <p:cTn id="52" dur="500" fill="hold"/>
                                        <p:tgtEl>
                                          <p:spTgt spid="7"/>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26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additive="base">
                                        <p:cTn id="56" dur="500" fill="hold"/>
                                        <p:tgtEl>
                                          <p:spTgt spid="11"/>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260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5" grpId="0"/>
      <p:bldP spid="9" grpId="0"/>
      <p:bldP spid="13" grpId="0"/>
      <p:bldP spid="6" grpId="0"/>
      <p:bldP spid="10" grpId="0"/>
      <p:bldP spid="14" grpId="0"/>
      <p:bldP spid="7" grpId="0"/>
      <p:bldP spid="11" grpId="0"/>
      <p:bldP spid="15" grpId="0"/>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HOW WE GOT HERE</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Two lines, one hundred and eighty years.</a:t>
            </a:r>
          </a:p>
        </p:txBody>
      </p:sp>
      <p:sp>
        <p:nvSpPr>
          <p:cNvPr id="4" name="Rectangle 3"/>
          <p:cNvSpPr/>
          <p:nvPr/>
        </p:nvSpPr>
        <p:spPr>
          <a:xfrm>
            <a:off x="762000" y="3556000"/>
            <a:ext cx="10668000" cy="1905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1843</a:t>
            </a:r>
          </a:p>
        </p:txBody>
      </p:sp>
      <p:sp>
        <p:nvSpPr>
          <p:cNvPr id="6" name="Rectangle 5"/>
          <p:cNvSpPr/>
          <p:nvPr/>
        </p:nvSpPr>
        <p:spPr>
          <a:xfrm>
            <a:off x="762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Lovelace, Note G</a:t>
            </a:r>
          </a:p>
        </p:txBody>
      </p:sp>
      <p:sp>
        <p:nvSpPr>
          <p:cNvPr id="8" name="TextBox 7"/>
          <p:cNvSpPr txBox="1"/>
          <p:nvPr/>
        </p:nvSpPr>
        <p:spPr>
          <a:xfrm>
            <a:off x="762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The first program — and the first objection: it cannot originate.</a:t>
            </a:r>
          </a:p>
        </p:txBody>
      </p:sp>
      <p:sp>
        <p:nvSpPr>
          <p:cNvPr id="9" name="TextBox 8"/>
          <p:cNvSpPr txBox="1"/>
          <p:nvPr/>
        </p:nvSpPr>
        <p:spPr>
          <a:xfrm>
            <a:off x="2095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1950</a:t>
            </a:r>
          </a:p>
        </p:txBody>
      </p:sp>
      <p:sp>
        <p:nvSpPr>
          <p:cNvPr id="10" name="Rectangle 9"/>
          <p:cNvSpPr/>
          <p:nvPr/>
        </p:nvSpPr>
        <p:spPr>
          <a:xfrm>
            <a:off x="2095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95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Turing asks</a:t>
            </a:r>
          </a:p>
        </p:txBody>
      </p:sp>
      <p:sp>
        <p:nvSpPr>
          <p:cNvPr id="12" name="TextBox 11"/>
          <p:cNvSpPr txBox="1"/>
          <p:nvPr/>
        </p:nvSpPr>
        <p:spPr>
          <a:xfrm>
            <a:off x="2095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"Can machines think?" becomes: can you tell the difference?</a:t>
            </a:r>
          </a:p>
        </p:txBody>
      </p:sp>
      <p:sp>
        <p:nvSpPr>
          <p:cNvPr id="13" name="TextBox 12"/>
          <p:cNvSpPr txBox="1"/>
          <p:nvPr/>
        </p:nvSpPr>
        <p:spPr>
          <a:xfrm>
            <a:off x="3429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1965</a:t>
            </a:r>
          </a:p>
        </p:txBody>
      </p:sp>
      <p:sp>
        <p:nvSpPr>
          <p:cNvPr id="14" name="Rectangle 13"/>
          <p:cNvSpPr/>
          <p:nvPr/>
        </p:nvSpPr>
        <p:spPr>
          <a:xfrm>
            <a:off x="3429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Nake &amp; Nees</a:t>
            </a:r>
          </a:p>
        </p:txBody>
      </p:sp>
      <p:sp>
        <p:nvSpPr>
          <p:cNvPr id="16" name="TextBox 15"/>
          <p:cNvSpPr txBox="1"/>
          <p:nvPr/>
        </p:nvSpPr>
        <p:spPr>
          <a:xfrm>
            <a:off x="3429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A plotter draws from a program, in a gallery. Rules make art.</a:t>
            </a:r>
          </a:p>
        </p:txBody>
      </p:sp>
      <p:sp>
        <p:nvSpPr>
          <p:cNvPr id="17" name="TextBox 16"/>
          <p:cNvSpPr txBox="1"/>
          <p:nvPr/>
        </p:nvSpPr>
        <p:spPr>
          <a:xfrm>
            <a:off x="4762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1986</a:t>
            </a:r>
          </a:p>
        </p:txBody>
      </p:sp>
      <p:sp>
        <p:nvSpPr>
          <p:cNvPr id="18" name="Rectangle 17"/>
          <p:cNvSpPr/>
          <p:nvPr/>
        </p:nvSpPr>
        <p:spPr>
          <a:xfrm>
            <a:off x="4762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62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Backprop</a:t>
            </a:r>
          </a:p>
        </p:txBody>
      </p:sp>
      <p:sp>
        <p:nvSpPr>
          <p:cNvPr id="20" name="TextBox 19"/>
          <p:cNvSpPr txBox="1"/>
          <p:nvPr/>
        </p:nvSpPr>
        <p:spPr>
          <a:xfrm>
            <a:off x="4762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Rumelhart, Hinton, Williams: networks learn from examples.</a:t>
            </a:r>
          </a:p>
        </p:txBody>
      </p:sp>
      <p:sp>
        <p:nvSpPr>
          <p:cNvPr id="21" name="TextBox 20"/>
          <p:cNvSpPr txBox="1"/>
          <p:nvPr/>
        </p:nvSpPr>
        <p:spPr>
          <a:xfrm>
            <a:off x="6096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2012</a:t>
            </a:r>
          </a:p>
        </p:txBody>
      </p:sp>
      <p:sp>
        <p:nvSpPr>
          <p:cNvPr id="22" name="Rectangle 21"/>
          <p:cNvSpPr/>
          <p:nvPr/>
        </p:nvSpPr>
        <p:spPr>
          <a:xfrm>
            <a:off x="6096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AlexNet</a:t>
            </a:r>
          </a:p>
        </p:txBody>
      </p:sp>
      <p:sp>
        <p:nvSpPr>
          <p:cNvPr id="24" name="TextBox 23"/>
          <p:cNvSpPr txBox="1"/>
          <p:nvPr/>
        </p:nvSpPr>
        <p:spPr>
          <a:xfrm>
            <a:off x="6096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Deep learning wins at seeing. GPUs and the web made it possible.</a:t>
            </a:r>
          </a:p>
        </p:txBody>
      </p:sp>
      <p:sp>
        <p:nvSpPr>
          <p:cNvPr id="25" name="TextBox 24"/>
          <p:cNvSpPr txBox="1"/>
          <p:nvPr/>
        </p:nvSpPr>
        <p:spPr>
          <a:xfrm>
            <a:off x="7429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2016</a:t>
            </a:r>
          </a:p>
        </p:txBody>
      </p:sp>
      <p:sp>
        <p:nvSpPr>
          <p:cNvPr id="26" name="Rectangle 25"/>
          <p:cNvSpPr/>
          <p:nvPr/>
        </p:nvSpPr>
        <p:spPr>
          <a:xfrm>
            <a:off x="7429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29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Move 37</a:t>
            </a:r>
          </a:p>
        </p:txBody>
      </p:sp>
      <p:sp>
        <p:nvSpPr>
          <p:cNvPr id="28" name="TextBox 27"/>
          <p:cNvSpPr txBox="1"/>
          <p:nvPr/>
        </p:nvSpPr>
        <p:spPr>
          <a:xfrm>
            <a:off x="7429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AlphaGo plays a move no human would. Creative, or alien?</a:t>
            </a:r>
          </a:p>
        </p:txBody>
      </p:sp>
      <p:sp>
        <p:nvSpPr>
          <p:cNvPr id="29" name="TextBox 28"/>
          <p:cNvSpPr txBox="1"/>
          <p:nvPr/>
        </p:nvSpPr>
        <p:spPr>
          <a:xfrm>
            <a:off x="87630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2022</a:t>
            </a:r>
          </a:p>
        </p:txBody>
      </p:sp>
      <p:sp>
        <p:nvSpPr>
          <p:cNvPr id="30" name="Rectangle 29"/>
          <p:cNvSpPr/>
          <p:nvPr/>
        </p:nvSpPr>
        <p:spPr>
          <a:xfrm>
            <a:off x="87630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630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ChatGPT · Stable Diffusion</a:t>
            </a:r>
          </a:p>
        </p:txBody>
      </p:sp>
      <p:sp>
        <p:nvSpPr>
          <p:cNvPr id="32" name="TextBox 31"/>
          <p:cNvSpPr txBox="1"/>
          <p:nvPr/>
        </p:nvSpPr>
        <p:spPr>
          <a:xfrm>
            <a:off x="87630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Machine B reaches everyone, through a text box.</a:t>
            </a:r>
          </a:p>
        </p:txBody>
      </p:sp>
      <p:sp>
        <p:nvSpPr>
          <p:cNvPr id="33" name="TextBox 32"/>
          <p:cNvSpPr txBox="1"/>
          <p:nvPr/>
        </p:nvSpPr>
        <p:spPr>
          <a:xfrm>
            <a:off x="10096500" y="2984500"/>
            <a:ext cx="1181100" cy="254000"/>
          </a:xfrm>
          <a:prstGeom prst="rect">
            <a:avLst/>
          </a:prstGeom>
          <a:noFill/>
        </p:spPr>
        <p:txBody>
          <a:bodyPr wrap="square" lIns="0" rIns="0" tIns="0" bIns="0" anchor="t">
            <a:noAutofit/>
          </a:bodyPr>
          <a:lstStyle/>
          <a:p>
            <a:pPr algn="l">
              <a:lnSpc>
                <a:spcPct val="89100"/>
              </a:lnSpc>
            </a:pPr>
            <a:r>
              <a:rPr sz="1950" b="0" spc="117">
                <a:solidFill>
                  <a:srgbClr val="ED6D24"/>
                </a:solidFill>
                <a:latin typeface="JetBrains Mono Medium"/>
              </a:rPr>
              <a:t>2026</a:t>
            </a:r>
          </a:p>
        </p:txBody>
      </p:sp>
      <p:sp>
        <p:nvSpPr>
          <p:cNvPr id="34" name="Rectangle 33"/>
          <p:cNvSpPr/>
          <p:nvPr/>
        </p:nvSpPr>
        <p:spPr>
          <a:xfrm>
            <a:off x="10096500" y="3505200"/>
            <a:ext cx="114300" cy="1143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96500" y="3810000"/>
            <a:ext cx="1155700" cy="698500"/>
          </a:xfrm>
          <a:prstGeom prst="rect">
            <a:avLst/>
          </a:prstGeom>
          <a:noFill/>
        </p:spPr>
        <p:txBody>
          <a:bodyPr wrap="square" lIns="0" rIns="0" tIns="0" bIns="0" anchor="t">
            <a:noAutofit/>
          </a:bodyPr>
          <a:lstStyle/>
          <a:p>
            <a:pPr algn="l">
              <a:lnSpc>
                <a:spcPct val="83400"/>
              </a:lnSpc>
            </a:pPr>
            <a:r>
              <a:rPr sz="2025" b="0" spc="-40">
                <a:solidFill>
                  <a:srgbClr val="000B1C"/>
                </a:solidFill>
                <a:latin typeface="Inter ExtraBold"/>
              </a:rPr>
              <a:t>You</a:t>
            </a:r>
          </a:p>
        </p:txBody>
      </p:sp>
      <p:sp>
        <p:nvSpPr>
          <p:cNvPr id="36" name="TextBox 35"/>
          <p:cNvSpPr txBox="1"/>
          <p:nvPr/>
        </p:nvSpPr>
        <p:spPr>
          <a:xfrm>
            <a:off x="10096500" y="4546600"/>
            <a:ext cx="1155700" cy="1524000"/>
          </a:xfrm>
          <a:prstGeom prst="rect">
            <a:avLst/>
          </a:prstGeom>
          <a:noFill/>
        </p:spPr>
        <p:txBody>
          <a:bodyPr wrap="square" lIns="0" rIns="0" tIns="0" bIns="0" anchor="t">
            <a:noAutofit/>
          </a:bodyPr>
          <a:lstStyle/>
          <a:p>
            <a:pPr algn="l">
              <a:lnSpc>
                <a:spcPct val="102100"/>
              </a:lnSpc>
            </a:pPr>
            <a:r>
              <a:rPr sz="1650" b="0">
                <a:solidFill>
                  <a:srgbClr val="2A323D"/>
                </a:solidFill>
                <a:latin typeface="Inter"/>
              </a:rPr>
              <a:t>Both machines in every tool. The designer decides which, and when.</a:t>
            </a:r>
          </a:p>
        </p:txBody>
      </p:sp>
      <p:sp>
        <p:nvSpPr>
          <p:cNvPr id="3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3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30</a:t>
            </a:r>
          </a:p>
        </p:txBody>
      </p:sp>
      <p:pic>
        <p:nvPicPr>
          <p:cNvPr id="39"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additive="base">
                                        <p:cTn id="20" dur="500" fill="hold"/>
                                        <p:tgtEl>
                                          <p:spTgt spid="9"/>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anim calcmode="lin" valueType="num">
                                      <p:cBhvr additive="base">
                                        <p:cTn id="24" dur="500" fill="hold"/>
                                        <p:tgtEl>
                                          <p:spTgt spid="13"/>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anim calcmode="lin" valueType="num">
                                      <p:cBhvr additive="base">
                                        <p:cTn id="28" dur="500" fill="hold"/>
                                        <p:tgtEl>
                                          <p:spTgt spid="17"/>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anim calcmode="lin" valueType="num">
                                      <p:cBhvr additive="base">
                                        <p:cTn id="32" dur="500" fill="hold"/>
                                        <p:tgtEl>
                                          <p:spTgt spid="21"/>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anim calcmode="lin" valueType="num">
                                      <p:cBhvr additive="base">
                                        <p:cTn id="36" dur="500" fill="hold"/>
                                        <p:tgtEl>
                                          <p:spTgt spid="25"/>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30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anim calcmode="lin" valueType="num">
                                      <p:cBhvr additive="base">
                                        <p:cTn id="40" dur="500" fill="hold"/>
                                        <p:tgtEl>
                                          <p:spTgt spid="29"/>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3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anim calcmode="lin" valueType="num">
                                      <p:cBhvr additive="base">
                                        <p:cTn id="44" dur="500" fill="hold"/>
                                        <p:tgtEl>
                                          <p:spTgt spid="33"/>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additive="base">
                                        <p:cTn id="48" dur="500" fill="hold"/>
                                        <p:tgtEl>
                                          <p:spTgt spid="6"/>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195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additive="base">
                                        <p:cTn id="52" dur="500" fill="hold"/>
                                        <p:tgtEl>
                                          <p:spTgt spid="10"/>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19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195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additive="base">
                                        <p:cTn id="60" dur="500" fill="hold"/>
                                        <p:tgtEl>
                                          <p:spTgt spid="18"/>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195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anim calcmode="lin" valueType="num">
                                      <p:cBhvr additive="base">
                                        <p:cTn id="64" dur="500" fill="hold"/>
                                        <p:tgtEl>
                                          <p:spTgt spid="22"/>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195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additive="base">
                                        <p:cTn id="68" dur="500" fill="hold"/>
                                        <p:tgtEl>
                                          <p:spTgt spid="26"/>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195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anim calcmode="lin" valueType="num">
                                      <p:cBhvr additive="base">
                                        <p:cTn id="72" dur="500" fill="hold"/>
                                        <p:tgtEl>
                                          <p:spTgt spid="30"/>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195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anim calcmode="lin" valueType="num">
                                      <p:cBhvr additive="base">
                                        <p:cTn id="76" dur="500" fill="hold"/>
                                        <p:tgtEl>
                                          <p:spTgt spid="34"/>
                                        </p:tgtEl>
                                        <p:attrNameLst>
                                          <p:attrName>ppt_y</p:attrName>
                                        </p:attrNameLst>
                                      </p:cBhvr>
                                      <p:tavLst>
                                        <p:tav tm="0">
                                          <p:val>
                                            <p:strVal val="#ppt_y+.025"/>
                                          </p:val>
                                        </p:tav>
                                        <p:tav tm="100000">
                                          <p:val>
                                            <p:strVal val="#ppt_y"/>
                                          </p:val>
                                        </p:tav>
                                      </p:tavLst>
                                    </p:anim>
                                  </p:childTnLst>
                                </p:cTn>
                              </p:par>
                              <p:par>
                                <p:cTn id="77" presetID="10" presetClass="entr" presetSubtype="0" fill="hold" grpId="0" nodeType="withEffect">
                                  <p:stCondLst>
                                    <p:cond delay="195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500"/>
                                        <p:tgtEl>
                                          <p:spTgt spid="4"/>
                                        </p:tgtEl>
                                      </p:cBhvr>
                                    </p:animEffect>
                                    <p:anim calcmode="lin" valueType="num">
                                      <p:cBhvr additive="base">
                                        <p:cTn id="80" dur="500" fill="hold"/>
                                        <p:tgtEl>
                                          <p:spTgt spid="4"/>
                                        </p:tgtEl>
                                        <p:attrNameLst>
                                          <p:attrName>ppt_y</p:attrName>
                                        </p:attrNameLst>
                                      </p:cBhvr>
                                      <p:tavLst>
                                        <p:tav tm="0">
                                          <p:val>
                                            <p:strVal val="#ppt_y+.025"/>
                                          </p:val>
                                        </p:tav>
                                        <p:tav tm="100000">
                                          <p:val>
                                            <p:strVal val="#ppt_y"/>
                                          </p:val>
                                        </p:tav>
                                      </p:tavLst>
                                    </p:anim>
                                  </p:childTnLst>
                                </p:cTn>
                              </p:par>
                              <p:par>
                                <p:cTn id="81" presetID="10" presetClass="entr" presetSubtype="0" fill="hold" grpId="0" nodeType="withEffect">
                                  <p:stCondLst>
                                    <p:cond delay="2600"/>
                                  </p:stCondLst>
                                  <p:childTnLst>
                                    <p:set>
                                      <p:cBhvr>
                                        <p:cTn id="82" dur="1" fill="hold">
                                          <p:stCondLst>
                                            <p:cond delay="0"/>
                                          </p:stCondLst>
                                        </p:cTn>
                                        <p:tgtEl>
                                          <p:spTgt spid="7"/>
                                        </p:tgtEl>
                                        <p:attrNameLst>
                                          <p:attrName>style.visibility</p:attrName>
                                        </p:attrNameLst>
                                      </p:cBhvr>
                                      <p:to>
                                        <p:strVal val="visible"/>
                                      </p:to>
                                    </p:set>
                                    <p:animEffect transition="in" filter="fade">
                                      <p:cBhvr>
                                        <p:cTn id="83" dur="500"/>
                                        <p:tgtEl>
                                          <p:spTgt spid="7"/>
                                        </p:tgtEl>
                                      </p:cBhvr>
                                    </p:animEffect>
                                    <p:anim calcmode="lin" valueType="num">
                                      <p:cBhvr additive="base">
                                        <p:cTn id="84" dur="500" fill="hold"/>
                                        <p:tgtEl>
                                          <p:spTgt spid="7"/>
                                        </p:tgtEl>
                                        <p:attrNameLst>
                                          <p:attrName>ppt_y</p:attrName>
                                        </p:attrNameLst>
                                      </p:cBhvr>
                                      <p:tavLst>
                                        <p:tav tm="0">
                                          <p:val>
                                            <p:strVal val="#ppt_y+.025"/>
                                          </p:val>
                                        </p:tav>
                                        <p:tav tm="100000">
                                          <p:val>
                                            <p:strVal val="#ppt_y"/>
                                          </p:val>
                                        </p:tav>
                                      </p:tavLst>
                                    </p:anim>
                                  </p:childTnLst>
                                </p:cTn>
                              </p:par>
                              <p:par>
                                <p:cTn id="85" presetID="10" presetClass="entr" presetSubtype="0" fill="hold" grpId="0" nodeType="withEffect">
                                  <p:stCondLst>
                                    <p:cond delay="2600"/>
                                  </p:stCondLst>
                                  <p:childTnLst>
                                    <p:set>
                                      <p:cBhvr>
                                        <p:cTn id="86" dur="1" fill="hold">
                                          <p:stCondLst>
                                            <p:cond delay="0"/>
                                          </p:stCondLst>
                                        </p:cTn>
                                        <p:tgtEl>
                                          <p:spTgt spid="11"/>
                                        </p:tgtEl>
                                        <p:attrNameLst>
                                          <p:attrName>style.visibility</p:attrName>
                                        </p:attrNameLst>
                                      </p:cBhvr>
                                      <p:to>
                                        <p:strVal val="visible"/>
                                      </p:to>
                                    </p:set>
                                    <p:animEffect transition="in" filter="fade">
                                      <p:cBhvr>
                                        <p:cTn id="87" dur="500"/>
                                        <p:tgtEl>
                                          <p:spTgt spid="11"/>
                                        </p:tgtEl>
                                      </p:cBhvr>
                                    </p:animEffect>
                                    <p:anim calcmode="lin" valueType="num">
                                      <p:cBhvr additive="base">
                                        <p:cTn id="88" dur="500" fill="hold"/>
                                        <p:tgtEl>
                                          <p:spTgt spid="11"/>
                                        </p:tgtEl>
                                        <p:attrNameLst>
                                          <p:attrName>ppt_y</p:attrName>
                                        </p:attrNameLst>
                                      </p:cBhvr>
                                      <p:tavLst>
                                        <p:tav tm="0">
                                          <p:val>
                                            <p:strVal val="#ppt_y+.025"/>
                                          </p:val>
                                        </p:tav>
                                        <p:tav tm="100000">
                                          <p:val>
                                            <p:strVal val="#ppt_y"/>
                                          </p:val>
                                        </p:tav>
                                      </p:tavLst>
                                    </p:anim>
                                  </p:childTnLst>
                                </p:cTn>
                              </p:par>
                              <p:par>
                                <p:cTn id="89" presetID="10" presetClass="entr" presetSubtype="0" fill="hold" grpId="0" nodeType="withEffect">
                                  <p:stCondLst>
                                    <p:cond delay="2600"/>
                                  </p:stCondLst>
                                  <p:childTnLst>
                                    <p:set>
                                      <p:cBhvr>
                                        <p:cTn id="90" dur="1" fill="hold">
                                          <p:stCondLst>
                                            <p:cond delay="0"/>
                                          </p:stCondLst>
                                        </p:cTn>
                                        <p:tgtEl>
                                          <p:spTgt spid="15"/>
                                        </p:tgtEl>
                                        <p:attrNameLst>
                                          <p:attrName>style.visibility</p:attrName>
                                        </p:attrNameLst>
                                      </p:cBhvr>
                                      <p:to>
                                        <p:strVal val="visible"/>
                                      </p:to>
                                    </p:set>
                                    <p:animEffect transition="in" filter="fade">
                                      <p:cBhvr>
                                        <p:cTn id="91" dur="500"/>
                                        <p:tgtEl>
                                          <p:spTgt spid="15"/>
                                        </p:tgtEl>
                                      </p:cBhvr>
                                    </p:animEffect>
                                    <p:anim calcmode="lin" valueType="num">
                                      <p:cBhvr additive="base">
                                        <p:cTn id="92" dur="500" fill="hold"/>
                                        <p:tgtEl>
                                          <p:spTgt spid="15"/>
                                        </p:tgtEl>
                                        <p:attrNameLst>
                                          <p:attrName>ppt_y</p:attrName>
                                        </p:attrNameLst>
                                      </p:cBhvr>
                                      <p:tavLst>
                                        <p:tav tm="0">
                                          <p:val>
                                            <p:strVal val="#ppt_y+.025"/>
                                          </p:val>
                                        </p:tav>
                                        <p:tav tm="100000">
                                          <p:val>
                                            <p:strVal val="#ppt_y"/>
                                          </p:val>
                                        </p:tav>
                                      </p:tavLst>
                                    </p:anim>
                                  </p:childTnLst>
                                </p:cTn>
                              </p:par>
                              <p:par>
                                <p:cTn id="93" presetID="10" presetClass="entr" presetSubtype="0" fill="hold" grpId="0" nodeType="withEffect">
                                  <p:stCondLst>
                                    <p:cond delay="260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00"/>
                                        <p:tgtEl>
                                          <p:spTgt spid="19"/>
                                        </p:tgtEl>
                                      </p:cBhvr>
                                    </p:animEffect>
                                    <p:anim calcmode="lin" valueType="num">
                                      <p:cBhvr additive="base">
                                        <p:cTn id="96" dur="500" fill="hold"/>
                                        <p:tgtEl>
                                          <p:spTgt spid="19"/>
                                        </p:tgtEl>
                                        <p:attrNameLst>
                                          <p:attrName>ppt_y</p:attrName>
                                        </p:attrNameLst>
                                      </p:cBhvr>
                                      <p:tavLst>
                                        <p:tav tm="0">
                                          <p:val>
                                            <p:strVal val="#ppt_y+.025"/>
                                          </p:val>
                                        </p:tav>
                                        <p:tav tm="100000">
                                          <p:val>
                                            <p:strVal val="#ppt_y"/>
                                          </p:val>
                                        </p:tav>
                                      </p:tavLst>
                                    </p:anim>
                                  </p:childTnLst>
                                </p:cTn>
                              </p:par>
                              <p:par>
                                <p:cTn id="97" presetID="10" presetClass="entr" presetSubtype="0" fill="hold" grpId="0" nodeType="withEffect">
                                  <p:stCondLst>
                                    <p:cond delay="260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500"/>
                                        <p:tgtEl>
                                          <p:spTgt spid="23"/>
                                        </p:tgtEl>
                                      </p:cBhvr>
                                    </p:animEffect>
                                    <p:anim calcmode="lin" valueType="num">
                                      <p:cBhvr additive="base">
                                        <p:cTn id="100" dur="500" fill="hold"/>
                                        <p:tgtEl>
                                          <p:spTgt spid="23"/>
                                        </p:tgtEl>
                                        <p:attrNameLst>
                                          <p:attrName>ppt_y</p:attrName>
                                        </p:attrNameLst>
                                      </p:cBhvr>
                                      <p:tavLst>
                                        <p:tav tm="0">
                                          <p:val>
                                            <p:strVal val="#ppt_y+.025"/>
                                          </p:val>
                                        </p:tav>
                                        <p:tav tm="100000">
                                          <p:val>
                                            <p:strVal val="#ppt_y"/>
                                          </p:val>
                                        </p:tav>
                                      </p:tavLst>
                                    </p:anim>
                                  </p:childTnLst>
                                </p:cTn>
                              </p:par>
                              <p:par>
                                <p:cTn id="101" presetID="10" presetClass="entr" presetSubtype="0" fill="hold" grpId="0" nodeType="withEffect">
                                  <p:stCondLst>
                                    <p:cond delay="260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500"/>
                                        <p:tgtEl>
                                          <p:spTgt spid="27"/>
                                        </p:tgtEl>
                                      </p:cBhvr>
                                    </p:animEffect>
                                    <p:anim calcmode="lin" valueType="num">
                                      <p:cBhvr additive="base">
                                        <p:cTn id="104" dur="500" fill="hold"/>
                                        <p:tgtEl>
                                          <p:spTgt spid="27"/>
                                        </p:tgtEl>
                                        <p:attrNameLst>
                                          <p:attrName>ppt_y</p:attrName>
                                        </p:attrNameLst>
                                      </p:cBhvr>
                                      <p:tavLst>
                                        <p:tav tm="0">
                                          <p:val>
                                            <p:strVal val="#ppt_y+.025"/>
                                          </p:val>
                                        </p:tav>
                                        <p:tav tm="100000">
                                          <p:val>
                                            <p:strVal val="#ppt_y"/>
                                          </p:val>
                                        </p:tav>
                                      </p:tavLst>
                                    </p:anim>
                                  </p:childTnLst>
                                </p:cTn>
                              </p:par>
                              <p:par>
                                <p:cTn id="105" presetID="10" presetClass="entr" presetSubtype="0" fill="hold" grpId="0" nodeType="withEffect">
                                  <p:stCondLst>
                                    <p:cond delay="260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anim calcmode="lin" valueType="num">
                                      <p:cBhvr additive="base">
                                        <p:cTn id="108" dur="500" fill="hold"/>
                                        <p:tgtEl>
                                          <p:spTgt spid="31"/>
                                        </p:tgtEl>
                                        <p:attrNameLst>
                                          <p:attrName>ppt_y</p:attrName>
                                        </p:attrNameLst>
                                      </p:cBhvr>
                                      <p:tavLst>
                                        <p:tav tm="0">
                                          <p:val>
                                            <p:strVal val="#ppt_y+.025"/>
                                          </p:val>
                                        </p:tav>
                                        <p:tav tm="100000">
                                          <p:val>
                                            <p:strVal val="#ppt_y"/>
                                          </p:val>
                                        </p:tav>
                                      </p:tavLst>
                                    </p:anim>
                                  </p:childTnLst>
                                </p:cTn>
                              </p:par>
                              <p:par>
                                <p:cTn id="109" presetID="10" presetClass="entr" presetSubtype="0" fill="hold" grpId="0" nodeType="withEffect">
                                  <p:stCondLst>
                                    <p:cond delay="260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500"/>
                                        <p:tgtEl>
                                          <p:spTgt spid="35"/>
                                        </p:tgtEl>
                                      </p:cBhvr>
                                    </p:animEffect>
                                    <p:anim calcmode="lin" valueType="num">
                                      <p:cBhvr additive="base">
                                        <p:cTn id="112" dur="500" fill="hold"/>
                                        <p:tgtEl>
                                          <p:spTgt spid="35"/>
                                        </p:tgtEl>
                                        <p:attrNameLst>
                                          <p:attrName>ppt_y</p:attrName>
                                        </p:attrNameLst>
                                      </p:cBhvr>
                                      <p:tavLst>
                                        <p:tav tm="0">
                                          <p:val>
                                            <p:strVal val="#ppt_y+.025"/>
                                          </p:val>
                                        </p:tav>
                                        <p:tav tm="100000">
                                          <p:val>
                                            <p:strVal val="#ppt_y"/>
                                          </p:val>
                                        </p:tav>
                                      </p:tavLst>
                                    </p:anim>
                                  </p:childTnLst>
                                </p:cTn>
                              </p:par>
                              <p:par>
                                <p:cTn id="113" presetID="10" presetClass="entr" presetSubtype="0" fill="hold" grpId="0" nodeType="withEffect">
                                  <p:stCondLst>
                                    <p:cond delay="3250"/>
                                  </p:stCondLst>
                                  <p:childTnLst>
                                    <p:set>
                                      <p:cBhvr>
                                        <p:cTn id="114" dur="1" fill="hold">
                                          <p:stCondLst>
                                            <p:cond delay="0"/>
                                          </p:stCondLst>
                                        </p:cTn>
                                        <p:tgtEl>
                                          <p:spTgt spid="8"/>
                                        </p:tgtEl>
                                        <p:attrNameLst>
                                          <p:attrName>style.visibility</p:attrName>
                                        </p:attrNameLst>
                                      </p:cBhvr>
                                      <p:to>
                                        <p:strVal val="visible"/>
                                      </p:to>
                                    </p:set>
                                    <p:animEffect transition="in" filter="fade">
                                      <p:cBhvr>
                                        <p:cTn id="115" dur="500"/>
                                        <p:tgtEl>
                                          <p:spTgt spid="8"/>
                                        </p:tgtEl>
                                      </p:cBhvr>
                                    </p:animEffect>
                                    <p:anim calcmode="lin" valueType="num">
                                      <p:cBhvr additive="base">
                                        <p:cTn id="116" dur="500" fill="hold"/>
                                        <p:tgtEl>
                                          <p:spTgt spid="8"/>
                                        </p:tgtEl>
                                        <p:attrNameLst>
                                          <p:attrName>ppt_y</p:attrName>
                                        </p:attrNameLst>
                                      </p:cBhvr>
                                      <p:tavLst>
                                        <p:tav tm="0">
                                          <p:val>
                                            <p:strVal val="#ppt_y+.025"/>
                                          </p:val>
                                        </p:tav>
                                        <p:tav tm="100000">
                                          <p:val>
                                            <p:strVal val="#ppt_y"/>
                                          </p:val>
                                        </p:tav>
                                      </p:tavLst>
                                    </p:anim>
                                  </p:childTnLst>
                                </p:cTn>
                              </p:par>
                              <p:par>
                                <p:cTn id="117" presetID="10" presetClass="entr" presetSubtype="0" fill="hold" grpId="0" nodeType="withEffect">
                                  <p:stCondLst>
                                    <p:cond delay="3250"/>
                                  </p:stCondLst>
                                  <p:childTnLst>
                                    <p:set>
                                      <p:cBhvr>
                                        <p:cTn id="118" dur="1" fill="hold">
                                          <p:stCondLst>
                                            <p:cond delay="0"/>
                                          </p:stCondLst>
                                        </p:cTn>
                                        <p:tgtEl>
                                          <p:spTgt spid="12"/>
                                        </p:tgtEl>
                                        <p:attrNameLst>
                                          <p:attrName>style.visibility</p:attrName>
                                        </p:attrNameLst>
                                      </p:cBhvr>
                                      <p:to>
                                        <p:strVal val="visible"/>
                                      </p:to>
                                    </p:set>
                                    <p:animEffect transition="in" filter="fade">
                                      <p:cBhvr>
                                        <p:cTn id="119" dur="500"/>
                                        <p:tgtEl>
                                          <p:spTgt spid="12"/>
                                        </p:tgtEl>
                                      </p:cBhvr>
                                    </p:animEffect>
                                    <p:anim calcmode="lin" valueType="num">
                                      <p:cBhvr additive="base">
                                        <p:cTn id="120" dur="500" fill="hold"/>
                                        <p:tgtEl>
                                          <p:spTgt spid="12"/>
                                        </p:tgtEl>
                                        <p:attrNameLst>
                                          <p:attrName>ppt_y</p:attrName>
                                        </p:attrNameLst>
                                      </p:cBhvr>
                                      <p:tavLst>
                                        <p:tav tm="0">
                                          <p:val>
                                            <p:strVal val="#ppt_y+.025"/>
                                          </p:val>
                                        </p:tav>
                                        <p:tav tm="100000">
                                          <p:val>
                                            <p:strVal val="#ppt_y"/>
                                          </p:val>
                                        </p:tav>
                                      </p:tavLst>
                                    </p:anim>
                                  </p:childTnLst>
                                </p:cTn>
                              </p:par>
                              <p:par>
                                <p:cTn id="121" presetID="10" presetClass="entr" presetSubtype="0" fill="hold" grpId="0" nodeType="withEffect">
                                  <p:stCondLst>
                                    <p:cond delay="3250"/>
                                  </p:stCondLst>
                                  <p:childTnLst>
                                    <p:set>
                                      <p:cBhvr>
                                        <p:cTn id="122" dur="1" fill="hold">
                                          <p:stCondLst>
                                            <p:cond delay="0"/>
                                          </p:stCondLst>
                                        </p:cTn>
                                        <p:tgtEl>
                                          <p:spTgt spid="16"/>
                                        </p:tgtEl>
                                        <p:attrNameLst>
                                          <p:attrName>style.visibility</p:attrName>
                                        </p:attrNameLst>
                                      </p:cBhvr>
                                      <p:to>
                                        <p:strVal val="visible"/>
                                      </p:to>
                                    </p:set>
                                    <p:animEffect transition="in" filter="fade">
                                      <p:cBhvr>
                                        <p:cTn id="123" dur="500"/>
                                        <p:tgtEl>
                                          <p:spTgt spid="16"/>
                                        </p:tgtEl>
                                      </p:cBhvr>
                                    </p:animEffect>
                                    <p:anim calcmode="lin" valueType="num">
                                      <p:cBhvr additive="base">
                                        <p:cTn id="124" dur="500" fill="hold"/>
                                        <p:tgtEl>
                                          <p:spTgt spid="16"/>
                                        </p:tgtEl>
                                        <p:attrNameLst>
                                          <p:attrName>ppt_y</p:attrName>
                                        </p:attrNameLst>
                                      </p:cBhvr>
                                      <p:tavLst>
                                        <p:tav tm="0">
                                          <p:val>
                                            <p:strVal val="#ppt_y+.025"/>
                                          </p:val>
                                        </p:tav>
                                        <p:tav tm="100000">
                                          <p:val>
                                            <p:strVal val="#ppt_y"/>
                                          </p:val>
                                        </p:tav>
                                      </p:tavLst>
                                    </p:anim>
                                  </p:childTnLst>
                                </p:cTn>
                              </p:par>
                              <p:par>
                                <p:cTn id="125" presetID="10" presetClass="entr" presetSubtype="0" fill="hold" grpId="0" nodeType="withEffect">
                                  <p:stCondLst>
                                    <p:cond delay="3250"/>
                                  </p:stCondLst>
                                  <p:childTnLst>
                                    <p:set>
                                      <p:cBhvr>
                                        <p:cTn id="126" dur="1" fill="hold">
                                          <p:stCondLst>
                                            <p:cond delay="0"/>
                                          </p:stCondLst>
                                        </p:cTn>
                                        <p:tgtEl>
                                          <p:spTgt spid="20"/>
                                        </p:tgtEl>
                                        <p:attrNameLst>
                                          <p:attrName>style.visibility</p:attrName>
                                        </p:attrNameLst>
                                      </p:cBhvr>
                                      <p:to>
                                        <p:strVal val="visible"/>
                                      </p:to>
                                    </p:set>
                                    <p:animEffect transition="in" filter="fade">
                                      <p:cBhvr>
                                        <p:cTn id="127" dur="500"/>
                                        <p:tgtEl>
                                          <p:spTgt spid="20"/>
                                        </p:tgtEl>
                                      </p:cBhvr>
                                    </p:animEffect>
                                    <p:anim calcmode="lin" valueType="num">
                                      <p:cBhvr additive="base">
                                        <p:cTn id="128" dur="500" fill="hold"/>
                                        <p:tgtEl>
                                          <p:spTgt spid="20"/>
                                        </p:tgtEl>
                                        <p:attrNameLst>
                                          <p:attrName>ppt_y</p:attrName>
                                        </p:attrNameLst>
                                      </p:cBhvr>
                                      <p:tavLst>
                                        <p:tav tm="0">
                                          <p:val>
                                            <p:strVal val="#ppt_y+.025"/>
                                          </p:val>
                                        </p:tav>
                                        <p:tav tm="100000">
                                          <p:val>
                                            <p:strVal val="#ppt_y"/>
                                          </p:val>
                                        </p:tav>
                                      </p:tavLst>
                                    </p:anim>
                                  </p:childTnLst>
                                </p:cTn>
                              </p:par>
                              <p:par>
                                <p:cTn id="129" presetID="10" presetClass="entr" presetSubtype="0" fill="hold" grpId="0" nodeType="withEffect">
                                  <p:stCondLst>
                                    <p:cond delay="3250"/>
                                  </p:stCondLst>
                                  <p:childTnLst>
                                    <p:set>
                                      <p:cBhvr>
                                        <p:cTn id="130" dur="1" fill="hold">
                                          <p:stCondLst>
                                            <p:cond delay="0"/>
                                          </p:stCondLst>
                                        </p:cTn>
                                        <p:tgtEl>
                                          <p:spTgt spid="24"/>
                                        </p:tgtEl>
                                        <p:attrNameLst>
                                          <p:attrName>style.visibility</p:attrName>
                                        </p:attrNameLst>
                                      </p:cBhvr>
                                      <p:to>
                                        <p:strVal val="visible"/>
                                      </p:to>
                                    </p:set>
                                    <p:animEffect transition="in" filter="fade">
                                      <p:cBhvr>
                                        <p:cTn id="131" dur="500"/>
                                        <p:tgtEl>
                                          <p:spTgt spid="24"/>
                                        </p:tgtEl>
                                      </p:cBhvr>
                                    </p:animEffect>
                                    <p:anim calcmode="lin" valueType="num">
                                      <p:cBhvr additive="base">
                                        <p:cTn id="132" dur="500" fill="hold"/>
                                        <p:tgtEl>
                                          <p:spTgt spid="24"/>
                                        </p:tgtEl>
                                        <p:attrNameLst>
                                          <p:attrName>ppt_y</p:attrName>
                                        </p:attrNameLst>
                                      </p:cBhvr>
                                      <p:tavLst>
                                        <p:tav tm="0">
                                          <p:val>
                                            <p:strVal val="#ppt_y+.025"/>
                                          </p:val>
                                        </p:tav>
                                        <p:tav tm="100000">
                                          <p:val>
                                            <p:strVal val="#ppt_y"/>
                                          </p:val>
                                        </p:tav>
                                      </p:tavLst>
                                    </p:anim>
                                  </p:childTnLst>
                                </p:cTn>
                              </p:par>
                              <p:par>
                                <p:cTn id="133" presetID="10" presetClass="entr" presetSubtype="0" fill="hold" grpId="0" nodeType="withEffect">
                                  <p:stCondLst>
                                    <p:cond delay="3250"/>
                                  </p:stCondLst>
                                  <p:childTnLst>
                                    <p:set>
                                      <p:cBhvr>
                                        <p:cTn id="134" dur="1" fill="hold">
                                          <p:stCondLst>
                                            <p:cond delay="0"/>
                                          </p:stCondLst>
                                        </p:cTn>
                                        <p:tgtEl>
                                          <p:spTgt spid="28"/>
                                        </p:tgtEl>
                                        <p:attrNameLst>
                                          <p:attrName>style.visibility</p:attrName>
                                        </p:attrNameLst>
                                      </p:cBhvr>
                                      <p:to>
                                        <p:strVal val="visible"/>
                                      </p:to>
                                    </p:set>
                                    <p:animEffect transition="in" filter="fade">
                                      <p:cBhvr>
                                        <p:cTn id="135" dur="500"/>
                                        <p:tgtEl>
                                          <p:spTgt spid="28"/>
                                        </p:tgtEl>
                                      </p:cBhvr>
                                    </p:animEffect>
                                    <p:anim calcmode="lin" valueType="num">
                                      <p:cBhvr additive="base">
                                        <p:cTn id="136" dur="500" fill="hold"/>
                                        <p:tgtEl>
                                          <p:spTgt spid="28"/>
                                        </p:tgtEl>
                                        <p:attrNameLst>
                                          <p:attrName>ppt_y</p:attrName>
                                        </p:attrNameLst>
                                      </p:cBhvr>
                                      <p:tavLst>
                                        <p:tav tm="0">
                                          <p:val>
                                            <p:strVal val="#ppt_y+.025"/>
                                          </p:val>
                                        </p:tav>
                                        <p:tav tm="100000">
                                          <p:val>
                                            <p:strVal val="#ppt_y"/>
                                          </p:val>
                                        </p:tav>
                                      </p:tavLst>
                                    </p:anim>
                                  </p:childTnLst>
                                </p:cTn>
                              </p:par>
                              <p:par>
                                <p:cTn id="137" presetID="10" presetClass="entr" presetSubtype="0" fill="hold" grpId="0" nodeType="withEffect">
                                  <p:stCondLst>
                                    <p:cond delay="3250"/>
                                  </p:stCondLst>
                                  <p:childTnLst>
                                    <p:set>
                                      <p:cBhvr>
                                        <p:cTn id="138" dur="1" fill="hold">
                                          <p:stCondLst>
                                            <p:cond delay="0"/>
                                          </p:stCondLst>
                                        </p:cTn>
                                        <p:tgtEl>
                                          <p:spTgt spid="32"/>
                                        </p:tgtEl>
                                        <p:attrNameLst>
                                          <p:attrName>style.visibility</p:attrName>
                                        </p:attrNameLst>
                                      </p:cBhvr>
                                      <p:to>
                                        <p:strVal val="visible"/>
                                      </p:to>
                                    </p:set>
                                    <p:animEffect transition="in" filter="fade">
                                      <p:cBhvr>
                                        <p:cTn id="139" dur="500"/>
                                        <p:tgtEl>
                                          <p:spTgt spid="32"/>
                                        </p:tgtEl>
                                      </p:cBhvr>
                                    </p:animEffect>
                                    <p:anim calcmode="lin" valueType="num">
                                      <p:cBhvr additive="base">
                                        <p:cTn id="140" dur="500" fill="hold"/>
                                        <p:tgtEl>
                                          <p:spTgt spid="32"/>
                                        </p:tgtEl>
                                        <p:attrNameLst>
                                          <p:attrName>ppt_y</p:attrName>
                                        </p:attrNameLst>
                                      </p:cBhvr>
                                      <p:tavLst>
                                        <p:tav tm="0">
                                          <p:val>
                                            <p:strVal val="#ppt_y+.025"/>
                                          </p:val>
                                        </p:tav>
                                        <p:tav tm="100000">
                                          <p:val>
                                            <p:strVal val="#ppt_y"/>
                                          </p:val>
                                        </p:tav>
                                      </p:tavLst>
                                    </p:anim>
                                  </p:childTnLst>
                                </p:cTn>
                              </p:par>
                              <p:par>
                                <p:cTn id="141" presetID="10" presetClass="entr" presetSubtype="0" fill="hold" grpId="0" nodeType="withEffect">
                                  <p:stCondLst>
                                    <p:cond delay="3250"/>
                                  </p:stCondLst>
                                  <p:childTnLst>
                                    <p:set>
                                      <p:cBhvr>
                                        <p:cTn id="142" dur="1" fill="hold">
                                          <p:stCondLst>
                                            <p:cond delay="0"/>
                                          </p:stCondLst>
                                        </p:cTn>
                                        <p:tgtEl>
                                          <p:spTgt spid="36"/>
                                        </p:tgtEl>
                                        <p:attrNameLst>
                                          <p:attrName>style.visibility</p:attrName>
                                        </p:attrNameLst>
                                      </p:cBhvr>
                                      <p:to>
                                        <p:strVal val="visible"/>
                                      </p:to>
                                    </p:set>
                                    <p:animEffect transition="in" filter="fade">
                                      <p:cBhvr>
                                        <p:cTn id="143" dur="500"/>
                                        <p:tgtEl>
                                          <p:spTgt spid="36"/>
                                        </p:tgtEl>
                                      </p:cBhvr>
                                    </p:animEffect>
                                    <p:anim calcmode="lin" valueType="num">
                                      <p:cBhvr additive="base">
                                        <p:cTn id="144" dur="500" fill="hold"/>
                                        <p:tgtEl>
                                          <p:spTgt spid="3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9" grpId="0"/>
      <p:bldP spid="13" grpId="0"/>
      <p:bldP spid="17" grpId="0"/>
      <p:bldP spid="21" grpId="0"/>
      <p:bldP spid="25" grpId="0"/>
      <p:bldP spid="29" grpId="0"/>
      <p:bldP spid="33" grpId="0"/>
      <p:bldP spid="6" grpId="0"/>
      <p:bldP spid="10" grpId="0"/>
      <p:bldP spid="14" grpId="0"/>
      <p:bldP spid="18" grpId="0"/>
      <p:bldP spid="22" grpId="0"/>
      <p:bldP spid="26" grpId="0"/>
      <p:bldP spid="30" grpId="0"/>
      <p:bldP spid="34" grpId="0"/>
      <p:bldP spid="4" grpId="0"/>
      <p:bldP spid="7" grpId="0"/>
      <p:bldP spid="11" grpId="0"/>
      <p:bldP spid="15" grpId="0"/>
      <p:bldP spid="19" grpId="0"/>
      <p:bldP spid="23" grpId="0"/>
      <p:bldP spid="27" grpId="0"/>
      <p:bldP spid="31" grpId="0"/>
      <p:bldP spid="35" grpId="0"/>
      <p:bldP spid="8" grpId="0"/>
      <p:bldP spid="12" grpId="0"/>
      <p:bldP spid="16" grpId="0"/>
      <p:bldP spid="20" grpId="0"/>
      <p:bldP spid="24" grpId="0"/>
      <p:bldP spid="28" grpId="0"/>
      <p:bldP spid="32" grpId="0"/>
      <p:bldP spid="36" grpId="0"/>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ake-homage-to-paul-klee-1965.jpg"/>
          <p:cNvPicPr>
            <a:picLocks noChangeAspect="1"/>
          </p:cNvPicPr>
          <p:nvPr/>
        </p:nvPicPr>
        <p:blipFill>
          <a:blip r:embed="rId2"/>
          <a:stretch>
            <a:fillRect/>
          </a:stretch>
        </p:blipFill>
        <p:spPr>
          <a:xfrm>
            <a:off x="3333750" y="254000"/>
            <a:ext cx="5518150" cy="5588000"/>
          </a:xfrm>
          <a:prstGeom prst="rect">
            <a:avLst/>
          </a:prstGeom>
        </p:spPr>
      </p:pic>
      <p:sp>
        <p:nvSpPr>
          <p:cNvPr id="3" name="Rectangle 2"/>
          <p:cNvSpPr/>
          <p:nvPr/>
        </p:nvSpPr>
        <p:spPr>
          <a:xfrm>
            <a:off x="0" y="6096000"/>
            <a:ext cx="1219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1722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1965 · FRIEDER NAKE · HOMAGE TO PAUL KLEE</a:t>
            </a:r>
          </a:p>
        </p:txBody>
      </p:sp>
      <p:sp>
        <p:nvSpPr>
          <p:cNvPr id="5" name="TextBox 4"/>
          <p:cNvSpPr txBox="1"/>
          <p:nvPr/>
        </p:nvSpPr>
        <p:spPr>
          <a:xfrm>
            <a:off x="762000" y="6388100"/>
            <a:ext cx="9906000" cy="406400"/>
          </a:xfrm>
          <a:prstGeom prst="rect">
            <a:avLst/>
          </a:prstGeom>
          <a:noFill/>
        </p:spPr>
        <p:txBody>
          <a:bodyPr wrap="square" lIns="0" rIns="0" tIns="0" bIns="0" anchor="t">
            <a:noAutofit/>
          </a:bodyPr>
          <a:lstStyle/>
          <a:p>
            <a:pPr algn="l">
              <a:lnSpc>
                <a:spcPct val="96000"/>
              </a:lnSpc>
            </a:pPr>
            <a:r>
              <a:rPr sz="1800" b="0">
                <a:solidFill>
                  <a:srgbClr val="FFFFFF"/>
                </a:solidFill>
                <a:latin typeface="Inter"/>
              </a:rPr>
              <a:t>A program drew this. Screenprint after a plotter drawing, 49 x 49 cm. It hangs in the V&amp;A. Bense called it information aesthetics: beauty from rules, on purpose.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6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04 · MACHINE B · HOW IT LEARNS</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A guess, a correction, a million times.</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2000"/>
              </a:lnSpc>
            </a:pPr>
            <a:r>
              <a:rPr sz="2100" b="0">
                <a:solidFill>
                  <a:srgbClr val="2A323D"/>
                </a:solidFill>
                <a:latin typeface="Inter"/>
              </a:rPr>
              <a:t>Rosenblatt's perceptron, 1958: connections that adjust when the guess is wrong. Ignored for thirty years.</a:t>
            </a:r>
          </a:p>
          <a:p>
            <a:pPr algn="l" marL="304800" indent="-304800">
              <a:lnSpc>
                <a:spcPct val="112000"/>
              </a:lnSpc>
              <a:spcBef>
                <a:spcPts val="1350"/>
              </a:spcBef>
              <a:buClr>
                <a:srgbClr val="ED6D24"/>
              </a:buClr>
              <a:buFont typeface="Inter Black"/>
              <a:buChar char="·"/>
            </a:pPr>
            <a:r>
              <a:rPr sz="2100" b="0">
                <a:solidFill>
                  <a:srgbClr val="2A323D"/>
                </a:solidFill>
                <a:latin typeface="Inter"/>
              </a:rPr>
              <a:t>1986: backpropagation makes deep networks trainable (Rumelhart, Hinton, Williams). Hinton: Nobel Prize in Physics, 2024.</a:t>
            </a:r>
          </a:p>
          <a:p>
            <a:pPr algn="l" marL="304800" indent="-304800">
              <a:lnSpc>
                <a:spcPct val="112000"/>
              </a:lnSpc>
              <a:spcBef>
                <a:spcPts val="1350"/>
              </a:spcBef>
              <a:buClr>
                <a:srgbClr val="ED6D24"/>
              </a:buClr>
              <a:buFont typeface="Inter Black"/>
              <a:buChar char="·"/>
            </a:pPr>
            <a:r>
              <a:rPr sz="2100" b="0">
                <a:solidFill>
                  <a:srgbClr val="2A323D"/>
                </a:solidFill>
                <a:latin typeface="Inter"/>
              </a:rPr>
              <a:t>2012: AlexNet, trained on a million labelled photos, wins at seeing. The web gave the examples, gaming gave the chips.</a:t>
            </a:r>
          </a:p>
          <a:p>
            <a:pPr algn="l" marL="304800" indent="-304800">
              <a:lnSpc>
                <a:spcPct val="112000"/>
              </a:lnSpc>
              <a:spcBef>
                <a:spcPts val="1350"/>
              </a:spcBef>
              <a:buClr>
                <a:srgbClr val="ED6D24"/>
              </a:buClr>
              <a:buFont typeface="Inter Black"/>
              <a:buChar char="·"/>
            </a:pPr>
            <a:r>
              <a:rPr sz="2100" b="0">
                <a:solidFill>
                  <a:srgbClr val="2A323D"/>
                </a:solidFill>
                <a:latin typeface="Inter"/>
              </a:rPr>
              <a:t>2017: transformers, the architecture inside every chatbot. Week 4.</a:t>
            </a:r>
          </a:p>
        </p:txBody>
      </p:sp>
      <p:pic>
        <p:nvPicPr>
          <p:cNvPr id="5" name="Picture 4" descr="perceptron.png"/>
          <p:cNvPicPr>
            <a:picLocks noChangeAspect="1"/>
          </p:cNvPicPr>
          <p:nvPr/>
        </p:nvPicPr>
        <p:blipFill>
          <a:blip r:embed="rId2"/>
          <a:stretch>
            <a:fillRect/>
          </a:stretch>
        </p:blipFill>
        <p:spPr>
          <a:xfrm>
            <a:off x="6350000" y="1168400"/>
            <a:ext cx="5080000" cy="3556000"/>
          </a:xfrm>
          <a:prstGeom prst="rect">
            <a:avLst/>
          </a:prstGeom>
        </p:spPr>
      </p:pic>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32</a:t>
            </a:r>
          </a:p>
        </p:txBody>
      </p:sp>
      <p:pic>
        <p:nvPicPr>
          <p:cNvPr id="8"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additive="base">
                                        <p:cTn id="20"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2016 · ALPHAGO · WATCH BEFORE WEEK 3</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Move 37.</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Game two against Lee Sedol. AlphaGo plays a move the commentators call a mistake. It was not.</a:t>
            </a:r>
          </a:p>
          <a:p>
            <a:pPr algn="l" marL="304800" indent="-304800">
              <a:lnSpc>
                <a:spcPct val="110500"/>
              </a:lnSpc>
              <a:spcBef>
                <a:spcPts val="1350"/>
              </a:spcBef>
              <a:buClr>
                <a:srgbClr val="ED6D24"/>
              </a:buClr>
              <a:buFont typeface="Inter Black"/>
              <a:buChar char="·"/>
            </a:pPr>
            <a:r>
              <a:rPr sz="2250" b="0">
                <a:solidFill>
                  <a:srgbClr val="2A323D"/>
                </a:solidFill>
                <a:latin typeface="Inter"/>
              </a:rPr>
              <a:t>Trained on human games, then on millions of games against itself. Nobody ordered move 37.</a:t>
            </a:r>
          </a:p>
          <a:p>
            <a:pPr algn="l" marL="304800" indent="-304800">
              <a:lnSpc>
                <a:spcPct val="110500"/>
              </a:lnSpc>
              <a:spcBef>
                <a:spcPts val="1350"/>
              </a:spcBef>
              <a:buClr>
                <a:srgbClr val="ED6D24"/>
              </a:buClr>
              <a:buFont typeface="Inter Black"/>
              <a:buChar char="·"/>
            </a:pPr>
            <a:r>
              <a:rPr sz="2250" b="0">
                <a:solidFill>
                  <a:srgbClr val="2A323D"/>
                </a:solidFill>
                <a:latin typeface="Inter"/>
              </a:rPr>
              <a:t>Lovelace's objection meets a counter-example. Or an alien way of thinking that only looks creative.</a:t>
            </a:r>
          </a:p>
          <a:p>
            <a:pPr algn="l">
              <a:lnSpc>
                <a:spcPct val="110500"/>
              </a:lnSpc>
              <a:spcBef>
                <a:spcPts val="1350"/>
              </a:spcBef>
            </a:pPr>
            <a:r>
              <a:rPr sz="2250" b="0">
                <a:solidFill>
                  <a:srgbClr val="2A323D"/>
                </a:solidFill>
                <a:latin typeface="Inter"/>
              </a:rPr>
              <a:t>Watch the documentary before week 3. It is on the course playlist.</a:t>
            </a:r>
          </a:p>
        </p:txBody>
      </p:sp>
      <p:pic>
        <p:nvPicPr>
          <p:cNvPr id="5" name="Picture 4" descr="WXuK6gekU1Y.jpg"/>
          <p:cNvPicPr>
            <a:picLocks noChangeAspect="1"/>
          </p:cNvPicPr>
          <p:nvPr/>
        </p:nvPicPr>
        <p:blipFill>
          <a:blip r:embed="rId2"/>
          <a:srcRect t="12500" b="12500"/>
          <a:stretch>
            <a:fillRect/>
          </a:stretch>
        </p:blipFill>
        <p:spPr>
          <a:xfrm>
            <a:off x="6350000" y="1168400"/>
            <a:ext cx="5080000" cy="2857500"/>
          </a:xfrm>
          <a:prstGeom prst="rect">
            <a:avLst/>
          </a:prstGeom>
        </p:spPr>
      </p:pic>
      <p:sp>
        <p:nvSpPr>
          <p:cNvPr id="6" name="TextBox 5"/>
          <p:cNvSpPr txBox="1"/>
          <p:nvPr/>
        </p:nvSpPr>
        <p:spPr>
          <a:xfrm>
            <a:off x="6350000" y="4102100"/>
            <a:ext cx="5080000" cy="228600"/>
          </a:xfrm>
          <a:prstGeom prst="rect">
            <a:avLst/>
          </a:prstGeom>
          <a:noFill/>
        </p:spPr>
        <p:txBody>
          <a:bodyPr wrap="square" lIns="0" rIns="0" tIns="0" bIns="0" anchor="t">
            <a:noAutofit/>
          </a:bodyPr>
          <a:lstStyle/>
          <a:p>
            <a:pPr algn="l">
              <a:lnSpc>
                <a:spcPct val="95300"/>
              </a:lnSpc>
            </a:pPr>
            <a:r>
              <a:rPr sz="1650" b="0">
                <a:solidFill>
                  <a:srgbClr val="5C6470"/>
                </a:solidFill>
                <a:latin typeface="JetBrains Mono"/>
                <a:hlinkClick r:id="rId3"/>
              </a:rPr>
              <a:t>https://www.youtube.com/watch?v=WXuK6gekU1Y</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33</a:t>
            </a:r>
          </a:p>
        </p:txBody>
      </p:sp>
      <p:pic>
        <p:nvPicPr>
          <p:cNvPr id="9" name="chrome-logo" descr="polyu-design-logo.png"/>
          <p:cNvPicPr>
            <a:picLocks noChangeAspect="1"/>
          </p:cNvPicPr>
          <p:nvPr/>
        </p:nvPicPr>
        <p:blipFill>
          <a:blip r:embed="rId4"/>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additive="base">
                                        <p:cTn id="20" dur="500" fill="hold"/>
                                        <p:tgtEl>
                                          <p:spTgt spid="4"/>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9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p:bldP spid="6" grpId="0"/>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pic>
        <p:nvPicPr>
          <p:cNvPr id="2" name="Picture 1" descr="edmond-de-belamy.jpg"/>
          <p:cNvPicPr>
            <a:picLocks noChangeAspect="1"/>
          </p:cNvPicPr>
          <p:nvPr/>
        </p:nvPicPr>
        <p:blipFill>
          <a:blip r:embed="rId2"/>
          <a:srcRect t="10000" b="10000"/>
          <a:stretch>
            <a:fillRect/>
          </a:stretch>
        </p:blipFill>
        <p:spPr>
          <a:xfrm>
            <a:off x="0" y="0"/>
            <a:ext cx="12192000" cy="6096000"/>
          </a:xfrm>
          <a:prstGeom prst="rect">
            <a:avLst/>
          </a:prstGeom>
        </p:spPr>
      </p:pic>
      <p:sp>
        <p:nvSpPr>
          <p:cNvPr id="3" name="Rectangle 2"/>
          <p:cNvSpPr/>
          <p:nvPr/>
        </p:nvSpPr>
        <p:spPr>
          <a:xfrm>
            <a:off x="0" y="6096000"/>
            <a:ext cx="12192000" cy="762000"/>
          </a:xfrm>
          <a:prstGeom prst="rect">
            <a:avLst/>
          </a:prstGeom>
          <a:solidFill>
            <a:srgbClr val="000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1722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2018 · OBVIOUS · EDMOND DE BELAMY</a:t>
            </a:r>
          </a:p>
        </p:txBody>
      </p:sp>
      <p:sp>
        <p:nvSpPr>
          <p:cNvPr id="5" name="TextBox 4"/>
          <p:cNvSpPr txBox="1"/>
          <p:nvPr/>
        </p:nvSpPr>
        <p:spPr>
          <a:xfrm>
            <a:off x="762000" y="6388100"/>
            <a:ext cx="9906000" cy="406400"/>
          </a:xfrm>
          <a:prstGeom prst="rect">
            <a:avLst/>
          </a:prstGeom>
          <a:noFill/>
        </p:spPr>
        <p:txBody>
          <a:bodyPr wrap="square" lIns="0" rIns="0" tIns="0" bIns="0" anchor="t">
            <a:noAutofit/>
          </a:bodyPr>
          <a:lstStyle/>
          <a:p>
            <a:pPr algn="l">
              <a:lnSpc>
                <a:spcPct val="96000"/>
              </a:lnSpc>
            </a:pPr>
            <a:r>
              <a:rPr sz="1800" b="0">
                <a:solidFill>
                  <a:srgbClr val="FFFFFF"/>
                </a:solidFill>
                <a:latin typeface="Inter"/>
              </a:rPr>
              <a:t>Sold at Christie's for US$432,500. Signed, bottom right, with the loss function of the network that made it. Who is the author? Week 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6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D6D24"/>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05</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AI in design, now</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USING IT · INCORPORATING IT · THREE CASES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35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THE DISTINCTION THAT ORGANISES THE COURSE</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Using AI, or incorporating AI.</a:t>
            </a:r>
          </a:p>
        </p:txBody>
      </p:sp>
      <p:sp>
        <p:nvSpPr>
          <p:cNvPr id="4" name="Rectangle 3"/>
          <p:cNvSpPr/>
          <p:nvPr/>
        </p:nvSpPr>
        <p:spPr>
          <a:xfrm>
            <a:off x="762000" y="2362200"/>
            <a:ext cx="5207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52070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WEEKS 1 – 6 · THE PROCESS</a:t>
            </a:r>
          </a:p>
        </p:txBody>
      </p:sp>
      <p:sp>
        <p:nvSpPr>
          <p:cNvPr id="6" name="TextBox 5"/>
          <p:cNvSpPr txBox="1"/>
          <p:nvPr/>
        </p:nvSpPr>
        <p:spPr>
          <a:xfrm>
            <a:off x="762000" y="2844800"/>
            <a:ext cx="5207000" cy="825500"/>
          </a:xfrm>
          <a:prstGeom prst="rect">
            <a:avLst/>
          </a:prstGeom>
          <a:noFill/>
        </p:spPr>
        <p:txBody>
          <a:bodyPr wrap="square" lIns="0" rIns="0" tIns="0" bIns="0" anchor="t">
            <a:noAutofit/>
          </a:bodyPr>
          <a:lstStyle/>
          <a:p>
            <a:pPr algn="l">
              <a:lnSpc>
                <a:spcPct val="85600"/>
              </a:lnSpc>
            </a:pPr>
            <a:r>
              <a:rPr sz="3300" b="0" spc="-66">
                <a:solidFill>
                  <a:srgbClr val="000B1C"/>
                </a:solidFill>
                <a:latin typeface="Inter ExtraBold"/>
              </a:rPr>
              <a:t>Using AI</a:t>
            </a:r>
          </a:p>
        </p:txBody>
      </p:sp>
      <p:sp>
        <p:nvSpPr>
          <p:cNvPr id="7" name="TextBox 6"/>
          <p:cNvSpPr txBox="1"/>
          <p:nvPr/>
        </p:nvSpPr>
        <p:spPr>
          <a:xfrm>
            <a:off x="762000" y="3733800"/>
            <a:ext cx="520700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AI as a tool in </a:t>
            </a:r>
            <a:r>
              <a:rPr sz="2250" b="1">
                <a:solidFill>
                  <a:srgbClr val="2A323D"/>
                </a:solidFill>
                <a:latin typeface="Inter"/>
              </a:rPr>
              <a:t>how</a:t>
            </a:r>
            <a:r>
              <a:rPr sz="2250" b="0">
                <a:solidFill>
                  <a:srgbClr val="2A323D"/>
                </a:solidFill>
                <a:latin typeface="Inter"/>
              </a:rPr>
              <a:t> you design: a brief drafted with a chatbot, a moodboard from a diffusion model, generative fill, layouts from Figma Make.</a:t>
            </a:r>
          </a:p>
          <a:p>
            <a:pPr algn="l">
              <a:lnSpc>
                <a:spcPct val="110500"/>
              </a:lnSpc>
              <a:spcBef>
                <a:spcPts val="900"/>
              </a:spcBef>
            </a:pPr>
            <a:r>
              <a:rPr sz="2250" b="0">
                <a:solidFill>
                  <a:srgbClr val="2A323D"/>
                </a:solidFill>
                <a:latin typeface="Inter"/>
              </a:rPr>
              <a:t>You stay the author. You become the curator, the briefer, the editor.</a:t>
            </a:r>
          </a:p>
        </p:txBody>
      </p:sp>
      <p:sp>
        <p:nvSpPr>
          <p:cNvPr id="8" name="Rectangle 7"/>
          <p:cNvSpPr/>
          <p:nvPr/>
        </p:nvSpPr>
        <p:spPr>
          <a:xfrm>
            <a:off x="6223000" y="2362200"/>
            <a:ext cx="52070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0" y="2514600"/>
            <a:ext cx="52070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WEEKS 8 – 12 · THE PRODUCT</a:t>
            </a:r>
          </a:p>
        </p:txBody>
      </p:sp>
      <p:sp>
        <p:nvSpPr>
          <p:cNvPr id="10" name="TextBox 9"/>
          <p:cNvSpPr txBox="1"/>
          <p:nvPr/>
        </p:nvSpPr>
        <p:spPr>
          <a:xfrm>
            <a:off x="6223000" y="2844800"/>
            <a:ext cx="5207000" cy="825500"/>
          </a:xfrm>
          <a:prstGeom prst="rect">
            <a:avLst/>
          </a:prstGeom>
          <a:noFill/>
        </p:spPr>
        <p:txBody>
          <a:bodyPr wrap="square" lIns="0" rIns="0" tIns="0" bIns="0" anchor="t">
            <a:noAutofit/>
          </a:bodyPr>
          <a:lstStyle/>
          <a:p>
            <a:pPr algn="l">
              <a:lnSpc>
                <a:spcPct val="85600"/>
              </a:lnSpc>
            </a:pPr>
            <a:r>
              <a:rPr sz="3300" b="0" spc="-66">
                <a:solidFill>
                  <a:srgbClr val="000B1C"/>
                </a:solidFill>
                <a:latin typeface="Inter ExtraBold"/>
              </a:rPr>
              <a:t>Incorporating AI</a:t>
            </a:r>
          </a:p>
        </p:txBody>
      </p:sp>
      <p:sp>
        <p:nvSpPr>
          <p:cNvPr id="11" name="TextBox 10"/>
          <p:cNvSpPr txBox="1"/>
          <p:nvPr/>
        </p:nvSpPr>
        <p:spPr>
          <a:xfrm>
            <a:off x="6223000" y="3733800"/>
            <a:ext cx="520700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AI as a material in </a:t>
            </a:r>
            <a:r>
              <a:rPr sz="2250" b="1">
                <a:solidFill>
                  <a:srgbClr val="2A323D"/>
                </a:solidFill>
                <a:latin typeface="Inter"/>
              </a:rPr>
              <a:t>what</a:t>
            </a:r>
            <a:r>
              <a:rPr sz="2250" b="0">
                <a:solidFill>
                  <a:srgbClr val="2A323D"/>
                </a:solidFill>
                <a:latin typeface="Inter"/>
              </a:rPr>
              <a:t> you design: a feed, a recommendation, an assistant, a filter — the product decides something for each person, on its own.</a:t>
            </a:r>
          </a:p>
          <a:p>
            <a:pPr algn="l">
              <a:lnSpc>
                <a:spcPct val="110500"/>
              </a:lnSpc>
              <a:spcBef>
                <a:spcPts val="900"/>
              </a:spcBef>
            </a:pPr>
            <a:r>
              <a:rPr sz="2250" b="0">
                <a:solidFill>
                  <a:srgbClr val="2A323D"/>
                </a:solidFill>
                <a:latin typeface="Inter"/>
              </a:rPr>
              <a:t>You design a behaviour, not a picture. Data, bias, trust and accountability become design problems.</a:t>
            </a:r>
          </a:p>
        </p:txBody>
      </p:sp>
      <p:sp>
        <p:nvSpPr>
          <p:cNvPr id="12"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3"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36</a:t>
            </a:r>
          </a:p>
        </p:txBody>
      </p:sp>
      <p:pic>
        <p:nvPicPr>
          <p:cNvPr id="14"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anim calcmode="lin" valueType="num">
                                      <p:cBhvr additive="base">
                                        <p:cTn id="24" dur="500" fill="hold"/>
                                        <p:tgtEl>
                                          <p:spTgt spid="5"/>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additive="base">
                                        <p:cTn id="28" dur="500" fill="hold"/>
                                        <p:tgtEl>
                                          <p:spTgt spid="9"/>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95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anim calcmode="lin" valueType="num">
                                      <p:cBhvr additive="base">
                                        <p:cTn id="32" dur="500" fill="hold"/>
                                        <p:tgtEl>
                                          <p:spTgt spid="6"/>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9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additive="base">
                                        <p:cTn id="36" dur="500" fill="hold"/>
                                        <p:tgtEl>
                                          <p:spTgt spid="10"/>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260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anim calcmode="lin" valueType="num">
                                      <p:cBhvr additive="base">
                                        <p:cTn id="40" dur="500" fill="hold"/>
                                        <p:tgtEl>
                                          <p:spTgt spid="7"/>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26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anim calcmode="lin" valueType="num">
                                      <p:cBhvr additive="base">
                                        <p:cTn id="44" dur="500" fill="hold"/>
                                        <p:tgtEl>
                                          <p:spTgt spid="11"/>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5" grpId="0"/>
      <p:bldP spid="9" grpId="0"/>
      <p:bldP spid="6" grpId="0"/>
      <p:bldP spid="10" grpId="0"/>
      <p:bldP spid="7" grpId="0"/>
      <p:bldP spid="11" grpId="0"/>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THREE CASES</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What it looks like when it ships.</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USING · 2024</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Coca-Cola remakes its holiday ad with generative video</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2000"/>
              </a:lnSpc>
            </a:pPr>
            <a:r>
              <a:rPr sz="1800" b="0">
                <a:solidFill>
                  <a:srgbClr val="2A323D"/>
                </a:solidFill>
                <a:latin typeface="Inter"/>
              </a:rPr>
              <a:t>The trucks, the snow, the faces: made with generative video tools and finished by hand. Viewers noticed — the reception split. What did the audience see that the model did not? Craft is now a question of what you let through.</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INCORPORATING · SINCE 2017</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Netflix chooses a different poster for each viewer</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2000"/>
              </a:lnSpc>
            </a:pPr>
            <a:r>
              <a:rPr sz="1800" b="0">
                <a:solidFill>
                  <a:srgbClr val="2A323D"/>
                </a:solidFill>
                <a:latin typeface="Inter"/>
              </a:rPr>
              <a:t>The same film, several pieces of artwork; a model picks the one you are most likely to click. The poster designer no longer makes one image — they design a </a:t>
            </a:r>
            <a:r>
              <a:rPr sz="1800" b="1">
                <a:solidFill>
                  <a:srgbClr val="2A323D"/>
                </a:solidFill>
                <a:latin typeface="Inter"/>
              </a:rPr>
              <a:t>space</a:t>
            </a:r>
            <a:r>
              <a:rPr sz="1800" b="0">
                <a:solidFill>
                  <a:srgbClr val="2A323D"/>
                </a:solidFill>
                <a:latin typeface="Inter"/>
              </a:rPr>
              <a:t> of images and the rules for choosing.</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AI AS THE PRODUCT · 2024–25</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The Humane AI Pin</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2000"/>
              </a:lnSpc>
            </a:pPr>
            <a:r>
              <a:rPr sz="1800" b="0">
                <a:solidFill>
                  <a:srgbClr val="2A323D"/>
                </a:solidFill>
                <a:latin typeface="Inter"/>
              </a:rPr>
              <a:t>A wearable whose entire interface was an assistant. Beautiful hardware, launched at US$699, discontinued within a year. A model is not a product. The interaction, the trust and the failure states still have to be designed.</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37</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anim calcmode="lin" valueType="num">
                                      <p:cBhvr additive="base">
                                        <p:cTn id="28" dur="500" fill="hold"/>
                                        <p:tgtEl>
                                          <p:spTgt spid="5"/>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additive="base">
                                        <p:cTn id="32" dur="500" fill="hold"/>
                                        <p:tgtEl>
                                          <p:spTgt spid="9"/>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additive="base">
                                        <p:cTn id="36" dur="500" fill="hold"/>
                                        <p:tgtEl>
                                          <p:spTgt spid="13"/>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95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anim calcmode="lin" valueType="num">
                                      <p:cBhvr additive="base">
                                        <p:cTn id="40" dur="500" fill="hold"/>
                                        <p:tgtEl>
                                          <p:spTgt spid="6"/>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9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additive="base">
                                        <p:cTn id="44" dur="500" fill="hold"/>
                                        <p:tgtEl>
                                          <p:spTgt spid="10"/>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additive="base">
                                        <p:cTn id="48" dur="500" fill="hold"/>
                                        <p:tgtEl>
                                          <p:spTgt spid="14"/>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260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500"/>
                                        <p:tgtEl>
                                          <p:spTgt spid="7"/>
                                        </p:tgtEl>
                                      </p:cBhvr>
                                    </p:animEffect>
                                    <p:anim calcmode="lin" valueType="num">
                                      <p:cBhvr additive="base">
                                        <p:cTn id="52" dur="500" fill="hold"/>
                                        <p:tgtEl>
                                          <p:spTgt spid="7"/>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26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additive="base">
                                        <p:cTn id="56" dur="500" fill="hold"/>
                                        <p:tgtEl>
                                          <p:spTgt spid="11"/>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260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5" grpId="0"/>
      <p:bldP spid="9" grpId="0"/>
      <p:bldP spid="13" grpId="0"/>
      <p:bldP spid="6" grpId="0"/>
      <p:bldP spid="10" grpId="0"/>
      <p:bldP spid="14" grpId="0"/>
      <p:bldP spid="7" grpId="0"/>
      <p:bldP spid="11" grpId="0"/>
      <p:bldP spid="15" grpId="0"/>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QUESTION · SHORT ANSWER</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4900"/>
              </a:lnSpc>
            </a:pPr>
            <a:r>
              <a:rPr sz="6900" b="0" spc="-276">
                <a:solidFill>
                  <a:srgbClr val="000B1C"/>
                </a:solidFill>
                <a:latin typeface="Inter Black"/>
              </a:rPr>
              <a:t>Where did AI touch your design work this week?</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One example: a tool you used, a feed that chose for you, a product that answered back. A link if you have one.</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38</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8"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05 · THE COURSE PLAYLIST · BY NICOLÒ</a:t>
            </a:r>
          </a:p>
        </p:txBody>
      </p:sp>
      <p:sp>
        <p:nvSpPr>
          <p:cNvPr id="3" name="TextBox 2"/>
          <p:cNvSpPr txBox="1"/>
          <p:nvPr/>
        </p:nvSpPr>
        <p:spPr>
          <a:xfrm>
            <a:off x="762000" y="1168400"/>
            <a:ext cx="5080000" cy="1651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Fifteen videos, in the order we need them.</a:t>
            </a:r>
          </a:p>
        </p:txBody>
      </p:sp>
      <p:sp>
        <p:nvSpPr>
          <p:cNvPr id="4" name="TextBox 3"/>
          <p:cNvSpPr txBox="1"/>
          <p:nvPr/>
        </p:nvSpPr>
        <p:spPr>
          <a:xfrm>
            <a:off x="762000" y="3048000"/>
            <a:ext cx="5080000" cy="2984500"/>
          </a:xfrm>
          <a:prstGeom prst="rect">
            <a:avLst/>
          </a:prstGeom>
          <a:noFill/>
        </p:spPr>
        <p:txBody>
          <a:bodyPr wrap="square" lIns="0" rIns="0" tIns="0" bIns="0" anchor="t">
            <a:noAutofit/>
          </a:bodyPr>
          <a:lstStyle/>
          <a:p>
            <a:pPr algn="l">
              <a:lnSpc>
                <a:spcPct val="112000"/>
              </a:lnSpc>
            </a:pPr>
            <a:r>
              <a:rPr sz="2100" b="0">
                <a:solidFill>
                  <a:srgbClr val="2A323D"/>
                </a:solidFill>
                <a:latin typeface="Inter"/>
                <a:hlinkClick r:id="rId2"/>
              </a:rPr>
              <a:t>youtube.com/playlist?list=PLU58DFEI5YDQ</a:t>
            </a:r>
          </a:p>
          <a:p>
            <a:pPr algn="l" marL="304800" indent="-304800">
              <a:lnSpc>
                <a:spcPct val="112000"/>
              </a:lnSpc>
              <a:spcBef>
                <a:spcPts val="1350"/>
              </a:spcBef>
              <a:buClr>
                <a:srgbClr val="ED6D24"/>
              </a:buClr>
              <a:buFont typeface="Inter Black"/>
              <a:buChar char="·"/>
            </a:pPr>
            <a:r>
              <a:rPr sz="2100" b="1">
                <a:solidFill>
                  <a:srgbClr val="2A323D"/>
                </a:solidFill>
                <a:latin typeface="Inter"/>
              </a:rPr>
              <a:t>Before week 3:</a:t>
            </a:r>
            <a:r>
              <a:rPr sz="2100" b="0">
                <a:solidFill>
                  <a:srgbClr val="2A323D"/>
                </a:solidFill>
                <a:latin typeface="Inter"/>
              </a:rPr>
              <a:t> AlphaGo. Illiac Suite (1957), Cage's Water Walk (1960), Tinguely's Homage to New York (1960), Kaprow's Fluids (1967).</a:t>
            </a:r>
          </a:p>
          <a:p>
            <a:pPr algn="l" marL="304800" indent="-304800">
              <a:lnSpc>
                <a:spcPct val="112000"/>
              </a:lnSpc>
              <a:spcBef>
                <a:spcPts val="1350"/>
              </a:spcBef>
              <a:buClr>
                <a:srgbClr val="ED6D24"/>
              </a:buClr>
              <a:buFont typeface="Inter Black"/>
              <a:buChar char="·"/>
            </a:pPr>
            <a:r>
              <a:rPr sz="2100" b="1">
                <a:solidFill>
                  <a:srgbClr val="2A323D"/>
                </a:solidFill>
                <a:latin typeface="Inter"/>
              </a:rPr>
              <a:t>Week 4:</a:t>
            </a:r>
            <a:r>
              <a:rPr sz="2100" b="0">
                <a:solidFill>
                  <a:srgbClr val="2A323D"/>
                </a:solidFill>
                <a:latin typeface="Inter"/>
              </a:rPr>
              <a:t> large language models, explained briefly (3Blue1Brown).</a:t>
            </a:r>
          </a:p>
          <a:p>
            <a:pPr algn="l" marL="304800" indent="-304800">
              <a:lnSpc>
                <a:spcPct val="112000"/>
              </a:lnSpc>
              <a:spcBef>
                <a:spcPts val="1350"/>
              </a:spcBef>
              <a:buClr>
                <a:srgbClr val="ED6D24"/>
              </a:buClr>
              <a:buFont typeface="Inter Black"/>
              <a:buChar char="·"/>
            </a:pPr>
            <a:r>
              <a:rPr sz="2100" b="1">
                <a:solidFill>
                  <a:srgbClr val="2A323D"/>
                </a:solidFill>
                <a:latin typeface="Inter"/>
              </a:rPr>
              <a:t>Week 5:</a:t>
            </a:r>
            <a:r>
              <a:rPr sz="2100" b="0">
                <a:solidFill>
                  <a:srgbClr val="2A323D"/>
                </a:solidFill>
                <a:latin typeface="Inter"/>
              </a:rPr>
              <a:t> diffusion, how AI images work, CLIP, autoencoders, UNet, text-to-video, ComfyUI.</a:t>
            </a:r>
          </a:p>
          <a:p>
            <a:pPr algn="l" marL="304800" indent="-304800">
              <a:lnSpc>
                <a:spcPct val="112000"/>
              </a:lnSpc>
              <a:spcBef>
                <a:spcPts val="1350"/>
              </a:spcBef>
              <a:buClr>
                <a:srgbClr val="ED6D24"/>
              </a:buClr>
              <a:buFont typeface="Inter Black"/>
              <a:buChar char="·"/>
            </a:pPr>
            <a:r>
              <a:rPr sz="2100" b="1">
                <a:solidFill>
                  <a:srgbClr val="2A323D"/>
                </a:solidFill>
                <a:latin typeface="Inter"/>
              </a:rPr>
              <a:t>Week 6:</a:t>
            </a:r>
            <a:r>
              <a:rPr sz="2100" b="0">
                <a:solidFill>
                  <a:srgbClr val="2A323D"/>
                </a:solidFill>
                <a:latin typeface="Inter"/>
              </a:rPr>
              <a:t> AI sound and music. </a:t>
            </a:r>
            <a:r>
              <a:rPr sz="2100" b="1">
                <a:solidFill>
                  <a:srgbClr val="2A323D"/>
                </a:solidFill>
                <a:latin typeface="Inter"/>
              </a:rPr>
              <a:t>Week 12:</a:t>
            </a:r>
            <a:r>
              <a:rPr sz="2100" b="0">
                <a:solidFill>
                  <a:srgbClr val="2A323D"/>
                </a:solidFill>
                <a:latin typeface="Inter"/>
              </a:rPr>
              <a:t> generative vs rules-based chatbots.</a:t>
            </a:r>
          </a:p>
        </p:txBody>
      </p:sp>
      <p:pic>
        <p:nvPicPr>
          <p:cNvPr id="5" name="Picture 4" descr="gXOIkT1-QWY.jpg"/>
          <p:cNvPicPr>
            <a:picLocks noChangeAspect="1"/>
          </p:cNvPicPr>
          <p:nvPr/>
        </p:nvPicPr>
        <p:blipFill>
          <a:blip r:embed="rId3"/>
          <a:srcRect l="5880" r="5880"/>
          <a:stretch>
            <a:fillRect/>
          </a:stretch>
        </p:blipFill>
        <p:spPr>
          <a:xfrm>
            <a:off x="6350000" y="1168400"/>
            <a:ext cx="5080000" cy="4318000"/>
          </a:xfrm>
          <a:prstGeom prst="rect">
            <a:avLst/>
          </a:prstGeom>
        </p:spPr>
      </p:pic>
      <p:sp>
        <p:nvSpPr>
          <p:cNvPr id="6" name="TextBox 5"/>
          <p:cNvSpPr txBox="1"/>
          <p:nvPr/>
        </p:nvSpPr>
        <p:spPr>
          <a:xfrm>
            <a:off x="6350000" y="5562600"/>
            <a:ext cx="5080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John Cage, Water Walk, 1960: a score of timed instructions, performed on live television. Rules, chance and a bathtub.</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39</a:t>
            </a:r>
          </a:p>
        </p:txBody>
      </p:sp>
      <p:pic>
        <p:nvPicPr>
          <p:cNvPr id="9" name="chrome-logo" descr="polyu-design-logo.png"/>
          <p:cNvPicPr>
            <a:picLocks noChangeAspect="1"/>
          </p:cNvPicPr>
          <p:nvPr/>
        </p:nvPicPr>
        <p:blipFill>
          <a:blip r:embed="rId4"/>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additive="base">
                                        <p:cTn id="16" dur="500" fill="hold"/>
                                        <p:tgtEl>
                                          <p:spTgt spid="5"/>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anim calcmode="lin" valueType="num">
                                      <p:cBhvr additive="base">
                                        <p:cTn id="20" dur="500" fill="hold"/>
                                        <p:tgtEl>
                                          <p:spTgt spid="4"/>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9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4" grpId="0"/>
      <p:bldP spid="6" grpId="0"/>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94D7F"/>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06</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The designer's turn</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TECHNOLOGY IS NEVER NEUTRAL · NEITHER IS DESIGN</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40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4F2"/>
        </a:solidFill>
        <a:effectLst/>
      </p:bgPr>
    </p:bg>
    <p:spTree>
      <p:nvGrpSpPr>
        <p:cNvPr id="1" name=""/>
        <p:cNvGrpSpPr/>
        <p:nvPr/>
      </p:nvGrpSpPr>
      <p:grpSpPr/>
      <p:sp>
        <p:nvSpPr>
          <p:cNvPr id="2" name="TextBox 1"/>
          <p:cNvSpPr txBox="1"/>
          <p:nvPr/>
        </p:nvSpPr>
        <p:spPr>
          <a:xfrm>
            <a:off x="762000" y="1905000"/>
            <a:ext cx="10160000" cy="3175000"/>
          </a:xfrm>
          <a:prstGeom prst="rect">
            <a:avLst/>
          </a:prstGeom>
          <a:noFill/>
        </p:spPr>
        <p:txBody>
          <a:bodyPr wrap="square" lIns="0" rIns="0" tIns="0" bIns="0" anchor="ctr">
            <a:noAutofit/>
          </a:bodyPr>
          <a:lstStyle/>
          <a:p>
            <a:pPr algn="l">
              <a:lnSpc>
                <a:spcPct val="81500"/>
              </a:lnSpc>
            </a:pPr>
            <a:r>
              <a:rPr sz="6600" b="0" spc="-198">
                <a:solidFill>
                  <a:srgbClr val="000B1C"/>
                </a:solidFill>
                <a:latin typeface="Inter ExtraBold"/>
              </a:rPr>
              <a:t>"Designing things is designing human existence."</a:t>
            </a:r>
          </a:p>
        </p:txBody>
      </p:sp>
      <p:sp>
        <p:nvSpPr>
          <p:cNvPr id="3" name="TextBox 2"/>
          <p:cNvSpPr txBox="1"/>
          <p:nvPr/>
        </p:nvSpPr>
        <p:spPr>
          <a:xfrm>
            <a:off x="762000" y="5334000"/>
            <a:ext cx="10160000" cy="508000"/>
          </a:xfrm>
          <a:prstGeom prst="rect">
            <a:avLst/>
          </a:prstGeom>
          <a:noFill/>
        </p:spPr>
        <p:txBody>
          <a:bodyPr wrap="square" lIns="0" rIns="0" tIns="0" bIns="0" anchor="t">
            <a:noAutofit/>
          </a:bodyPr>
          <a:lstStyle/>
          <a:p>
            <a:pPr algn="l">
              <a:lnSpc>
                <a:spcPct val="96600"/>
              </a:lnSpc>
            </a:pPr>
            <a:r>
              <a:rPr sz="1950" b="0">
                <a:solidFill>
                  <a:srgbClr val="5C6470"/>
                </a:solidFill>
                <a:latin typeface="JetBrains Mono"/>
              </a:rPr>
              <a:t>Peter-Paul Verbeek, Beyond Interaction: A Short Introduction to Mediation Theory, Interactions, 2015 — the reading for week 5</a:t>
            </a:r>
          </a:p>
        </p:txBody>
      </p:sp>
      <p:sp>
        <p:nvSpPr>
          <p:cNvPr id="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06 · IHDE · VERBEEK · TECHNOLOGICAL MEDIATION</a:t>
            </a:r>
          </a:p>
        </p:txBody>
      </p:sp>
      <p:sp>
        <p:nvSpPr>
          <p:cNvPr id="3" name="TextBox 2"/>
          <p:cNvSpPr txBox="1"/>
          <p:nvPr/>
        </p:nvSpPr>
        <p:spPr>
          <a:xfrm>
            <a:off x="762000" y="1168400"/>
            <a:ext cx="10668000" cy="698500"/>
          </a:xfrm>
          <a:prstGeom prst="rect">
            <a:avLst/>
          </a:prstGeom>
          <a:noFill/>
        </p:spPr>
        <p:txBody>
          <a:bodyPr wrap="square" lIns="0" rIns="0" tIns="0" bIns="0" anchor="t">
            <a:noAutofit/>
          </a:bodyPr>
          <a:lstStyle/>
          <a:p>
            <a:pPr algn="l">
              <a:lnSpc>
                <a:spcPct val="77900"/>
              </a:lnSpc>
            </a:pPr>
            <a:r>
              <a:rPr sz="4800" b="0" spc="-144">
                <a:solidFill>
                  <a:srgbClr val="000B1C"/>
                </a:solidFill>
                <a:latin typeface="Inter ExtraBold"/>
              </a:rPr>
              <a:t>The thing in between is never neutral.</a:t>
            </a:r>
          </a:p>
        </p:txBody>
      </p:sp>
      <p:sp>
        <p:nvSpPr>
          <p:cNvPr id="4" name="TextBox 3"/>
          <p:cNvSpPr txBox="1"/>
          <p:nvPr/>
        </p:nvSpPr>
        <p:spPr>
          <a:xfrm>
            <a:off x="762000" y="1905000"/>
            <a:ext cx="10668000" cy="571500"/>
          </a:xfrm>
          <a:prstGeom prst="rect">
            <a:avLst/>
          </a:prstGeom>
          <a:noFill/>
        </p:spPr>
        <p:txBody>
          <a:bodyPr wrap="square" lIns="0" rIns="0" tIns="0" bIns="0" anchor="t">
            <a:noAutofit/>
          </a:bodyPr>
          <a:lstStyle/>
          <a:p>
            <a:pPr algn="l">
              <a:lnSpc>
                <a:spcPct val="102600"/>
              </a:lnSpc>
            </a:pPr>
            <a:r>
              <a:rPr sz="2250" b="0">
                <a:solidFill>
                  <a:srgbClr val="2A323D"/>
                </a:solidFill>
                <a:latin typeface="Inter"/>
              </a:rPr>
              <a:t>You do not see the world and then use a tool. You see the world through the tool: glasses, a camera, a feed, a fill. Week 5 gives you Ihde's four relations and a vocabulary for designing them.</a:t>
            </a:r>
          </a:p>
        </p:txBody>
      </p:sp>
      <p:pic>
        <p:nvPicPr>
          <p:cNvPr id="5" name="Picture 4" descr="mediation.png"/>
          <p:cNvPicPr>
            <a:picLocks noChangeAspect="1"/>
          </p:cNvPicPr>
          <p:nvPr/>
        </p:nvPicPr>
        <p:blipFill>
          <a:blip r:embed="rId2"/>
          <a:stretch>
            <a:fillRect/>
          </a:stretch>
        </p:blipFill>
        <p:spPr>
          <a:xfrm>
            <a:off x="762000" y="2540000"/>
            <a:ext cx="10668000" cy="1651000"/>
          </a:xfrm>
          <a:prstGeom prst="rect">
            <a:avLst/>
          </a:prstGeom>
        </p:spPr>
      </p:pic>
      <p:sp>
        <p:nvSpPr>
          <p:cNvPr id="6" name="TextBox 5"/>
          <p:cNvSpPr txBox="1"/>
          <p:nvPr/>
        </p:nvSpPr>
        <p:spPr>
          <a:xfrm>
            <a:off x="762000" y="5791200"/>
            <a:ext cx="10668000" cy="508000"/>
          </a:xfrm>
          <a:prstGeom prst="rect">
            <a:avLst/>
          </a:prstGeom>
          <a:noFill/>
        </p:spPr>
        <p:txBody>
          <a:bodyPr wrap="square" lIns="0" rIns="0" tIns="0" bIns="0" anchor="t">
            <a:noAutofit/>
          </a:bodyPr>
          <a:lstStyle/>
          <a:p>
            <a:pPr algn="l">
              <a:lnSpc>
                <a:spcPct val="96300"/>
              </a:lnSpc>
            </a:pPr>
            <a:r>
              <a:rPr sz="1500" b="0">
                <a:solidFill>
                  <a:srgbClr val="5C6470"/>
                </a:solidFill>
                <a:latin typeface="JetBrains Mono"/>
              </a:rPr>
              <a:t>Ihde 1990, Verbeek 2015. Embodiment (through), hermeneutic (reading), alterity (facing), background — and the AI versions of each.</a:t>
            </a:r>
          </a:p>
        </p:txBody>
      </p:sp>
      <p:sp>
        <p:nvSpPr>
          <p:cNvPr id="7"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8"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42</a:t>
            </a:r>
          </a:p>
        </p:txBody>
      </p:sp>
      <p:pic>
        <p:nvPicPr>
          <p:cNvPr id="9" name="chrome-logo" descr="polyu-design-logo.png"/>
          <p:cNvPicPr>
            <a:picLocks noChangeAspect="1"/>
          </p:cNvPicPr>
          <p:nvPr/>
        </p:nvPicPr>
        <p:blipFill>
          <a:blip r:embed="rId3"/>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9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26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additive="base">
                                        <p:cTn id="24" dur="500" fill="hold"/>
                                        <p:tgtEl>
                                          <p:spTgt spid="6"/>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06 · WHAT IS LEFT FOR YOU</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Designers as…</a:t>
            </a:r>
          </a:p>
        </p:txBody>
      </p:sp>
      <p:sp>
        <p:nvSpPr>
          <p:cNvPr id="4" name="Rectangle 3"/>
          <p:cNvSpPr/>
          <p:nvPr/>
        </p:nvSpPr>
        <p:spPr>
          <a:xfrm>
            <a:off x="7620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OUTPUTS</a:t>
            </a:r>
          </a:p>
        </p:txBody>
      </p:sp>
      <p:sp>
        <p:nvSpPr>
          <p:cNvPr id="6" name="TextBox 5"/>
          <p:cNvSpPr txBox="1"/>
          <p:nvPr/>
        </p:nvSpPr>
        <p:spPr>
          <a:xfrm>
            <a:off x="7620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Curators of what ships</a:t>
            </a:r>
          </a:p>
        </p:txBody>
      </p:sp>
      <p:sp>
        <p:nvSpPr>
          <p:cNvPr id="7" name="TextBox 6"/>
          <p:cNvSpPr txBox="1"/>
          <p:nvPr/>
        </p:nvSpPr>
        <p:spPr>
          <a:xfrm>
            <a:off x="7620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A model makes a hundred. You choose one, and you answer for it. Not everything generated should be released.</a:t>
            </a:r>
          </a:p>
        </p:txBody>
      </p:sp>
      <p:sp>
        <p:nvSpPr>
          <p:cNvPr id="8" name="Rectangle 7"/>
          <p:cNvSpPr/>
          <p:nvPr/>
        </p:nvSpPr>
        <p:spPr>
          <a:xfrm>
            <a:off x="34925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925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DATASETS</a:t>
            </a:r>
          </a:p>
        </p:txBody>
      </p:sp>
      <p:sp>
        <p:nvSpPr>
          <p:cNvPr id="10" name="TextBox 9"/>
          <p:cNvSpPr txBox="1"/>
          <p:nvPr/>
        </p:nvSpPr>
        <p:spPr>
          <a:xfrm>
            <a:off x="34925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Curators of what it learns</a:t>
            </a:r>
          </a:p>
        </p:txBody>
      </p:sp>
      <p:sp>
        <p:nvSpPr>
          <p:cNvPr id="11" name="TextBox 10"/>
          <p:cNvSpPr txBox="1"/>
          <p:nvPr/>
        </p:nvSpPr>
        <p:spPr>
          <a:xfrm>
            <a:off x="34925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Choose the examples and you choose the prototype. Fine-tune on your own work and the model learns your edge, not the internet's middle. Week 11.</a:t>
            </a:r>
          </a:p>
        </p:txBody>
      </p:sp>
      <p:sp>
        <p:nvSpPr>
          <p:cNvPr id="12" name="Rectangle 11"/>
          <p:cNvSpPr/>
          <p:nvPr/>
        </p:nvSpPr>
        <p:spPr>
          <a:xfrm>
            <a:off x="62230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RULES</a:t>
            </a:r>
          </a:p>
        </p:txBody>
      </p:sp>
      <p:sp>
        <p:nvSpPr>
          <p:cNvPr id="14" name="TextBox 13"/>
          <p:cNvSpPr txBox="1"/>
          <p:nvPr/>
        </p:nvSpPr>
        <p:spPr>
          <a:xfrm>
            <a:off x="62230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Setters of guardrails</a:t>
            </a:r>
          </a:p>
        </p:txBody>
      </p:sp>
      <p:sp>
        <p:nvSpPr>
          <p:cNvPr id="15" name="TextBox 14"/>
          <p:cNvSpPr txBox="1"/>
          <p:nvPr/>
        </p:nvSpPr>
        <p:spPr>
          <a:xfrm>
            <a:off x="62230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Decide what the machine may not do, when a human must be in the loop, how it fails in front of a person. Machine A protecting people from machine B.</a:t>
            </a:r>
          </a:p>
        </p:txBody>
      </p:sp>
      <p:sp>
        <p:nvSpPr>
          <p:cNvPr id="16" name="Rectangle 15"/>
          <p:cNvSpPr/>
          <p:nvPr/>
        </p:nvSpPr>
        <p:spPr>
          <a:xfrm>
            <a:off x="8953500" y="2362200"/>
            <a:ext cx="24765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53500" y="2514600"/>
            <a:ext cx="24765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STORY</a:t>
            </a:r>
          </a:p>
        </p:txBody>
      </p:sp>
      <p:sp>
        <p:nvSpPr>
          <p:cNvPr id="18" name="TextBox 17"/>
          <p:cNvSpPr txBox="1"/>
          <p:nvPr/>
        </p:nvSpPr>
        <p:spPr>
          <a:xfrm>
            <a:off x="8953500" y="2844800"/>
            <a:ext cx="2476500" cy="825500"/>
          </a:xfrm>
          <a:prstGeom prst="rect">
            <a:avLst/>
          </a:prstGeom>
          <a:noFill/>
        </p:spPr>
        <p:txBody>
          <a:bodyPr wrap="square" lIns="0" rIns="0" tIns="0" bIns="0" anchor="t">
            <a:noAutofit/>
          </a:bodyPr>
          <a:lstStyle/>
          <a:p>
            <a:pPr algn="l">
              <a:lnSpc>
                <a:spcPct val="85000"/>
              </a:lnSpc>
            </a:pPr>
            <a:r>
              <a:rPr sz="2550" b="0" spc="-51">
                <a:solidFill>
                  <a:srgbClr val="000B1C"/>
                </a:solidFill>
                <a:latin typeface="Inter ExtraBold"/>
              </a:rPr>
              <a:t>Tellers of the process</a:t>
            </a:r>
          </a:p>
        </p:txBody>
      </p:sp>
      <p:sp>
        <p:nvSpPr>
          <p:cNvPr id="19" name="TextBox 18"/>
          <p:cNvSpPr txBox="1"/>
          <p:nvPr/>
        </p:nvSpPr>
        <p:spPr>
          <a:xfrm>
            <a:off x="8953500" y="3733800"/>
            <a:ext cx="2476500" cy="3556000"/>
          </a:xfrm>
          <a:prstGeom prst="rect">
            <a:avLst/>
          </a:prstGeom>
          <a:noFill/>
        </p:spPr>
        <p:txBody>
          <a:bodyPr wrap="square" lIns="0" rIns="0" tIns="0" bIns="0" anchor="t">
            <a:noAutofit/>
          </a:bodyPr>
          <a:lstStyle/>
          <a:p>
            <a:pPr algn="l">
              <a:lnSpc>
                <a:spcPct val="110300"/>
              </a:lnSpc>
            </a:pPr>
            <a:r>
              <a:rPr sz="1950" b="0">
                <a:solidFill>
                  <a:srgbClr val="2A323D"/>
                </a:solidFill>
                <a:latin typeface="Inter"/>
              </a:rPr>
              <a:t>Clients, users and juries will ask how it was made. Documenting the human decisions is now part of the design. Your reflection starts this.</a:t>
            </a:r>
          </a:p>
        </p:txBody>
      </p:sp>
      <p:sp>
        <p:nvSpPr>
          <p:cNvPr id="20"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1"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43</a:t>
            </a:r>
          </a:p>
        </p:txBody>
      </p:sp>
      <p:pic>
        <p:nvPicPr>
          <p:cNvPr id="22"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additive="base">
                                        <p:cTn id="28" dur="500" fill="hold"/>
                                        <p:tgtEl>
                                          <p:spTgt spid="16"/>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anim calcmode="lin" valueType="num">
                                      <p:cBhvr additive="base">
                                        <p:cTn id="32" dur="500" fill="hold"/>
                                        <p:tgtEl>
                                          <p:spTgt spid="5"/>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additive="base">
                                        <p:cTn id="36" dur="500" fill="hold"/>
                                        <p:tgtEl>
                                          <p:spTgt spid="9"/>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3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anim calcmode="lin" valueType="num">
                                      <p:cBhvr additive="base">
                                        <p:cTn id="40" dur="500" fill="hold"/>
                                        <p:tgtEl>
                                          <p:spTgt spid="13"/>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3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anim calcmode="lin" valueType="num">
                                      <p:cBhvr additive="base">
                                        <p:cTn id="44" dur="500" fill="hold"/>
                                        <p:tgtEl>
                                          <p:spTgt spid="17"/>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additive="base">
                                        <p:cTn id="48" dur="500" fill="hold"/>
                                        <p:tgtEl>
                                          <p:spTgt spid="6"/>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195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additive="base">
                                        <p:cTn id="52" dur="500" fill="hold"/>
                                        <p:tgtEl>
                                          <p:spTgt spid="10"/>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19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195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anim calcmode="lin" valueType="num">
                                      <p:cBhvr additive="base">
                                        <p:cTn id="60" dur="500" fill="hold"/>
                                        <p:tgtEl>
                                          <p:spTgt spid="18"/>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260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500"/>
                                        <p:tgtEl>
                                          <p:spTgt spid="7"/>
                                        </p:tgtEl>
                                      </p:cBhvr>
                                    </p:animEffect>
                                    <p:anim calcmode="lin" valueType="num">
                                      <p:cBhvr additive="base">
                                        <p:cTn id="64" dur="500" fill="hold"/>
                                        <p:tgtEl>
                                          <p:spTgt spid="7"/>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260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anim calcmode="lin" valueType="num">
                                      <p:cBhvr additive="base">
                                        <p:cTn id="68" dur="500" fill="hold"/>
                                        <p:tgtEl>
                                          <p:spTgt spid="11"/>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260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additive="base">
                                        <p:cTn id="72" dur="500" fill="hold"/>
                                        <p:tgtEl>
                                          <p:spTgt spid="15"/>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260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16" grpId="0"/>
      <p:bldP spid="5" grpId="0"/>
      <p:bldP spid="9" grpId="0"/>
      <p:bldP spid="13" grpId="0"/>
      <p:bldP spid="17" grpId="0"/>
      <p:bldP spid="6" grpId="0"/>
      <p:bldP spid="10" grpId="0"/>
      <p:bldP spid="14" grpId="0"/>
      <p:bldP spid="18" grpId="0"/>
      <p:bldP spid="7" grpId="0"/>
      <p:bldP spid="11" grpId="0"/>
      <p:bldP spid="15" grpId="0"/>
      <p:bldP spid="19" grpId="0"/>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AD0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07</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000B1C"/>
                </a:solidFill>
                <a:latin typeface="Inter Black"/>
              </a:rPr>
              <a:t>Teach the machine what a chair is</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000B1C"/>
                </a:solidFill>
                <a:latin typeface="JetBrains Mono Medium"/>
              </a:rPr>
              <a:t>8 MINUTES · PEN AND PAPER · NO SOFTWARE</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AD00"/>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ACTIVITY · 1 — ALONE</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1 min</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Write the rule.</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Define "chair" so that a machine could apply it, with no judgement of its own. One sentence: </a:t>
            </a:r>
            <a:r>
              <a:rPr sz="2550" b="1">
                <a:solidFill>
                  <a:srgbClr val="000B1C"/>
                </a:solidFill>
                <a:latin typeface="Inter"/>
              </a:rPr>
              <a:t>X is a chair if ___.</a:t>
            </a:r>
          </a:p>
          <a:p>
            <a:pPr algn="l">
              <a:lnSpc>
                <a:spcPct val="109300"/>
              </a:lnSpc>
              <a:spcBef>
                <a:spcPts val="1350"/>
              </a:spcBef>
            </a:pPr>
            <a:r>
              <a:rPr sz="2550" b="0">
                <a:solidFill>
                  <a:srgbClr val="000B1C"/>
                </a:solidFill>
                <a:latin typeface="Inter"/>
              </a:rPr>
              <a:t>Be strict. A rule that admits everything is useless. Pen and paper, silent.</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additive="base">
                                        <p:cTn id="12" dur="500" fill="hold"/>
                                        <p:tgtEl>
                                          <p:spTgt spid="2"/>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5" grpId="0"/>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0BD60"/>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ACTIVITY · 2 — IN PAIRS</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2 min</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Break the rule.</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Swap sentences with your neighbour. Find </a:t>
            </a:r>
            <a:r>
              <a:rPr sz="2550" b="1">
                <a:solidFill>
                  <a:srgbClr val="000B1C"/>
                </a:solidFill>
                <a:latin typeface="Inter"/>
              </a:rPr>
              <a:t>one thing that passes their rule and is not a chair</a:t>
            </a:r>
            <a:r>
              <a:rPr sz="2550" b="0">
                <a:solidFill>
                  <a:srgbClr val="000B1C"/>
                </a:solidFill>
                <a:latin typeface="Inter"/>
              </a:rPr>
              <a:t>, and </a:t>
            </a:r>
            <a:r>
              <a:rPr sz="2550" b="1">
                <a:solidFill>
                  <a:srgbClr val="000B1C"/>
                </a:solidFill>
                <a:latin typeface="Inter"/>
              </a:rPr>
              <a:t>one chair that fails it.</a:t>
            </a:r>
          </a:p>
          <a:p>
            <a:pPr algn="l">
              <a:lnSpc>
                <a:spcPct val="109300"/>
              </a:lnSpc>
              <a:spcBef>
                <a:spcPts val="1350"/>
              </a:spcBef>
            </a:pPr>
            <a:r>
              <a:rPr sz="2550" b="0">
                <a:solidFill>
                  <a:srgbClr val="000B1C"/>
                </a:solidFill>
                <a:latin typeface="Inter"/>
              </a:rPr>
              <a:t>Write both down under the rule. Whoever's rule survives longest wins nothing; the point is that neither survives.</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additive="base">
                                        <p:cTn id="12" dur="500" fill="hold"/>
                                        <p:tgtEl>
                                          <p:spTgt spid="2"/>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5" grpId="0"/>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CE89"/>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000B1C"/>
                </a:solidFill>
                <a:latin typeface="JetBrains Mono Medium"/>
              </a:rPr>
              <a:t>ACTIVITY · 4 — TWO PAIRS</a:t>
            </a:r>
          </a:p>
        </p:txBody>
      </p:sp>
      <p:sp>
        <p:nvSpPr>
          <p:cNvPr id="3" name="TextBox 2"/>
          <p:cNvSpPr txBox="1"/>
          <p:nvPr/>
        </p:nvSpPr>
        <p:spPr>
          <a:xfrm>
            <a:off x="8255000" y="381000"/>
            <a:ext cx="3175000" cy="825500"/>
          </a:xfrm>
          <a:prstGeom prst="rect">
            <a:avLst/>
          </a:prstGeom>
          <a:noFill/>
        </p:spPr>
        <p:txBody>
          <a:bodyPr wrap="square" lIns="0" rIns="0" tIns="0" bIns="0" anchor="t">
            <a:noAutofit/>
          </a:bodyPr>
          <a:lstStyle/>
          <a:p>
            <a:pPr algn="r">
              <a:lnSpc>
                <a:spcPct val="82100"/>
              </a:lnSpc>
            </a:pPr>
            <a:r>
              <a:rPr sz="7200" b="0" spc="-288">
                <a:solidFill>
                  <a:srgbClr val="000B1C"/>
                </a:solidFill>
                <a:latin typeface="Inter Black"/>
              </a:rPr>
              <a:t>4 min</a:t>
            </a:r>
          </a:p>
        </p:txBody>
      </p:sp>
      <p:sp>
        <p:nvSpPr>
          <p:cNvPr id="4" name="TextBox 3"/>
          <p:cNvSpPr txBox="1"/>
          <p:nvPr/>
        </p:nvSpPr>
        <p:spPr>
          <a:xfrm>
            <a:off x="762000" y="1905000"/>
            <a:ext cx="8890000" cy="1524000"/>
          </a:xfrm>
          <a:prstGeom prst="rect">
            <a:avLst/>
          </a:prstGeom>
          <a:noFill/>
        </p:spPr>
        <p:txBody>
          <a:bodyPr wrap="square" lIns="0" rIns="0" tIns="0" bIns="0" anchor="b">
            <a:noAutofit/>
          </a:bodyPr>
          <a:lstStyle/>
          <a:p>
            <a:pPr algn="l">
              <a:lnSpc>
                <a:spcPct val="77500"/>
              </a:lnSpc>
            </a:pPr>
            <a:r>
              <a:rPr sz="6300" b="0" spc="-220">
                <a:solidFill>
                  <a:srgbClr val="000B1C"/>
                </a:solidFill>
                <a:latin typeface="Inter ExtraBold"/>
              </a:rPr>
              <a:t>Now teach it with examples instead.</a:t>
            </a:r>
          </a:p>
        </p:txBody>
      </p:sp>
      <p:sp>
        <p:nvSpPr>
          <p:cNvPr id="5" name="TextBox 4"/>
          <p:cNvSpPr txBox="1"/>
          <p:nvPr/>
        </p:nvSpPr>
        <p:spPr>
          <a:xfrm>
            <a:off x="762000" y="3683000"/>
            <a:ext cx="8890000" cy="2413000"/>
          </a:xfrm>
          <a:prstGeom prst="rect">
            <a:avLst/>
          </a:prstGeom>
          <a:noFill/>
        </p:spPr>
        <p:txBody>
          <a:bodyPr wrap="square" lIns="0" rIns="0" tIns="0" bIns="0" anchor="t">
            <a:noAutofit/>
          </a:bodyPr>
          <a:lstStyle/>
          <a:p>
            <a:pPr algn="l">
              <a:lnSpc>
                <a:spcPct val="109300"/>
              </a:lnSpc>
            </a:pPr>
            <a:r>
              <a:rPr sz="2550" b="0">
                <a:solidFill>
                  <a:srgbClr val="000B1C"/>
                </a:solidFill>
                <a:latin typeface="Inter"/>
              </a:rPr>
              <a:t>Join the pair behind you. Four people, one machine. Pick the </a:t>
            </a:r>
            <a:r>
              <a:rPr sz="2550" b="1">
                <a:solidFill>
                  <a:srgbClr val="000B1C"/>
                </a:solidFill>
                <a:latin typeface="Inter"/>
              </a:rPr>
              <a:t>five photographs</a:t>
            </a:r>
            <a:r>
              <a:rPr sz="2550" b="0">
                <a:solidFill>
                  <a:srgbClr val="000B1C"/>
                </a:solidFill>
                <a:latin typeface="Inter"/>
              </a:rPr>
              <a:t> you would show it to teach "chair". Then one </a:t>
            </a:r>
            <a:r>
              <a:rPr sz="2550" b="1">
                <a:solidFill>
                  <a:srgbClr val="000B1C"/>
                </a:solidFill>
                <a:latin typeface="Inter"/>
              </a:rPr>
              <a:t>hard no</a:t>
            </a:r>
            <a:r>
              <a:rPr sz="2550" b="0">
                <a:solidFill>
                  <a:srgbClr val="000B1C"/>
                </a:solidFill>
                <a:latin typeface="Inter"/>
              </a:rPr>
              <a:t>: something that looks like a chair and is not.</a:t>
            </a:r>
          </a:p>
          <a:p>
            <a:pPr algn="l">
              <a:lnSpc>
                <a:spcPct val="109300"/>
              </a:lnSpc>
              <a:spcBef>
                <a:spcPts val="1350"/>
              </a:spcBef>
            </a:pPr>
            <a:r>
              <a:rPr sz="2550" b="0">
                <a:solidFill>
                  <a:srgbClr val="000B1C"/>
                </a:solidFill>
                <a:latin typeface="Inter"/>
              </a:rPr>
              <a:t>Decide together: what does the machine learn if all five are office chairs? Whose chairs are missing? One person writes.</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additive="base">
                                        <p:cTn id="12" dur="500" fill="hold"/>
                                        <p:tgtEl>
                                          <p:spTgt spid="2"/>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6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5" grpId="0"/>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07 · CAPTURE · 2 MIN · SHORT ANSWER</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Scribes only. One line per four.</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RULE broke on: ___ · FIVE EXAMPLES: ___ · HARD NO: ___</a:t>
            </a:r>
          </a:p>
        </p:txBody>
      </p:sp>
      <p:sp>
        <p:nvSpPr>
          <p:cNvPr id="5" name="TextBox 4"/>
          <p:cNvSpPr txBox="1"/>
          <p:nvPr/>
        </p:nvSpPr>
        <p:spPr>
          <a:xfrm>
            <a:off x="762000" y="5334000"/>
            <a:ext cx="8255000" cy="635000"/>
          </a:xfrm>
          <a:prstGeom prst="rect">
            <a:avLst/>
          </a:prstGeom>
          <a:noFill/>
        </p:spPr>
        <p:txBody>
          <a:bodyPr wrap="square" lIns="0" rIns="0" tIns="0" bIns="0" anchor="t">
            <a:noAutofit/>
          </a:bodyPr>
          <a:lstStyle/>
          <a:p>
            <a:pPr algn="l">
              <a:lnSpc>
                <a:spcPct val="101800"/>
              </a:lnSpc>
            </a:pPr>
            <a:r>
              <a:rPr sz="1800" b="0">
                <a:solidFill>
                  <a:srgbClr val="5C6470"/>
                </a:solidFill>
                <a:latin typeface="JetBrains Mono"/>
              </a:rPr>
              <a:t>e.g. "broke on: a swing · examples: Thonet 14, monobloc, a throne, a wheelchair, a kindergarten chair · hard no: a stepladder"</a:t>
            </a:r>
          </a:p>
        </p:txBody>
      </p:sp>
      <p:sp>
        <p:nvSpPr>
          <p:cNvPr id="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48</a:t>
            </a:r>
          </a:p>
        </p:txBody>
      </p:sp>
      <p:pic>
        <p:nvPicPr>
          <p:cNvPr id="8"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9"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9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additive="base">
                                        <p:cTn id="20" dur="500" fill="hold"/>
                                        <p:tgtEl>
                                          <p:spTgt spid="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07 · WHAT JUST HAPPENED</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You built both machines.</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a:lnSpc>
                <a:spcPct val="113300"/>
              </a:lnSpc>
            </a:pPr>
            <a:r>
              <a:rPr sz="2550" b="0">
                <a:solidFill>
                  <a:srgbClr val="2A323D"/>
                </a:solidFill>
                <a:latin typeface="Inter"/>
              </a:rPr>
              <a:t>Eight minutes, no software. The rule-writers hit every problem of the classical theory of concepts — Plato's problem, fuzziness, the counter-example. Week 3.</a:t>
            </a:r>
          </a:p>
          <a:p>
            <a:pPr algn="l">
              <a:lnSpc>
                <a:spcPct val="113300"/>
              </a:lnSpc>
              <a:spcBef>
                <a:spcPts val="1350"/>
              </a:spcBef>
            </a:pPr>
            <a:r>
              <a:rPr sz="2550" b="0">
                <a:solidFill>
                  <a:srgbClr val="2A323D"/>
                </a:solidFill>
                <a:latin typeface="Inter"/>
              </a:rPr>
              <a:t>The example-pickers hit dataset bias and curation: five chairs decide what "chair" means. Weeks 9 and 11.</a:t>
            </a:r>
          </a:p>
          <a:p>
            <a:pPr algn="l">
              <a:lnSpc>
                <a:spcPct val="113300"/>
              </a:lnSpc>
              <a:spcBef>
                <a:spcPts val="1350"/>
              </a:spcBef>
            </a:pPr>
            <a:r>
              <a:rPr sz="2550" b="0">
                <a:solidFill>
                  <a:srgbClr val="2A323D"/>
                </a:solidFill>
                <a:latin typeface="Inter"/>
              </a:rPr>
              <a:t>A machine can apply the rule. A machine can learn from the examples.</a:t>
            </a:r>
          </a:p>
          <a:p>
            <a:pPr algn="l">
              <a:lnSpc>
                <a:spcPct val="113300"/>
              </a:lnSpc>
              <a:spcBef>
                <a:spcPts val="1350"/>
              </a:spcBef>
            </a:pPr>
            <a:r>
              <a:rPr sz="2550" b="1">
                <a:solidFill>
                  <a:srgbClr val="2A323D"/>
                </a:solidFill>
                <a:latin typeface="Inter"/>
              </a:rPr>
              <a:t>It cannot decide which examples. That was you.</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49</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943890"/>
        </a:solidFill>
        <a:effectLst/>
      </p:bgPr>
    </p:bg>
    <p:spTree>
      <p:nvGrpSpPr>
        <p:cNvPr id="1" name=""/>
        <p:cNvGrpSpPr/>
        <p:nvPr/>
      </p:nvGrpSpPr>
      <p:grpSpPr/>
      <p:sp>
        <p:nvSpPr>
          <p:cNvPr id="2" name="TextBox 1"/>
          <p:cNvSpPr txBox="1"/>
          <p:nvPr/>
        </p:nvSpPr>
        <p:spPr>
          <a:xfrm>
            <a:off x="762000" y="3556000"/>
            <a:ext cx="9525000" cy="254000"/>
          </a:xfrm>
          <a:prstGeom prst="rect">
            <a:avLst/>
          </a:prstGeom>
          <a:noFill/>
        </p:spPr>
        <p:txBody>
          <a:bodyPr wrap="square" lIns="0" rIns="0" tIns="0" bIns="0" anchor="t">
            <a:noAutofit/>
          </a:bodyPr>
          <a:lstStyle/>
          <a:p>
            <a:pPr algn="l">
              <a:lnSpc>
                <a:spcPct val="87300"/>
              </a:lnSpc>
            </a:pPr>
            <a:r>
              <a:rPr sz="1800" b="0" spc="252">
                <a:solidFill>
                  <a:srgbClr val="F2ECF5"/>
                </a:solidFill>
                <a:latin typeface="JetBrains Mono Medium"/>
              </a:rPr>
              <a:t>08</a:t>
            </a:r>
          </a:p>
        </p:txBody>
      </p:sp>
      <p:sp>
        <p:nvSpPr>
          <p:cNvPr id="3" name="TextBox 2"/>
          <p:cNvSpPr txBox="1"/>
          <p:nvPr/>
        </p:nvSpPr>
        <p:spPr>
          <a:xfrm>
            <a:off x="762000" y="3937000"/>
            <a:ext cx="10668000" cy="1905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How this course works</a:t>
            </a:r>
          </a:p>
        </p:txBody>
      </p:sp>
      <p:sp>
        <p:nvSpPr>
          <p:cNvPr id="4" name="TextBox 3"/>
          <p:cNvSpPr txBox="1"/>
          <p:nvPr/>
        </p:nvSpPr>
        <p:spPr>
          <a:xfrm>
            <a:off x="762000" y="5969000"/>
            <a:ext cx="8890000" cy="381000"/>
          </a:xfrm>
          <a:prstGeom prst="rect">
            <a:avLst/>
          </a:prstGeom>
          <a:noFill/>
        </p:spPr>
        <p:txBody>
          <a:bodyPr wrap="square" lIns="0" rIns="0" tIns="0" bIns="0" anchor="t">
            <a:noAutofit/>
          </a:bodyPr>
          <a:lstStyle/>
          <a:p>
            <a:pPr algn="l">
              <a:lnSpc>
                <a:spcPct val="88400"/>
              </a:lnSpc>
            </a:pPr>
            <a:r>
              <a:rPr sz="2100" b="0" spc="294">
                <a:solidFill>
                  <a:srgbClr val="F2ECF5"/>
                </a:solidFill>
                <a:latin typeface="JetBrains Mono Medium"/>
              </a:rPr>
              <a:t>ASSESSMENT · ASSIGNMENTS · WEEKLY CHALLENGES · RULES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B3B7BE"/>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B3B7BE"/>
                </a:solidFill>
                <a:latin typeface="JetBrains Mono Medium"/>
              </a:rPr>
              <a:t>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ASSESSMENT</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Five components.</a:t>
            </a:r>
          </a:p>
        </p:txBody>
      </p:sp>
      <p:sp>
        <p:nvSpPr>
          <p:cNvPr id="4" name="Rectangle 3"/>
          <p:cNvSpPr/>
          <p:nvPr/>
        </p:nvSpPr>
        <p:spPr>
          <a:xfrm>
            <a:off x="7620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10%</a:t>
            </a:r>
          </a:p>
        </p:txBody>
      </p:sp>
      <p:sp>
        <p:nvSpPr>
          <p:cNvPr id="6" name="TextBox 5"/>
          <p:cNvSpPr txBox="1"/>
          <p:nvPr/>
        </p:nvSpPr>
        <p:spPr>
          <a:xfrm>
            <a:off x="7620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Participation</a:t>
            </a:r>
          </a:p>
        </p:txBody>
      </p:sp>
      <p:sp>
        <p:nvSpPr>
          <p:cNvPr id="7" name="TextBox 6"/>
          <p:cNvSpPr txBox="1"/>
          <p:nvPr/>
        </p:nvSpPr>
        <p:spPr>
          <a:xfrm>
            <a:off x="7620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Come to class, or tell Zhibin before you cannot. Answer in ClassPoint. Stars count.</a:t>
            </a:r>
          </a:p>
        </p:txBody>
      </p:sp>
      <p:sp>
        <p:nvSpPr>
          <p:cNvPr id="8" name="Rectangle 7"/>
          <p:cNvSpPr/>
          <p:nvPr/>
        </p:nvSpPr>
        <p:spPr>
          <a:xfrm>
            <a:off x="29464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64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20%</a:t>
            </a:r>
          </a:p>
        </p:txBody>
      </p:sp>
      <p:sp>
        <p:nvSpPr>
          <p:cNvPr id="10" name="TextBox 9"/>
          <p:cNvSpPr txBox="1"/>
          <p:nvPr/>
        </p:nvSpPr>
        <p:spPr>
          <a:xfrm>
            <a:off x="29464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Individual reflection</a:t>
            </a:r>
          </a:p>
        </p:txBody>
      </p:sp>
      <p:sp>
        <p:nvSpPr>
          <p:cNvPr id="11" name="TextBox 10"/>
          <p:cNvSpPr txBox="1"/>
          <p:nvPr/>
        </p:nvSpPr>
        <p:spPr>
          <a:xfrm>
            <a:off x="29464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Weeks 1–6: experiment with AI in your own process. ~1000 words, due week 7.</a:t>
            </a:r>
          </a:p>
        </p:txBody>
      </p:sp>
      <p:sp>
        <p:nvSpPr>
          <p:cNvPr id="12" name="Rectangle 11"/>
          <p:cNvSpPr/>
          <p:nvPr/>
        </p:nvSpPr>
        <p:spPr>
          <a:xfrm>
            <a:off x="51308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08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10%</a:t>
            </a:r>
          </a:p>
        </p:txBody>
      </p:sp>
      <p:sp>
        <p:nvSpPr>
          <p:cNvPr id="14" name="TextBox 13"/>
          <p:cNvSpPr txBox="1"/>
          <p:nvPr/>
        </p:nvSpPr>
        <p:spPr>
          <a:xfrm>
            <a:off x="51308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Mid-term quiz</a:t>
            </a:r>
          </a:p>
        </p:txBody>
      </p:sp>
      <p:sp>
        <p:nvSpPr>
          <p:cNvPr id="15" name="TextBox 14"/>
          <p:cNvSpPr txBox="1"/>
          <p:nvPr/>
        </p:nvSpPr>
        <p:spPr>
          <a:xfrm>
            <a:off x="51308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Multiple choice, week 7. Concepts from weeks 1–6 and the playlist.</a:t>
            </a:r>
          </a:p>
        </p:txBody>
      </p:sp>
      <p:sp>
        <p:nvSpPr>
          <p:cNvPr id="16" name="Rectangle 15"/>
          <p:cNvSpPr/>
          <p:nvPr/>
        </p:nvSpPr>
        <p:spPr>
          <a:xfrm>
            <a:off x="73152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514600"/>
            <a:ext cx="1930400" cy="698500"/>
          </a:xfrm>
          <a:prstGeom prst="rect">
            <a:avLst/>
          </a:prstGeom>
          <a:noFill/>
        </p:spPr>
        <p:txBody>
          <a:bodyPr wrap="square" lIns="0" rIns="0" tIns="0" bIns="0" anchor="t">
            <a:noAutofit/>
          </a:bodyPr>
          <a:lstStyle/>
          <a:p>
            <a:pPr algn="l">
              <a:lnSpc>
                <a:spcPct val="81500"/>
              </a:lnSpc>
            </a:pPr>
            <a:r>
              <a:rPr sz="6600" b="0" spc="-264">
                <a:solidFill>
                  <a:srgbClr val="ED6D24"/>
                </a:solidFill>
                <a:latin typeface="Inter Black"/>
              </a:rPr>
              <a:t>40%</a:t>
            </a:r>
          </a:p>
        </p:txBody>
      </p:sp>
      <p:sp>
        <p:nvSpPr>
          <p:cNvPr id="18" name="TextBox 17"/>
          <p:cNvSpPr txBox="1"/>
          <p:nvPr/>
        </p:nvSpPr>
        <p:spPr>
          <a:xfrm>
            <a:off x="73152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Group project</a:t>
            </a:r>
          </a:p>
        </p:txBody>
      </p:sp>
      <p:sp>
        <p:nvSpPr>
          <p:cNvPr id="19" name="TextBox 18"/>
          <p:cNvSpPr txBox="1"/>
          <p:nvPr/>
        </p:nvSpPr>
        <p:spPr>
          <a:xfrm>
            <a:off x="73152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Design a product that incorporates AI. Poster A0 + 3–5 min video + one-page mediation brief. Poster fair, week 13.</a:t>
            </a:r>
          </a:p>
        </p:txBody>
      </p:sp>
      <p:sp>
        <p:nvSpPr>
          <p:cNvPr id="20" name="Rectangle 19"/>
          <p:cNvSpPr/>
          <p:nvPr/>
        </p:nvSpPr>
        <p:spPr>
          <a:xfrm>
            <a:off x="94996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99600" y="2514600"/>
            <a:ext cx="1930400" cy="698500"/>
          </a:xfrm>
          <a:prstGeom prst="rect">
            <a:avLst/>
          </a:prstGeom>
          <a:noFill/>
        </p:spPr>
        <p:txBody>
          <a:bodyPr wrap="square" lIns="0" rIns="0" tIns="0" bIns="0" anchor="t">
            <a:noAutofit/>
          </a:bodyPr>
          <a:lstStyle/>
          <a:p>
            <a:pPr algn="l">
              <a:lnSpc>
                <a:spcPct val="81500"/>
              </a:lnSpc>
            </a:pPr>
            <a:r>
              <a:rPr sz="6600" b="0" spc="-264">
                <a:solidFill>
                  <a:srgbClr val="000B1C"/>
                </a:solidFill>
                <a:latin typeface="Inter Black"/>
              </a:rPr>
              <a:t>20%</a:t>
            </a:r>
          </a:p>
        </p:txBody>
      </p:sp>
      <p:sp>
        <p:nvSpPr>
          <p:cNvPr id="22" name="TextBox 21"/>
          <p:cNvSpPr txBox="1"/>
          <p:nvPr/>
        </p:nvSpPr>
        <p:spPr>
          <a:xfrm>
            <a:off x="9499600" y="3302000"/>
            <a:ext cx="1930400" cy="571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Final quiz</a:t>
            </a:r>
          </a:p>
        </p:txBody>
      </p:sp>
      <p:sp>
        <p:nvSpPr>
          <p:cNvPr id="23" name="TextBox 22"/>
          <p:cNvSpPr txBox="1"/>
          <p:nvPr/>
        </p:nvSpPr>
        <p:spPr>
          <a:xfrm>
            <a:off x="9499600" y="3937000"/>
            <a:ext cx="1930400" cy="2159000"/>
          </a:xfrm>
          <a:prstGeom prst="rect">
            <a:avLst/>
          </a:prstGeom>
          <a:noFill/>
        </p:spPr>
        <p:txBody>
          <a:bodyPr wrap="square" lIns="0" rIns="0" tIns="0" bIns="0" anchor="t">
            <a:noAutofit/>
          </a:bodyPr>
          <a:lstStyle/>
          <a:p>
            <a:pPr algn="l">
              <a:lnSpc>
                <a:spcPct val="108000"/>
              </a:lnSpc>
            </a:pPr>
            <a:r>
              <a:rPr sz="1800" b="0">
                <a:solidFill>
                  <a:srgbClr val="2A323D"/>
                </a:solidFill>
                <a:latin typeface="Inter"/>
              </a:rPr>
              <a:t>Multiple choice, week 14. The whole course.</a:t>
            </a:r>
          </a:p>
        </p:txBody>
      </p:sp>
      <p:sp>
        <p:nvSpPr>
          <p:cNvPr id="2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51</a:t>
            </a:r>
          </a:p>
        </p:txBody>
      </p:sp>
      <p:pic>
        <p:nvPicPr>
          <p:cNvPr id="26"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additive="base">
                                        <p:cTn id="28" dur="500" fill="hold"/>
                                        <p:tgtEl>
                                          <p:spTgt spid="16"/>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anim calcmode="lin" valueType="num">
                                      <p:cBhvr additive="base">
                                        <p:cTn id="32" dur="500" fill="hold"/>
                                        <p:tgtEl>
                                          <p:spTgt spid="20"/>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anim calcmode="lin" valueType="num">
                                      <p:cBhvr additive="base">
                                        <p:cTn id="36" dur="500" fill="hold"/>
                                        <p:tgtEl>
                                          <p:spTgt spid="5"/>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3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additive="base">
                                        <p:cTn id="40" dur="500" fill="hold"/>
                                        <p:tgtEl>
                                          <p:spTgt spid="9"/>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3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additive="base">
                                        <p:cTn id="44" dur="500" fill="hold"/>
                                        <p:tgtEl>
                                          <p:spTgt spid="13"/>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30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anim calcmode="lin" valueType="num">
                                      <p:cBhvr additive="base">
                                        <p:cTn id="48" dur="500" fill="hold"/>
                                        <p:tgtEl>
                                          <p:spTgt spid="17"/>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130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anim calcmode="lin" valueType="num">
                                      <p:cBhvr additive="base">
                                        <p:cTn id="52" dur="500" fill="hold"/>
                                        <p:tgtEl>
                                          <p:spTgt spid="21"/>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195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anim calcmode="lin" valueType="num">
                                      <p:cBhvr additive="base">
                                        <p:cTn id="56" dur="500" fill="hold"/>
                                        <p:tgtEl>
                                          <p:spTgt spid="6"/>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195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anim calcmode="lin" valueType="num">
                                      <p:cBhvr additive="base">
                                        <p:cTn id="60" dur="500" fill="hold"/>
                                        <p:tgtEl>
                                          <p:spTgt spid="10"/>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195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additive="base">
                                        <p:cTn id="64" dur="500" fill="hold"/>
                                        <p:tgtEl>
                                          <p:spTgt spid="14"/>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195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additive="base">
                                        <p:cTn id="68" dur="500" fill="hold"/>
                                        <p:tgtEl>
                                          <p:spTgt spid="18"/>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195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anim calcmode="lin" valueType="num">
                                      <p:cBhvr additive="base">
                                        <p:cTn id="72" dur="500" fill="hold"/>
                                        <p:tgtEl>
                                          <p:spTgt spid="22"/>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260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500"/>
                                        <p:tgtEl>
                                          <p:spTgt spid="7"/>
                                        </p:tgtEl>
                                      </p:cBhvr>
                                    </p:animEffect>
                                    <p:anim calcmode="lin" valueType="num">
                                      <p:cBhvr additive="base">
                                        <p:cTn id="76" dur="500" fill="hold"/>
                                        <p:tgtEl>
                                          <p:spTgt spid="7"/>
                                        </p:tgtEl>
                                        <p:attrNameLst>
                                          <p:attrName>ppt_y</p:attrName>
                                        </p:attrNameLst>
                                      </p:cBhvr>
                                      <p:tavLst>
                                        <p:tav tm="0">
                                          <p:val>
                                            <p:strVal val="#ppt_y+.025"/>
                                          </p:val>
                                        </p:tav>
                                        <p:tav tm="100000">
                                          <p:val>
                                            <p:strVal val="#ppt_y"/>
                                          </p:val>
                                        </p:tav>
                                      </p:tavLst>
                                    </p:anim>
                                  </p:childTnLst>
                                </p:cTn>
                              </p:par>
                              <p:par>
                                <p:cTn id="77" presetID="10" presetClass="entr" presetSubtype="0" fill="hold" grpId="0" nodeType="withEffect">
                                  <p:stCondLst>
                                    <p:cond delay="2600"/>
                                  </p:stCondLst>
                                  <p:childTnLst>
                                    <p:set>
                                      <p:cBhvr>
                                        <p:cTn id="78" dur="1" fill="hold">
                                          <p:stCondLst>
                                            <p:cond delay="0"/>
                                          </p:stCondLst>
                                        </p:cTn>
                                        <p:tgtEl>
                                          <p:spTgt spid="11"/>
                                        </p:tgtEl>
                                        <p:attrNameLst>
                                          <p:attrName>style.visibility</p:attrName>
                                        </p:attrNameLst>
                                      </p:cBhvr>
                                      <p:to>
                                        <p:strVal val="visible"/>
                                      </p:to>
                                    </p:set>
                                    <p:animEffect transition="in" filter="fade">
                                      <p:cBhvr>
                                        <p:cTn id="79" dur="500"/>
                                        <p:tgtEl>
                                          <p:spTgt spid="11"/>
                                        </p:tgtEl>
                                      </p:cBhvr>
                                    </p:animEffect>
                                    <p:anim calcmode="lin" valueType="num">
                                      <p:cBhvr additive="base">
                                        <p:cTn id="80" dur="500" fill="hold"/>
                                        <p:tgtEl>
                                          <p:spTgt spid="11"/>
                                        </p:tgtEl>
                                        <p:attrNameLst>
                                          <p:attrName>ppt_y</p:attrName>
                                        </p:attrNameLst>
                                      </p:cBhvr>
                                      <p:tavLst>
                                        <p:tav tm="0">
                                          <p:val>
                                            <p:strVal val="#ppt_y+.025"/>
                                          </p:val>
                                        </p:tav>
                                        <p:tav tm="100000">
                                          <p:val>
                                            <p:strVal val="#ppt_y"/>
                                          </p:val>
                                        </p:tav>
                                      </p:tavLst>
                                    </p:anim>
                                  </p:childTnLst>
                                </p:cTn>
                              </p:par>
                              <p:par>
                                <p:cTn id="81" presetID="10" presetClass="entr" presetSubtype="0" fill="hold" grpId="0" nodeType="withEffect">
                                  <p:stCondLst>
                                    <p:cond delay="260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anim calcmode="lin" valueType="num">
                                      <p:cBhvr additive="base">
                                        <p:cTn id="84" dur="500" fill="hold"/>
                                        <p:tgtEl>
                                          <p:spTgt spid="15"/>
                                        </p:tgtEl>
                                        <p:attrNameLst>
                                          <p:attrName>ppt_y</p:attrName>
                                        </p:attrNameLst>
                                      </p:cBhvr>
                                      <p:tavLst>
                                        <p:tav tm="0">
                                          <p:val>
                                            <p:strVal val="#ppt_y+.025"/>
                                          </p:val>
                                        </p:tav>
                                        <p:tav tm="100000">
                                          <p:val>
                                            <p:strVal val="#ppt_y"/>
                                          </p:val>
                                        </p:tav>
                                      </p:tavLst>
                                    </p:anim>
                                  </p:childTnLst>
                                </p:cTn>
                              </p:par>
                              <p:par>
                                <p:cTn id="85" presetID="10" presetClass="entr" presetSubtype="0" fill="hold" grpId="0" nodeType="withEffect">
                                  <p:stCondLst>
                                    <p:cond delay="260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anim calcmode="lin" valueType="num">
                                      <p:cBhvr additive="base">
                                        <p:cTn id="88" dur="500" fill="hold"/>
                                        <p:tgtEl>
                                          <p:spTgt spid="19"/>
                                        </p:tgtEl>
                                        <p:attrNameLst>
                                          <p:attrName>ppt_y</p:attrName>
                                        </p:attrNameLst>
                                      </p:cBhvr>
                                      <p:tavLst>
                                        <p:tav tm="0">
                                          <p:val>
                                            <p:strVal val="#ppt_y+.025"/>
                                          </p:val>
                                        </p:tav>
                                        <p:tav tm="100000">
                                          <p:val>
                                            <p:strVal val="#ppt_y"/>
                                          </p:val>
                                        </p:tav>
                                      </p:tavLst>
                                    </p:anim>
                                  </p:childTnLst>
                                </p:cTn>
                              </p:par>
                              <p:par>
                                <p:cTn id="89" presetID="10" presetClass="entr" presetSubtype="0" fill="hold" grpId="0" nodeType="withEffect">
                                  <p:stCondLst>
                                    <p:cond delay="260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16" grpId="0"/>
      <p:bldP spid="20" grpId="0"/>
      <p:bldP spid="5" grpId="0"/>
      <p:bldP spid="9" grpId="0"/>
      <p:bldP spid="13" grpId="0"/>
      <p:bldP spid="17" grpId="0"/>
      <p:bldP spid="21" grpId="0"/>
      <p:bldP spid="6" grpId="0"/>
      <p:bldP spid="10" grpId="0"/>
      <p:bldP spid="14" grpId="0"/>
      <p:bldP spid="18" grpId="0"/>
      <p:bldP spid="22" grpId="0"/>
      <p:bldP spid="7" grpId="0"/>
      <p:bldP spid="11" grpId="0"/>
      <p:bldP spid="15" grpId="0"/>
      <p:bldP spid="19" grpId="0"/>
      <p:bldP spid="23" grpId="0"/>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INDIVIDUAL REFLECTION · 20% · DUE WEEK 7</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Use AI in your own process for six weeks. Then argue.</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a:lnSpc>
                <a:spcPct val="114900"/>
              </a:lnSpc>
            </a:pPr>
            <a:r>
              <a:rPr sz="2400" b="1">
                <a:solidFill>
                  <a:srgbClr val="2A323D"/>
                </a:solidFill>
                <a:latin typeface="Inter"/>
              </a:rPr>
              <a:t>Topic:</a:t>
            </a:r>
            <a:r>
              <a:rPr sz="2400" b="0">
                <a:solidFill>
                  <a:srgbClr val="2A323D"/>
                </a:solidFill>
                <a:latin typeface="Inter"/>
              </a:rPr>
              <a:t> the role of AI in your creative process — with particular attention to the difference between rule-based and adaptive systems.</a:t>
            </a:r>
          </a:p>
          <a:p>
            <a:pPr algn="l" marL="304800" indent="-304800">
              <a:lnSpc>
                <a:spcPct val="114900"/>
              </a:lnSpc>
              <a:spcBef>
                <a:spcPts val="1350"/>
              </a:spcBef>
              <a:buClr>
                <a:srgbClr val="ED6D24"/>
              </a:buClr>
              <a:buFont typeface="Inter Black"/>
              <a:buChar char="·"/>
            </a:pPr>
            <a:r>
              <a:rPr sz="2400" b="0">
                <a:solidFill>
                  <a:srgbClr val="2A323D"/>
                </a:solidFill>
                <a:latin typeface="Inter"/>
              </a:rPr>
              <a:t>About 1000 words, submitted on Blackboard.</a:t>
            </a:r>
          </a:p>
          <a:p>
            <a:pPr algn="l" marL="304800" indent="-304800">
              <a:lnSpc>
                <a:spcPct val="114900"/>
              </a:lnSpc>
              <a:spcBef>
                <a:spcPts val="1350"/>
              </a:spcBef>
              <a:buClr>
                <a:srgbClr val="ED6D24"/>
              </a:buClr>
              <a:buFont typeface="Inter Black"/>
              <a:buChar char="·"/>
            </a:pPr>
            <a:r>
              <a:rPr sz="2400" b="0">
                <a:solidFill>
                  <a:srgbClr val="2A323D"/>
                </a:solidFill>
                <a:latin typeface="Inter"/>
              </a:rPr>
              <a:t>Evidence: at least three of your own experiments from the weekly challenges, with images.</a:t>
            </a:r>
          </a:p>
          <a:p>
            <a:pPr algn="l" marL="304800" indent="-304800">
              <a:lnSpc>
                <a:spcPct val="114900"/>
              </a:lnSpc>
              <a:spcBef>
                <a:spcPts val="1350"/>
              </a:spcBef>
              <a:buClr>
                <a:srgbClr val="ED6D24"/>
              </a:buClr>
              <a:buFont typeface="Inter Black"/>
              <a:buChar char="·"/>
            </a:pPr>
            <a:r>
              <a:rPr sz="2400" b="0">
                <a:solidFill>
                  <a:srgbClr val="2A323D"/>
                </a:solidFill>
                <a:latin typeface="Inter"/>
              </a:rPr>
              <a:t>A short </a:t>
            </a:r>
            <a:r>
              <a:rPr sz="2400" b="1">
                <a:solidFill>
                  <a:srgbClr val="2A323D"/>
                </a:solidFill>
                <a:latin typeface="Inter"/>
              </a:rPr>
              <a:t>process note</a:t>
            </a:r>
            <a:r>
              <a:rPr sz="2400" b="0">
                <a:solidFill>
                  <a:srgbClr val="2A323D"/>
                </a:solidFill>
                <a:latin typeface="Inter"/>
              </a:rPr>
              <a:t> at the end: how you used AI to make the reflection itself. Allowed, expected, disclosed.</a:t>
            </a:r>
          </a:p>
          <a:p>
            <a:pPr algn="l">
              <a:lnSpc>
                <a:spcPct val="114900"/>
              </a:lnSpc>
              <a:spcBef>
                <a:spcPts val="1350"/>
              </a:spcBef>
            </a:pPr>
            <a:r>
              <a:rPr sz="2400" b="0">
                <a:solidFill>
                  <a:srgbClr val="2A323D"/>
                </a:solidFill>
                <a:latin typeface="Inter"/>
              </a:rPr>
              <a:t>Graded on understanding (30), argument (30), evidence (20), clarity (10), originality (10). Rubric on Blackboard.</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52</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GROUP PROJECT · 40% · DUE WEEK 13</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Design a product that incorporates AI.</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a:lnSpc>
                <a:spcPct val="114900"/>
              </a:lnSpc>
            </a:pPr>
            <a:r>
              <a:rPr sz="2400" b="0">
                <a:solidFill>
                  <a:srgbClr val="2A323D"/>
                </a:solidFill>
                <a:latin typeface="Inter"/>
              </a:rPr>
              <a:t>Teams of four to five, formed in week 7. A product or service in which a model </a:t>
            </a:r>
            <a:r>
              <a:rPr sz="2400" b="1">
                <a:solidFill>
                  <a:srgbClr val="2A323D"/>
                </a:solidFill>
                <a:latin typeface="Inter"/>
              </a:rPr>
              <a:t>decides something for each person</a:t>
            </a:r>
            <a:r>
              <a:rPr sz="2400" b="0">
                <a:solidFill>
                  <a:srgbClr val="2A323D"/>
                </a:solidFill>
                <a:latin typeface="Inter"/>
              </a:rPr>
              <a:t> — and your account of what that does to them.</a:t>
            </a:r>
          </a:p>
          <a:p>
            <a:pPr algn="l" marL="304800" indent="-304800">
              <a:lnSpc>
                <a:spcPct val="114900"/>
              </a:lnSpc>
              <a:spcBef>
                <a:spcPts val="1350"/>
              </a:spcBef>
              <a:buClr>
                <a:srgbClr val="ED6D24"/>
              </a:buClr>
              <a:buFont typeface="Inter Black"/>
              <a:buChar char="·"/>
            </a:pPr>
            <a:r>
              <a:rPr sz="2400" b="1">
                <a:solidFill>
                  <a:srgbClr val="2A323D"/>
                </a:solidFill>
                <a:latin typeface="Inter"/>
              </a:rPr>
              <a:t>Poster, A0:</a:t>
            </a:r>
            <a:r>
              <a:rPr sz="2400" b="0">
                <a:solidFill>
                  <a:srgbClr val="2A323D"/>
                </a:solidFill>
                <a:latin typeface="Inter"/>
              </a:rPr>
              <a:t> the research and the design concept, shown at the poster fair.</a:t>
            </a:r>
          </a:p>
          <a:p>
            <a:pPr algn="l" marL="304800" indent="-304800">
              <a:lnSpc>
                <a:spcPct val="114900"/>
              </a:lnSpc>
              <a:spcBef>
                <a:spcPts val="1350"/>
              </a:spcBef>
              <a:buClr>
                <a:srgbClr val="ED6D24"/>
              </a:buClr>
              <a:buFont typeface="Inter Black"/>
              <a:buChar char="·"/>
            </a:pPr>
            <a:r>
              <a:rPr sz="2400" b="1">
                <a:solidFill>
                  <a:srgbClr val="2A323D"/>
                </a:solidFill>
                <a:latin typeface="Inter"/>
              </a:rPr>
              <a:t>Video, 3–5 min:</a:t>
            </a:r>
            <a:r>
              <a:rPr sz="2400" b="0">
                <a:solidFill>
                  <a:srgbClr val="2A323D"/>
                </a:solidFill>
                <a:latin typeface="Inter"/>
              </a:rPr>
              <a:t> how the product works, for someone who has never seen it.</a:t>
            </a:r>
          </a:p>
          <a:p>
            <a:pPr algn="l" marL="304800" indent="-304800">
              <a:lnSpc>
                <a:spcPct val="114900"/>
              </a:lnSpc>
              <a:spcBef>
                <a:spcPts val="1350"/>
              </a:spcBef>
              <a:buClr>
                <a:srgbClr val="ED6D24"/>
              </a:buClr>
              <a:buFont typeface="Inter Black"/>
              <a:buChar char="·"/>
            </a:pPr>
            <a:r>
              <a:rPr sz="2400" b="1">
                <a:solidFill>
                  <a:srgbClr val="2A323D"/>
                </a:solidFill>
                <a:latin typeface="Inter"/>
              </a:rPr>
              <a:t>Mediation brief, one page:</a:t>
            </a:r>
            <a:r>
              <a:rPr sz="2400" b="0">
                <a:solidFill>
                  <a:srgbClr val="2A323D"/>
                </a:solidFill>
                <a:latin typeface="Inter"/>
              </a:rPr>
              <a:t> which human–technology relation you are building, what data it needs, where it is biased, and the guardrails.</a:t>
            </a:r>
          </a:p>
          <a:p>
            <a:pPr algn="l">
              <a:lnSpc>
                <a:spcPct val="114900"/>
              </a:lnSpc>
              <a:spcBef>
                <a:spcPts val="1350"/>
              </a:spcBef>
            </a:pPr>
            <a:r>
              <a:rPr sz="2400" b="0">
                <a:solidFill>
                  <a:srgbClr val="2A323D"/>
                </a:solidFill>
                <a:latin typeface="Inter"/>
              </a:rPr>
              <a:t>Rubric: research and context (30), ethical and social impact (30), poster (20), video (10), teamwork and process (10).</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53</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WEEKLY CHALLENGES · WEEKS 2 – 6</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Make one thing a week.</a:t>
            </a:r>
          </a:p>
        </p:txBody>
      </p:sp>
      <p:sp>
        <p:nvSpPr>
          <p:cNvPr id="4" name="Rectangle 3"/>
          <p:cNvSpPr/>
          <p:nvPr/>
        </p:nvSpPr>
        <p:spPr>
          <a:xfrm>
            <a:off x="7620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2</a:t>
            </a:r>
          </a:p>
        </p:txBody>
      </p:sp>
      <p:sp>
        <p:nvSpPr>
          <p:cNvPr id="6" name="TextBox 5"/>
          <p:cNvSpPr txBox="1"/>
          <p:nvPr/>
        </p:nvSpPr>
        <p:spPr>
          <a:xfrm>
            <a:off x="7620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 picture from rules</a:t>
            </a:r>
          </a:p>
        </p:txBody>
      </p:sp>
      <p:sp>
        <p:nvSpPr>
          <p:cNvPr id="7" name="TextBox 6"/>
          <p:cNvSpPr txBox="1"/>
          <p:nvPr/>
        </p:nvSpPr>
        <p:spPr>
          <a:xfrm>
            <a:off x="7620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A p5.js sketch. One rule, one random number, your own picture.</a:t>
            </a:r>
          </a:p>
        </p:txBody>
      </p:sp>
      <p:sp>
        <p:nvSpPr>
          <p:cNvPr id="8" name="Rectangle 7"/>
          <p:cNvSpPr/>
          <p:nvPr/>
        </p:nvSpPr>
        <p:spPr>
          <a:xfrm>
            <a:off x="29464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64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3</a:t>
            </a:r>
          </a:p>
        </p:txBody>
      </p:sp>
      <p:sp>
        <p:nvSpPr>
          <p:cNvPr id="10" name="TextBox 9"/>
          <p:cNvSpPr txBox="1"/>
          <p:nvPr/>
        </p:nvSpPr>
        <p:spPr>
          <a:xfrm>
            <a:off x="29464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 dataset of ten</a:t>
            </a:r>
          </a:p>
        </p:txBody>
      </p:sp>
      <p:sp>
        <p:nvSpPr>
          <p:cNvPr id="11" name="TextBox 10"/>
          <p:cNvSpPr txBox="1"/>
          <p:nvPr/>
        </p:nvSpPr>
        <p:spPr>
          <a:xfrm>
            <a:off x="29464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Ten images that teach a machine one concept from your studio. Say what it would learn wrong.</a:t>
            </a:r>
          </a:p>
        </p:txBody>
      </p:sp>
      <p:sp>
        <p:nvSpPr>
          <p:cNvPr id="12" name="Rectangle 11"/>
          <p:cNvSpPr/>
          <p:nvPr/>
        </p:nvSpPr>
        <p:spPr>
          <a:xfrm>
            <a:off x="51308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308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4</a:t>
            </a:r>
          </a:p>
        </p:txBody>
      </p:sp>
      <p:sp>
        <p:nvSpPr>
          <p:cNvPr id="14" name="TextBox 13"/>
          <p:cNvSpPr txBox="1"/>
          <p:nvPr/>
        </p:nvSpPr>
        <p:spPr>
          <a:xfrm>
            <a:off x="51308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 brief, automated</a:t>
            </a:r>
          </a:p>
        </p:txBody>
      </p:sp>
      <p:sp>
        <p:nvSpPr>
          <p:cNvPr id="15" name="TextBox 14"/>
          <p:cNvSpPr txBox="1"/>
          <p:nvPr/>
        </p:nvSpPr>
        <p:spPr>
          <a:xfrm>
            <a:off x="51308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A design brief drafted by a language model from your prompt, then edited by you. Show both.</a:t>
            </a:r>
          </a:p>
        </p:txBody>
      </p:sp>
      <p:sp>
        <p:nvSpPr>
          <p:cNvPr id="16" name="Rectangle 15"/>
          <p:cNvSpPr/>
          <p:nvPr/>
        </p:nvSpPr>
        <p:spPr>
          <a:xfrm>
            <a:off x="73152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5</a:t>
            </a:r>
          </a:p>
        </p:txBody>
      </p:sp>
      <p:sp>
        <p:nvSpPr>
          <p:cNvPr id="18" name="TextBox 17"/>
          <p:cNvSpPr txBox="1"/>
          <p:nvPr/>
        </p:nvSpPr>
        <p:spPr>
          <a:xfrm>
            <a:off x="73152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An image you could not draw</a:t>
            </a:r>
          </a:p>
        </p:txBody>
      </p:sp>
      <p:sp>
        <p:nvSpPr>
          <p:cNvPr id="19" name="TextBox 18"/>
          <p:cNvSpPr txBox="1"/>
          <p:nvPr/>
        </p:nvSpPr>
        <p:spPr>
          <a:xfrm>
            <a:off x="73152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Generated, iterated, and critiqued: what did the model decide that you did not?</a:t>
            </a:r>
          </a:p>
        </p:txBody>
      </p:sp>
      <p:sp>
        <p:nvSpPr>
          <p:cNvPr id="20" name="Rectangle 19"/>
          <p:cNvSpPr/>
          <p:nvPr/>
        </p:nvSpPr>
        <p:spPr>
          <a:xfrm>
            <a:off x="9499600" y="2362200"/>
            <a:ext cx="193040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99600" y="2514600"/>
            <a:ext cx="193040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WEEK 6</a:t>
            </a:r>
          </a:p>
        </p:txBody>
      </p:sp>
      <p:sp>
        <p:nvSpPr>
          <p:cNvPr id="22" name="TextBox 21"/>
          <p:cNvSpPr txBox="1"/>
          <p:nvPr/>
        </p:nvSpPr>
        <p:spPr>
          <a:xfrm>
            <a:off x="9499600" y="2844800"/>
            <a:ext cx="1930400" cy="825500"/>
          </a:xfrm>
          <a:prstGeom prst="rect">
            <a:avLst/>
          </a:prstGeom>
          <a:noFill/>
        </p:spPr>
        <p:txBody>
          <a:bodyPr wrap="square" lIns="0" rIns="0" tIns="0" bIns="0" anchor="t">
            <a:noAutofit/>
          </a:bodyPr>
          <a:lstStyle/>
          <a:p>
            <a:pPr algn="l">
              <a:lnSpc>
                <a:spcPct val="82900"/>
              </a:lnSpc>
            </a:pPr>
            <a:r>
              <a:rPr sz="2250" b="0" spc="-45">
                <a:solidFill>
                  <a:srgbClr val="000B1C"/>
                </a:solidFill>
                <a:latin typeface="Inter ExtraBold"/>
              </a:rPr>
              <a:t>Thirty seconds of sound</a:t>
            </a:r>
          </a:p>
        </p:txBody>
      </p:sp>
      <p:sp>
        <p:nvSpPr>
          <p:cNvPr id="23" name="TextBox 22"/>
          <p:cNvSpPr txBox="1"/>
          <p:nvPr/>
        </p:nvSpPr>
        <p:spPr>
          <a:xfrm>
            <a:off x="9499600" y="3733800"/>
            <a:ext cx="1930400" cy="3556000"/>
          </a:xfrm>
          <a:prstGeom prst="rect">
            <a:avLst/>
          </a:prstGeom>
          <a:noFill/>
        </p:spPr>
        <p:txBody>
          <a:bodyPr wrap="square" lIns="0" rIns="0" tIns="0" bIns="0" anchor="t">
            <a:noAutofit/>
          </a:bodyPr>
          <a:lstStyle/>
          <a:p>
            <a:pPr algn="l">
              <a:lnSpc>
                <a:spcPct val="110000"/>
              </a:lnSpc>
            </a:pPr>
            <a:r>
              <a:rPr sz="1650" b="0">
                <a:solidFill>
                  <a:srgbClr val="2A323D"/>
                </a:solidFill>
                <a:latin typeface="Inter"/>
              </a:rPr>
              <a:t>A sound or music snippet for a product. Where did control stay with you?</a:t>
            </a:r>
          </a:p>
        </p:txBody>
      </p:sp>
      <p:sp>
        <p:nvSpPr>
          <p:cNvPr id="24"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25"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54</a:t>
            </a:r>
          </a:p>
        </p:txBody>
      </p:sp>
      <p:pic>
        <p:nvPicPr>
          <p:cNvPr id="26"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additive="base">
                                        <p:cTn id="28" dur="500" fill="hold"/>
                                        <p:tgtEl>
                                          <p:spTgt spid="16"/>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anim calcmode="lin" valueType="num">
                                      <p:cBhvr additive="base">
                                        <p:cTn id="32" dur="500" fill="hold"/>
                                        <p:tgtEl>
                                          <p:spTgt spid="20"/>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anim calcmode="lin" valueType="num">
                                      <p:cBhvr additive="base">
                                        <p:cTn id="36" dur="500" fill="hold"/>
                                        <p:tgtEl>
                                          <p:spTgt spid="5"/>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3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additive="base">
                                        <p:cTn id="40" dur="500" fill="hold"/>
                                        <p:tgtEl>
                                          <p:spTgt spid="9"/>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3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additive="base">
                                        <p:cTn id="44" dur="500" fill="hold"/>
                                        <p:tgtEl>
                                          <p:spTgt spid="13"/>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30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anim calcmode="lin" valueType="num">
                                      <p:cBhvr additive="base">
                                        <p:cTn id="48" dur="500" fill="hold"/>
                                        <p:tgtEl>
                                          <p:spTgt spid="17"/>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130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anim calcmode="lin" valueType="num">
                                      <p:cBhvr additive="base">
                                        <p:cTn id="52" dur="500" fill="hold"/>
                                        <p:tgtEl>
                                          <p:spTgt spid="21"/>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195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anim calcmode="lin" valueType="num">
                                      <p:cBhvr additive="base">
                                        <p:cTn id="56" dur="500" fill="hold"/>
                                        <p:tgtEl>
                                          <p:spTgt spid="6"/>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195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anim calcmode="lin" valueType="num">
                                      <p:cBhvr additive="base">
                                        <p:cTn id="60" dur="500" fill="hold"/>
                                        <p:tgtEl>
                                          <p:spTgt spid="10"/>
                                        </p:tgtEl>
                                        <p:attrNameLst>
                                          <p:attrName>ppt_y</p:attrName>
                                        </p:attrNameLst>
                                      </p:cBhvr>
                                      <p:tavLst>
                                        <p:tav tm="0">
                                          <p:val>
                                            <p:strVal val="#ppt_y+.025"/>
                                          </p:val>
                                        </p:tav>
                                        <p:tav tm="100000">
                                          <p:val>
                                            <p:strVal val="#ppt_y"/>
                                          </p:val>
                                        </p:tav>
                                      </p:tavLst>
                                    </p:anim>
                                  </p:childTnLst>
                                </p:cTn>
                              </p:par>
                              <p:par>
                                <p:cTn id="61" presetID="10" presetClass="entr" presetSubtype="0" fill="hold" grpId="0" nodeType="withEffect">
                                  <p:stCondLst>
                                    <p:cond delay="195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additive="base">
                                        <p:cTn id="64" dur="500" fill="hold"/>
                                        <p:tgtEl>
                                          <p:spTgt spid="14"/>
                                        </p:tgtEl>
                                        <p:attrNameLst>
                                          <p:attrName>ppt_y</p:attrName>
                                        </p:attrNameLst>
                                      </p:cBhvr>
                                      <p:tavLst>
                                        <p:tav tm="0">
                                          <p:val>
                                            <p:strVal val="#ppt_y+.025"/>
                                          </p:val>
                                        </p:tav>
                                        <p:tav tm="100000">
                                          <p:val>
                                            <p:strVal val="#ppt_y"/>
                                          </p:val>
                                        </p:tav>
                                      </p:tavLst>
                                    </p:anim>
                                  </p:childTnLst>
                                </p:cTn>
                              </p:par>
                              <p:par>
                                <p:cTn id="65" presetID="10" presetClass="entr" presetSubtype="0" fill="hold" grpId="0" nodeType="withEffect">
                                  <p:stCondLst>
                                    <p:cond delay="195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additive="base">
                                        <p:cTn id="68" dur="500" fill="hold"/>
                                        <p:tgtEl>
                                          <p:spTgt spid="18"/>
                                        </p:tgtEl>
                                        <p:attrNameLst>
                                          <p:attrName>ppt_y</p:attrName>
                                        </p:attrNameLst>
                                      </p:cBhvr>
                                      <p:tavLst>
                                        <p:tav tm="0">
                                          <p:val>
                                            <p:strVal val="#ppt_y+.025"/>
                                          </p:val>
                                        </p:tav>
                                        <p:tav tm="100000">
                                          <p:val>
                                            <p:strVal val="#ppt_y"/>
                                          </p:val>
                                        </p:tav>
                                      </p:tavLst>
                                    </p:anim>
                                  </p:childTnLst>
                                </p:cTn>
                              </p:par>
                              <p:par>
                                <p:cTn id="69" presetID="10" presetClass="entr" presetSubtype="0" fill="hold" grpId="0" nodeType="withEffect">
                                  <p:stCondLst>
                                    <p:cond delay="195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anim calcmode="lin" valueType="num">
                                      <p:cBhvr additive="base">
                                        <p:cTn id="72" dur="500" fill="hold"/>
                                        <p:tgtEl>
                                          <p:spTgt spid="22"/>
                                        </p:tgtEl>
                                        <p:attrNameLst>
                                          <p:attrName>ppt_y</p:attrName>
                                        </p:attrNameLst>
                                      </p:cBhvr>
                                      <p:tavLst>
                                        <p:tav tm="0">
                                          <p:val>
                                            <p:strVal val="#ppt_y+.025"/>
                                          </p:val>
                                        </p:tav>
                                        <p:tav tm="100000">
                                          <p:val>
                                            <p:strVal val="#ppt_y"/>
                                          </p:val>
                                        </p:tav>
                                      </p:tavLst>
                                    </p:anim>
                                  </p:childTnLst>
                                </p:cTn>
                              </p:par>
                              <p:par>
                                <p:cTn id="73" presetID="10" presetClass="entr" presetSubtype="0" fill="hold" grpId="0" nodeType="withEffect">
                                  <p:stCondLst>
                                    <p:cond delay="260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500"/>
                                        <p:tgtEl>
                                          <p:spTgt spid="7"/>
                                        </p:tgtEl>
                                      </p:cBhvr>
                                    </p:animEffect>
                                    <p:anim calcmode="lin" valueType="num">
                                      <p:cBhvr additive="base">
                                        <p:cTn id="76" dur="500" fill="hold"/>
                                        <p:tgtEl>
                                          <p:spTgt spid="7"/>
                                        </p:tgtEl>
                                        <p:attrNameLst>
                                          <p:attrName>ppt_y</p:attrName>
                                        </p:attrNameLst>
                                      </p:cBhvr>
                                      <p:tavLst>
                                        <p:tav tm="0">
                                          <p:val>
                                            <p:strVal val="#ppt_y+.025"/>
                                          </p:val>
                                        </p:tav>
                                        <p:tav tm="100000">
                                          <p:val>
                                            <p:strVal val="#ppt_y"/>
                                          </p:val>
                                        </p:tav>
                                      </p:tavLst>
                                    </p:anim>
                                  </p:childTnLst>
                                </p:cTn>
                              </p:par>
                              <p:par>
                                <p:cTn id="77" presetID="10" presetClass="entr" presetSubtype="0" fill="hold" grpId="0" nodeType="withEffect">
                                  <p:stCondLst>
                                    <p:cond delay="2600"/>
                                  </p:stCondLst>
                                  <p:childTnLst>
                                    <p:set>
                                      <p:cBhvr>
                                        <p:cTn id="78" dur="1" fill="hold">
                                          <p:stCondLst>
                                            <p:cond delay="0"/>
                                          </p:stCondLst>
                                        </p:cTn>
                                        <p:tgtEl>
                                          <p:spTgt spid="11"/>
                                        </p:tgtEl>
                                        <p:attrNameLst>
                                          <p:attrName>style.visibility</p:attrName>
                                        </p:attrNameLst>
                                      </p:cBhvr>
                                      <p:to>
                                        <p:strVal val="visible"/>
                                      </p:to>
                                    </p:set>
                                    <p:animEffect transition="in" filter="fade">
                                      <p:cBhvr>
                                        <p:cTn id="79" dur="500"/>
                                        <p:tgtEl>
                                          <p:spTgt spid="11"/>
                                        </p:tgtEl>
                                      </p:cBhvr>
                                    </p:animEffect>
                                    <p:anim calcmode="lin" valueType="num">
                                      <p:cBhvr additive="base">
                                        <p:cTn id="80" dur="500" fill="hold"/>
                                        <p:tgtEl>
                                          <p:spTgt spid="11"/>
                                        </p:tgtEl>
                                        <p:attrNameLst>
                                          <p:attrName>ppt_y</p:attrName>
                                        </p:attrNameLst>
                                      </p:cBhvr>
                                      <p:tavLst>
                                        <p:tav tm="0">
                                          <p:val>
                                            <p:strVal val="#ppt_y+.025"/>
                                          </p:val>
                                        </p:tav>
                                        <p:tav tm="100000">
                                          <p:val>
                                            <p:strVal val="#ppt_y"/>
                                          </p:val>
                                        </p:tav>
                                      </p:tavLst>
                                    </p:anim>
                                  </p:childTnLst>
                                </p:cTn>
                              </p:par>
                              <p:par>
                                <p:cTn id="81" presetID="10" presetClass="entr" presetSubtype="0" fill="hold" grpId="0" nodeType="withEffect">
                                  <p:stCondLst>
                                    <p:cond delay="260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anim calcmode="lin" valueType="num">
                                      <p:cBhvr additive="base">
                                        <p:cTn id="84" dur="500" fill="hold"/>
                                        <p:tgtEl>
                                          <p:spTgt spid="15"/>
                                        </p:tgtEl>
                                        <p:attrNameLst>
                                          <p:attrName>ppt_y</p:attrName>
                                        </p:attrNameLst>
                                      </p:cBhvr>
                                      <p:tavLst>
                                        <p:tav tm="0">
                                          <p:val>
                                            <p:strVal val="#ppt_y+.025"/>
                                          </p:val>
                                        </p:tav>
                                        <p:tav tm="100000">
                                          <p:val>
                                            <p:strVal val="#ppt_y"/>
                                          </p:val>
                                        </p:tav>
                                      </p:tavLst>
                                    </p:anim>
                                  </p:childTnLst>
                                </p:cTn>
                              </p:par>
                              <p:par>
                                <p:cTn id="85" presetID="10" presetClass="entr" presetSubtype="0" fill="hold" grpId="0" nodeType="withEffect">
                                  <p:stCondLst>
                                    <p:cond delay="260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anim calcmode="lin" valueType="num">
                                      <p:cBhvr additive="base">
                                        <p:cTn id="88" dur="500" fill="hold"/>
                                        <p:tgtEl>
                                          <p:spTgt spid="19"/>
                                        </p:tgtEl>
                                        <p:attrNameLst>
                                          <p:attrName>ppt_y</p:attrName>
                                        </p:attrNameLst>
                                      </p:cBhvr>
                                      <p:tavLst>
                                        <p:tav tm="0">
                                          <p:val>
                                            <p:strVal val="#ppt_y+.025"/>
                                          </p:val>
                                        </p:tav>
                                        <p:tav tm="100000">
                                          <p:val>
                                            <p:strVal val="#ppt_y"/>
                                          </p:val>
                                        </p:tav>
                                      </p:tavLst>
                                    </p:anim>
                                  </p:childTnLst>
                                </p:cTn>
                              </p:par>
                              <p:par>
                                <p:cTn id="89" presetID="10" presetClass="entr" presetSubtype="0" fill="hold" grpId="0" nodeType="withEffect">
                                  <p:stCondLst>
                                    <p:cond delay="260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16" grpId="0"/>
      <p:bldP spid="20" grpId="0"/>
      <p:bldP spid="5" grpId="0"/>
      <p:bldP spid="9" grpId="0"/>
      <p:bldP spid="13" grpId="0"/>
      <p:bldP spid="17" grpId="0"/>
      <p:bldP spid="21" grpId="0"/>
      <p:bldP spid="6" grpId="0"/>
      <p:bldP spid="10" grpId="0"/>
      <p:bldP spid="14" grpId="0"/>
      <p:bldP spid="18" grpId="0"/>
      <p:bldP spid="22" grpId="0"/>
      <p:bldP spid="7" grpId="0"/>
      <p:bldP spid="11" grpId="0"/>
      <p:bldP spid="15" grpId="0"/>
      <p:bldP spid="19" grpId="0"/>
      <p:bldP spid="23" grpId="0"/>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THE RULES</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Three rules.</a:t>
            </a:r>
          </a:p>
        </p:txBody>
      </p:sp>
      <p:sp>
        <p:nvSpPr>
          <p:cNvPr id="4" name="Rectangle 3"/>
          <p:cNvSpPr/>
          <p:nvPr/>
        </p:nvSpPr>
        <p:spPr>
          <a:xfrm>
            <a:off x="7620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ATTENDANCE</a:t>
            </a:r>
          </a:p>
        </p:txBody>
      </p:sp>
      <p:sp>
        <p:nvSpPr>
          <p:cNvPr id="6" name="TextBox 5"/>
          <p:cNvSpPr txBox="1"/>
          <p:nvPr/>
        </p:nvSpPr>
        <p:spPr>
          <a:xfrm>
            <a:off x="7620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Come, or say so before.</a:t>
            </a:r>
          </a:p>
        </p:txBody>
      </p:sp>
      <p:sp>
        <p:nvSpPr>
          <p:cNvPr id="7" name="TextBox 6"/>
          <p:cNvSpPr txBox="1"/>
          <p:nvPr/>
        </p:nvSpPr>
        <p:spPr>
          <a:xfrm>
            <a:off x="7620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Participation is attendance plus ClassPoint. If you cannot come, tell ZHOU Zhibin before the class starts. Silent absence costs the mark; a message does not.</a:t>
            </a:r>
          </a:p>
        </p:txBody>
      </p:sp>
      <p:sp>
        <p:nvSpPr>
          <p:cNvPr id="8" name="Rectangle 7"/>
          <p:cNvSpPr/>
          <p:nvPr/>
        </p:nvSpPr>
        <p:spPr>
          <a:xfrm>
            <a:off x="440055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055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AI USE</a:t>
            </a:r>
          </a:p>
        </p:txBody>
      </p:sp>
      <p:sp>
        <p:nvSpPr>
          <p:cNvPr id="10" name="TextBox 9"/>
          <p:cNvSpPr txBox="1"/>
          <p:nvPr/>
        </p:nvSpPr>
        <p:spPr>
          <a:xfrm>
            <a:off x="440055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Allowed. Disclosed. Yours.</a:t>
            </a:r>
          </a:p>
        </p:txBody>
      </p:sp>
      <p:sp>
        <p:nvSpPr>
          <p:cNvPr id="11" name="TextBox 10"/>
          <p:cNvSpPr txBox="1"/>
          <p:nvPr/>
        </p:nvSpPr>
        <p:spPr>
          <a:xfrm>
            <a:off x="440055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Use any model, in any assignment. Say which, and how, in a process note. You are the author: you answer for accuracy, for sources, and for taste. Invented citations fail the assignment.</a:t>
            </a:r>
          </a:p>
        </p:txBody>
      </p:sp>
      <p:sp>
        <p:nvSpPr>
          <p:cNvPr id="12" name="Rectangle 11"/>
          <p:cNvSpPr/>
          <p:nvPr/>
        </p:nvSpPr>
        <p:spPr>
          <a:xfrm>
            <a:off x="8039100" y="2362200"/>
            <a:ext cx="3384550" cy="12700"/>
          </a:xfrm>
          <a:prstGeom prst="rect">
            <a:avLst/>
          </a:prstGeom>
          <a:solidFill>
            <a:srgbClr val="E1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9100" y="2514600"/>
            <a:ext cx="3384550" cy="228600"/>
          </a:xfrm>
          <a:prstGeom prst="rect">
            <a:avLst/>
          </a:prstGeom>
          <a:noFill/>
        </p:spPr>
        <p:txBody>
          <a:bodyPr wrap="square" lIns="0" rIns="0" tIns="0" bIns="0" anchor="t">
            <a:noAutofit/>
          </a:bodyPr>
          <a:lstStyle/>
          <a:p>
            <a:pPr algn="l">
              <a:lnSpc>
                <a:spcPct val="88000"/>
              </a:lnSpc>
            </a:pPr>
            <a:r>
              <a:rPr sz="1650" b="0" spc="231">
                <a:solidFill>
                  <a:srgbClr val="ED6D24"/>
                </a:solidFill>
                <a:latin typeface="JetBrains Mono Medium"/>
              </a:rPr>
              <a:t>ROOM</a:t>
            </a:r>
          </a:p>
        </p:txBody>
      </p:sp>
      <p:sp>
        <p:nvSpPr>
          <p:cNvPr id="14" name="TextBox 13"/>
          <p:cNvSpPr txBox="1"/>
          <p:nvPr/>
        </p:nvSpPr>
        <p:spPr>
          <a:xfrm>
            <a:off x="8039100" y="2844800"/>
            <a:ext cx="3384550" cy="825500"/>
          </a:xfrm>
          <a:prstGeom prst="rect">
            <a:avLst/>
          </a:prstGeom>
          <a:noFill/>
        </p:spPr>
        <p:txBody>
          <a:bodyPr wrap="square" lIns="0" rIns="0" tIns="0" bIns="0" anchor="t">
            <a:noAutofit/>
          </a:bodyPr>
          <a:lstStyle/>
          <a:p>
            <a:pPr algn="l">
              <a:lnSpc>
                <a:spcPct val="85700"/>
              </a:lnSpc>
            </a:pPr>
            <a:r>
              <a:rPr sz="3000" b="0" spc="-60">
                <a:solidFill>
                  <a:srgbClr val="000B1C"/>
                </a:solidFill>
                <a:latin typeface="Inter ExtraBold"/>
              </a:rPr>
              <a:t>30 minutes before, 30 after.</a:t>
            </a:r>
          </a:p>
        </p:txBody>
      </p:sp>
      <p:sp>
        <p:nvSpPr>
          <p:cNvPr id="15" name="TextBox 14"/>
          <p:cNvSpPr txBox="1"/>
          <p:nvPr/>
        </p:nvSpPr>
        <p:spPr>
          <a:xfrm>
            <a:off x="8039100" y="3733800"/>
            <a:ext cx="3384550" cy="3556000"/>
          </a:xfrm>
          <a:prstGeom prst="rect">
            <a:avLst/>
          </a:prstGeom>
          <a:noFill/>
        </p:spPr>
        <p:txBody>
          <a:bodyPr wrap="square" lIns="0" rIns="0" tIns="0" bIns="0" anchor="t">
            <a:noAutofit/>
          </a:bodyPr>
          <a:lstStyle/>
          <a:p>
            <a:pPr algn="l">
              <a:lnSpc>
                <a:spcPct val="110500"/>
              </a:lnSpc>
            </a:pPr>
            <a:r>
              <a:rPr sz="2250" b="0">
                <a:solidFill>
                  <a:srgbClr val="2A323D"/>
                </a:solidFill>
                <a:latin typeface="Inter"/>
              </a:rPr>
              <a:t>Nicolò and Amber are in the room before and after every class. Laptops, accounts, tools, drafts. That hour is the tutorial.</a:t>
            </a:r>
          </a:p>
        </p:txBody>
      </p:sp>
      <p:sp>
        <p:nvSpPr>
          <p:cNvPr id="16"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17"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55</a:t>
            </a:r>
          </a:p>
        </p:txBody>
      </p:sp>
      <p:pic>
        <p:nvPicPr>
          <p:cNvPr id="18"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par>
                                <p:cTn id="17" presetID="10" presetClass="entr" presetSubtype="0" fill="hold" grpId="0" nodeType="withEffect">
                                  <p:stCondLst>
                                    <p:cond delay="1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additive="base">
                                        <p:cTn id="20" dur="500" fill="hold"/>
                                        <p:tgtEl>
                                          <p:spTgt spid="8"/>
                                        </p:tgtEl>
                                        <p:attrNameLst>
                                          <p:attrName>ppt_y</p:attrName>
                                        </p:attrNameLst>
                                      </p:cBhvr>
                                      <p:tavLst>
                                        <p:tav tm="0">
                                          <p:val>
                                            <p:strVal val="#ppt_y+.025"/>
                                          </p:val>
                                        </p:tav>
                                        <p:tav tm="100000">
                                          <p:val>
                                            <p:strVal val="#ppt_y"/>
                                          </p:val>
                                        </p:tav>
                                      </p:tavLst>
                                    </p:anim>
                                  </p:childTnLst>
                                </p:cTn>
                              </p:par>
                              <p:par>
                                <p:cTn id="21" presetID="10" presetClass="entr" presetSubtype="0" fill="hold" grpId="0" nodeType="withEffect">
                                  <p:stCondLst>
                                    <p:cond delay="13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anim calcmode="lin" valueType="num">
                                      <p:cBhvr additive="base">
                                        <p:cTn id="24" dur="500" fill="hold"/>
                                        <p:tgtEl>
                                          <p:spTgt spid="12"/>
                                        </p:tgtEl>
                                        <p:attrNameLst>
                                          <p:attrName>ppt_y</p:attrName>
                                        </p:attrNameLst>
                                      </p:cBhvr>
                                      <p:tavLst>
                                        <p:tav tm="0">
                                          <p:val>
                                            <p:strVal val="#ppt_y+.025"/>
                                          </p:val>
                                        </p:tav>
                                        <p:tav tm="100000">
                                          <p:val>
                                            <p:strVal val="#ppt_y"/>
                                          </p:val>
                                        </p:tav>
                                      </p:tavLst>
                                    </p:anim>
                                  </p:childTnLst>
                                </p:cTn>
                              </p:par>
                              <p:par>
                                <p:cTn id="25" presetID="10" presetClass="entr" presetSubtype="0" fill="hold" grpId="0" nodeType="withEffect">
                                  <p:stCondLst>
                                    <p:cond delay="130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anim calcmode="lin" valueType="num">
                                      <p:cBhvr additive="base">
                                        <p:cTn id="28" dur="500" fill="hold"/>
                                        <p:tgtEl>
                                          <p:spTgt spid="5"/>
                                        </p:tgtEl>
                                        <p:attrNameLst>
                                          <p:attrName>ppt_y</p:attrName>
                                        </p:attrNameLst>
                                      </p:cBhvr>
                                      <p:tavLst>
                                        <p:tav tm="0">
                                          <p:val>
                                            <p:strVal val="#ppt_y+.025"/>
                                          </p:val>
                                        </p:tav>
                                        <p:tav tm="100000">
                                          <p:val>
                                            <p:strVal val="#ppt_y"/>
                                          </p:val>
                                        </p:tav>
                                      </p:tavLst>
                                    </p:anim>
                                  </p:childTnLst>
                                </p:cTn>
                              </p:par>
                              <p:par>
                                <p:cTn id="29" presetID="10" presetClass="entr" presetSubtype="0" fill="hold" grpId="0" nodeType="withEffect">
                                  <p:stCondLst>
                                    <p:cond delay="13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additive="base">
                                        <p:cTn id="32" dur="500" fill="hold"/>
                                        <p:tgtEl>
                                          <p:spTgt spid="9"/>
                                        </p:tgtEl>
                                        <p:attrNameLst>
                                          <p:attrName>ppt_y</p:attrName>
                                        </p:attrNameLst>
                                      </p:cBhvr>
                                      <p:tavLst>
                                        <p:tav tm="0">
                                          <p:val>
                                            <p:strVal val="#ppt_y+.025"/>
                                          </p:val>
                                        </p:tav>
                                        <p:tav tm="100000">
                                          <p:val>
                                            <p:strVal val="#ppt_y"/>
                                          </p:val>
                                        </p:tav>
                                      </p:tavLst>
                                    </p:anim>
                                  </p:childTnLst>
                                </p:cTn>
                              </p:par>
                              <p:par>
                                <p:cTn id="33" presetID="10" presetClass="entr" presetSubtype="0" fill="hold" grpId="0" nodeType="withEffect">
                                  <p:stCondLst>
                                    <p:cond delay="13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anim calcmode="lin" valueType="num">
                                      <p:cBhvr additive="base">
                                        <p:cTn id="36" dur="500" fill="hold"/>
                                        <p:tgtEl>
                                          <p:spTgt spid="13"/>
                                        </p:tgtEl>
                                        <p:attrNameLst>
                                          <p:attrName>ppt_y</p:attrName>
                                        </p:attrNameLst>
                                      </p:cBhvr>
                                      <p:tavLst>
                                        <p:tav tm="0">
                                          <p:val>
                                            <p:strVal val="#ppt_y+.025"/>
                                          </p:val>
                                        </p:tav>
                                        <p:tav tm="100000">
                                          <p:val>
                                            <p:strVal val="#ppt_y"/>
                                          </p:val>
                                        </p:tav>
                                      </p:tavLst>
                                    </p:anim>
                                  </p:childTnLst>
                                </p:cTn>
                              </p:par>
                              <p:par>
                                <p:cTn id="37" presetID="10" presetClass="entr" presetSubtype="0" fill="hold" grpId="0" nodeType="withEffect">
                                  <p:stCondLst>
                                    <p:cond delay="195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anim calcmode="lin" valueType="num">
                                      <p:cBhvr additive="base">
                                        <p:cTn id="40" dur="500" fill="hold"/>
                                        <p:tgtEl>
                                          <p:spTgt spid="6"/>
                                        </p:tgtEl>
                                        <p:attrNameLst>
                                          <p:attrName>ppt_y</p:attrName>
                                        </p:attrNameLst>
                                      </p:cBhvr>
                                      <p:tavLst>
                                        <p:tav tm="0">
                                          <p:val>
                                            <p:strVal val="#ppt_y+.025"/>
                                          </p:val>
                                        </p:tav>
                                        <p:tav tm="100000">
                                          <p:val>
                                            <p:strVal val="#ppt_y"/>
                                          </p:val>
                                        </p:tav>
                                      </p:tavLst>
                                    </p:anim>
                                  </p:childTnLst>
                                </p:cTn>
                              </p:par>
                              <p:par>
                                <p:cTn id="41" presetID="10" presetClass="entr" presetSubtype="0" fill="hold" grpId="0" nodeType="withEffect">
                                  <p:stCondLst>
                                    <p:cond delay="19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additive="base">
                                        <p:cTn id="44" dur="500" fill="hold"/>
                                        <p:tgtEl>
                                          <p:spTgt spid="10"/>
                                        </p:tgtEl>
                                        <p:attrNameLst>
                                          <p:attrName>ppt_y</p:attrName>
                                        </p:attrNameLst>
                                      </p:cBhvr>
                                      <p:tavLst>
                                        <p:tav tm="0">
                                          <p:val>
                                            <p:strVal val="#ppt_y+.025"/>
                                          </p:val>
                                        </p:tav>
                                        <p:tav tm="100000">
                                          <p:val>
                                            <p:strVal val="#ppt_y"/>
                                          </p:val>
                                        </p:tav>
                                      </p:tavLst>
                                    </p:anim>
                                  </p:childTnLst>
                                </p:cTn>
                              </p:par>
                              <p:par>
                                <p:cTn id="45" presetID="10" presetClass="entr" presetSubtype="0" fill="hold" grpId="0" nodeType="withEffect">
                                  <p:stCondLst>
                                    <p:cond delay="195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additive="base">
                                        <p:cTn id="48" dur="500" fill="hold"/>
                                        <p:tgtEl>
                                          <p:spTgt spid="14"/>
                                        </p:tgtEl>
                                        <p:attrNameLst>
                                          <p:attrName>ppt_y</p:attrName>
                                        </p:attrNameLst>
                                      </p:cBhvr>
                                      <p:tavLst>
                                        <p:tav tm="0">
                                          <p:val>
                                            <p:strVal val="#ppt_y+.025"/>
                                          </p:val>
                                        </p:tav>
                                        <p:tav tm="100000">
                                          <p:val>
                                            <p:strVal val="#ppt_y"/>
                                          </p:val>
                                        </p:tav>
                                      </p:tavLst>
                                    </p:anim>
                                  </p:childTnLst>
                                </p:cTn>
                              </p:par>
                              <p:par>
                                <p:cTn id="49" presetID="10" presetClass="entr" presetSubtype="0" fill="hold" grpId="0" nodeType="withEffect">
                                  <p:stCondLst>
                                    <p:cond delay="260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500"/>
                                        <p:tgtEl>
                                          <p:spTgt spid="7"/>
                                        </p:tgtEl>
                                      </p:cBhvr>
                                    </p:animEffect>
                                    <p:anim calcmode="lin" valueType="num">
                                      <p:cBhvr additive="base">
                                        <p:cTn id="52" dur="500" fill="hold"/>
                                        <p:tgtEl>
                                          <p:spTgt spid="7"/>
                                        </p:tgtEl>
                                        <p:attrNameLst>
                                          <p:attrName>ppt_y</p:attrName>
                                        </p:attrNameLst>
                                      </p:cBhvr>
                                      <p:tavLst>
                                        <p:tav tm="0">
                                          <p:val>
                                            <p:strVal val="#ppt_y+.025"/>
                                          </p:val>
                                        </p:tav>
                                        <p:tav tm="100000">
                                          <p:val>
                                            <p:strVal val="#ppt_y"/>
                                          </p:val>
                                        </p:tav>
                                      </p:tavLst>
                                    </p:anim>
                                  </p:childTnLst>
                                </p:cTn>
                              </p:par>
                              <p:par>
                                <p:cTn id="53" presetID="10" presetClass="entr" presetSubtype="0" fill="hold" grpId="0" nodeType="withEffect">
                                  <p:stCondLst>
                                    <p:cond delay="26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additive="base">
                                        <p:cTn id="56" dur="500" fill="hold"/>
                                        <p:tgtEl>
                                          <p:spTgt spid="11"/>
                                        </p:tgtEl>
                                        <p:attrNameLst>
                                          <p:attrName>ppt_y</p:attrName>
                                        </p:attrNameLst>
                                      </p:cBhvr>
                                      <p:tavLst>
                                        <p:tav tm="0">
                                          <p:val>
                                            <p:strVal val="#ppt_y+.025"/>
                                          </p:val>
                                        </p:tav>
                                        <p:tav tm="100000">
                                          <p:val>
                                            <p:strVal val="#ppt_y"/>
                                          </p:val>
                                        </p:tav>
                                      </p:tavLst>
                                    </p:anim>
                                  </p:childTnLst>
                                </p:cTn>
                              </p:par>
                              <p:par>
                                <p:cTn id="57" presetID="10" presetClass="entr" presetSubtype="0" fill="hold" grpId="0" nodeType="withEffect">
                                  <p:stCondLst>
                                    <p:cond delay="260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anim calcmode="lin" valueType="num">
                                      <p:cBhvr additive="base">
                                        <p:cTn id="60" dur="500" fill="hold"/>
                                        <p:tgtEl>
                                          <p:spTgt spid="15"/>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8" grpId="0"/>
      <p:bldP spid="12" grpId="0"/>
      <p:bldP spid="5" grpId="0"/>
      <p:bldP spid="9" grpId="0"/>
      <p:bldP spid="13" grpId="0"/>
      <p:bldP spid="6" grpId="0"/>
      <p:bldP spid="10" grpId="0"/>
      <p:bldP spid="14" grpId="0"/>
      <p:bldP spid="7" grpId="0"/>
      <p:bldP spid="11" grpId="0"/>
      <p:bldP spid="15" grpId="0"/>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BEFORE NEXT WEEK</a:t>
            </a:r>
          </a:p>
        </p:txBody>
      </p:sp>
      <p:sp>
        <p:nvSpPr>
          <p:cNvPr id="3" name="TextBox 2"/>
          <p:cNvSpPr txBox="1"/>
          <p:nvPr/>
        </p:nvSpPr>
        <p:spPr>
          <a:xfrm>
            <a:off x="762000" y="1168400"/>
            <a:ext cx="10668000" cy="889000"/>
          </a:xfrm>
          <a:prstGeom prst="rect">
            <a:avLst/>
          </a:prstGeom>
          <a:noFill/>
        </p:spPr>
        <p:txBody>
          <a:bodyPr wrap="square" lIns="0" rIns="0" tIns="0" bIns="0" anchor="t">
            <a:noAutofit/>
          </a:bodyPr>
          <a:lstStyle/>
          <a:p>
            <a:pPr algn="l">
              <a:lnSpc>
                <a:spcPct val="77700"/>
              </a:lnSpc>
            </a:pPr>
            <a:r>
              <a:rPr sz="5400" b="0" spc="-162">
                <a:solidFill>
                  <a:srgbClr val="000B1C"/>
                </a:solidFill>
                <a:latin typeface="Inter ExtraBold"/>
              </a:rPr>
              <a:t>Four things to set up, one thing to watch.</a:t>
            </a:r>
          </a:p>
        </p:txBody>
      </p:sp>
      <p:sp>
        <p:nvSpPr>
          <p:cNvPr id="4" name="TextBox 3"/>
          <p:cNvSpPr txBox="1"/>
          <p:nvPr/>
        </p:nvSpPr>
        <p:spPr>
          <a:xfrm>
            <a:off x="762000" y="2362200"/>
            <a:ext cx="10668000" cy="3683000"/>
          </a:xfrm>
          <a:prstGeom prst="rect">
            <a:avLst/>
          </a:prstGeom>
          <a:noFill/>
        </p:spPr>
        <p:txBody>
          <a:bodyPr wrap="square" lIns="0" rIns="0" tIns="0" bIns="0" anchor="t">
            <a:noAutofit/>
          </a:bodyPr>
          <a:lstStyle/>
          <a:p>
            <a:pPr algn="l" marL="304800" indent="-304800">
              <a:lnSpc>
                <a:spcPct val="114900"/>
              </a:lnSpc>
              <a:buClr>
                <a:srgbClr val="ED6D24"/>
              </a:buClr>
              <a:buFont typeface="Inter Black"/>
              <a:buChar char="·"/>
            </a:pPr>
            <a:r>
              <a:rPr sz="2400" b="1">
                <a:solidFill>
                  <a:srgbClr val="2A323D"/>
                </a:solidFill>
                <a:latin typeface="Inter"/>
              </a:rPr>
              <a:t>ClassPoint:</a:t>
            </a:r>
            <a:r>
              <a:rPr sz="2400" b="0">
                <a:solidFill>
                  <a:srgbClr val="2A323D"/>
                </a:solidFill>
                <a:latin typeface="Inter"/>
              </a:rPr>
              <a:t> you are in. Same name every week — the last four digits and the letter of your student ID, e.g. 8695D.</a:t>
            </a:r>
          </a:p>
          <a:p>
            <a:pPr algn="l" marL="304800" indent="-304800">
              <a:lnSpc>
                <a:spcPct val="114900"/>
              </a:lnSpc>
              <a:spcBef>
                <a:spcPts val="1350"/>
              </a:spcBef>
              <a:buClr>
                <a:srgbClr val="ED6D24"/>
              </a:buClr>
              <a:buFont typeface="Inter Black"/>
              <a:buChar char="·"/>
            </a:pPr>
            <a:r>
              <a:rPr sz="2400" b="1">
                <a:solidFill>
                  <a:srgbClr val="2A323D"/>
                </a:solidFill>
                <a:latin typeface="Inter"/>
              </a:rPr>
              <a:t>Blackboard:</a:t>
            </a:r>
            <a:r>
              <a:rPr sz="2400" b="0">
                <a:solidFill>
                  <a:srgbClr val="2A323D"/>
                </a:solidFill>
                <a:latin typeface="Inter"/>
              </a:rPr>
              <a:t> the course page, submissions, the rubric, these slides.</a:t>
            </a:r>
          </a:p>
          <a:p>
            <a:pPr algn="l" marL="304800" indent="-304800">
              <a:lnSpc>
                <a:spcPct val="114900"/>
              </a:lnSpc>
              <a:spcBef>
                <a:spcPts val="1350"/>
              </a:spcBef>
              <a:buClr>
                <a:srgbClr val="ED6D24"/>
              </a:buClr>
              <a:buFont typeface="Inter Black"/>
              <a:buChar char="·"/>
            </a:pPr>
            <a:r>
              <a:rPr sz="2400" b="1">
                <a:solidFill>
                  <a:srgbClr val="2A323D"/>
                </a:solidFill>
                <a:latin typeface="Inter"/>
              </a:rPr>
              <a:t>p5.js web editor:</a:t>
            </a:r>
            <a:r>
              <a:rPr sz="2400" b="0">
                <a:solidFill>
                  <a:srgbClr val="2A323D"/>
                </a:solidFill>
                <a:latin typeface="Inter"/>
              </a:rPr>
              <a:t> a free account at editor.p5js.org. Week 2 is rules that draw.</a:t>
            </a:r>
          </a:p>
          <a:p>
            <a:pPr algn="l" marL="304800" indent="-304800">
              <a:lnSpc>
                <a:spcPct val="114900"/>
              </a:lnSpc>
              <a:spcBef>
                <a:spcPts val="1350"/>
              </a:spcBef>
              <a:buClr>
                <a:srgbClr val="ED6D24"/>
              </a:buClr>
              <a:buFont typeface="Inter Black"/>
              <a:buChar char="·"/>
            </a:pPr>
            <a:r>
              <a:rPr sz="2400" b="1">
                <a:solidFill>
                  <a:srgbClr val="2A323D"/>
                </a:solidFill>
                <a:latin typeface="Inter"/>
              </a:rPr>
              <a:t>One image tool</a:t>
            </a:r>
            <a:r>
              <a:rPr sz="2400" b="0">
                <a:solidFill>
                  <a:srgbClr val="2A323D"/>
                </a:solidFill>
                <a:latin typeface="Inter"/>
              </a:rPr>
              <a:t> you can log into: Firefly, Bing Image Creator, or another. Week 5 needs it; week 3 helps to have it.</a:t>
            </a:r>
          </a:p>
          <a:p>
            <a:pPr algn="l" marL="304800" indent="-304800">
              <a:lnSpc>
                <a:spcPct val="114900"/>
              </a:lnSpc>
              <a:spcBef>
                <a:spcPts val="1350"/>
              </a:spcBef>
              <a:buClr>
                <a:srgbClr val="ED6D24"/>
              </a:buClr>
              <a:buFont typeface="Inter Black"/>
              <a:buChar char="·"/>
            </a:pPr>
            <a:r>
              <a:rPr sz="2400" b="1">
                <a:solidFill>
                  <a:srgbClr val="2A323D"/>
                </a:solidFill>
                <a:latin typeface="Inter"/>
              </a:rPr>
              <a:t>Watch:</a:t>
            </a:r>
            <a:r>
              <a:rPr sz="2400" b="0">
                <a:solidFill>
                  <a:srgbClr val="2A323D"/>
                </a:solidFill>
                <a:latin typeface="Inter"/>
              </a:rPr>
              <a:t> AlphaGo (90 min) and the four short art films on the playlist. Bring a laptop next week.</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56</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QUESTION · WORD CLOUD</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What's your X? One word.</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What do you want to make with AI this semester? A poster, a chair, a game, a brand, a film, a service — one word.</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57</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8"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609600"/>
            <a:ext cx="9525000" cy="254000"/>
          </a:xfrm>
          <a:prstGeom prst="rect">
            <a:avLst/>
          </a:prstGeom>
          <a:noFill/>
        </p:spPr>
        <p:txBody>
          <a:bodyPr wrap="square" lIns="0" rIns="0" tIns="0" bIns="0" anchor="t">
            <a:noAutofit/>
          </a:bodyPr>
          <a:lstStyle/>
          <a:p>
            <a:pPr algn="l">
              <a:lnSpc>
                <a:spcPct val="87300"/>
              </a:lnSpc>
            </a:pPr>
            <a:r>
              <a:rPr sz="1800" b="0" spc="252">
                <a:solidFill>
                  <a:srgbClr val="5C6470"/>
                </a:solidFill>
                <a:latin typeface="JetBrains Mono Medium"/>
              </a:rPr>
              <a:t>08 · QUESTION · SHORT ANSWER · ANONYMOUS</a:t>
            </a:r>
          </a:p>
        </p:txBody>
      </p:sp>
      <p:sp>
        <p:nvSpPr>
          <p:cNvPr id="3" name="TextBox 2"/>
          <p:cNvSpPr txBox="1"/>
          <p:nvPr/>
        </p:nvSpPr>
        <p:spPr>
          <a:xfrm>
            <a:off x="762000" y="1524000"/>
            <a:ext cx="10668000" cy="2667000"/>
          </a:xfrm>
          <a:prstGeom prst="rect">
            <a:avLst/>
          </a:prstGeom>
          <a:noFill/>
        </p:spPr>
        <p:txBody>
          <a:bodyPr wrap="square" lIns="0" rIns="0" tIns="0" bIns="0" anchor="ctr">
            <a:noAutofit/>
          </a:bodyPr>
          <a:lstStyle/>
          <a:p>
            <a:pPr algn="l">
              <a:lnSpc>
                <a:spcPct val="75500"/>
              </a:lnSpc>
            </a:pPr>
            <a:r>
              <a:rPr sz="8250" b="0" spc="-330">
                <a:solidFill>
                  <a:srgbClr val="000B1C"/>
                </a:solidFill>
                <a:latin typeface="Inter Black"/>
              </a:rPr>
              <a:t>One hope and one worry.</a:t>
            </a:r>
          </a:p>
        </p:txBody>
      </p:sp>
      <p:sp>
        <p:nvSpPr>
          <p:cNvPr id="4" name="TextBox 3"/>
          <p:cNvSpPr txBox="1"/>
          <p:nvPr/>
        </p:nvSpPr>
        <p:spPr>
          <a:xfrm>
            <a:off x="762000" y="4445000"/>
            <a:ext cx="8255000" cy="762000"/>
          </a:xfrm>
          <a:prstGeom prst="rect">
            <a:avLst/>
          </a:prstGeom>
          <a:noFill/>
        </p:spPr>
        <p:txBody>
          <a:bodyPr wrap="square" lIns="0" rIns="0" tIns="0" bIns="0" anchor="t">
            <a:noAutofit/>
          </a:bodyPr>
          <a:lstStyle/>
          <a:p>
            <a:pPr algn="l">
              <a:lnSpc>
                <a:spcPct val="110800"/>
              </a:lnSpc>
            </a:pPr>
            <a:r>
              <a:rPr sz="2400" b="0">
                <a:solidFill>
                  <a:srgbClr val="5C6470"/>
                </a:solidFill>
                <a:latin typeface="Inter"/>
              </a:rPr>
              <a:t>About AI in your own design work. Names are hidden. Two short lines.</a:t>
            </a:r>
          </a:p>
        </p:txBody>
      </p:sp>
      <p:sp>
        <p:nvSpPr>
          <p:cNvPr id="5" name="chrome-footer"/>
          <p:cNvSpPr txBox="1"/>
          <p:nvPr/>
        </p:nvSpPr>
        <p:spPr>
          <a:xfrm>
            <a:off x="762000" y="6350000"/>
            <a:ext cx="6350000" cy="203200"/>
          </a:xfrm>
          <a:prstGeom prst="rect">
            <a:avLst/>
          </a:prstGeom>
          <a:noFill/>
        </p:spPr>
        <p:txBody>
          <a:bodyPr wrap="square" lIns="0" rIns="0" tIns="0" bIns="0" anchor="b">
            <a:noAutofit/>
          </a:bodyPr>
          <a:lstStyle/>
          <a:p>
            <a:pPr algn="l">
              <a:lnSpc>
                <a:spcPct val="88000"/>
              </a:lnSpc>
            </a:pPr>
            <a:r>
              <a:rPr sz="1650" b="0" spc="231">
                <a:solidFill>
                  <a:srgbClr val="5C6470"/>
                </a:solidFill>
                <a:latin typeface="JetBrains Mono Medium"/>
              </a:rPr>
              <a:t>SD2112 · AI IN DESIGN · WEEK 01</a:t>
            </a:r>
          </a:p>
        </p:txBody>
      </p:sp>
      <p:sp>
        <p:nvSpPr>
          <p:cNvPr id="6" name="chrome-num"/>
          <p:cNvSpPr txBox="1"/>
          <p:nvPr/>
        </p:nvSpPr>
        <p:spPr>
          <a:xfrm>
            <a:off x="8890000" y="6350000"/>
            <a:ext cx="2540000" cy="203200"/>
          </a:xfrm>
          <a:prstGeom prst="rect">
            <a:avLst/>
          </a:prstGeom>
          <a:noFill/>
        </p:spPr>
        <p:txBody>
          <a:bodyPr wrap="square" lIns="0" rIns="0" tIns="0" bIns="0" anchor="b">
            <a:noAutofit/>
          </a:bodyPr>
          <a:lstStyle/>
          <a:p>
            <a:pPr algn="r">
              <a:lnSpc>
                <a:spcPct val="88000"/>
              </a:lnSpc>
            </a:pPr>
            <a:r>
              <a:rPr sz="1650" b="0" spc="231">
                <a:solidFill>
                  <a:srgbClr val="5C6470"/>
                </a:solidFill>
                <a:latin typeface="JetBrains Mono Medium"/>
              </a:rPr>
              <a:t>58</a:t>
            </a:r>
          </a:p>
        </p:txBody>
      </p:sp>
      <p:pic>
        <p:nvPicPr>
          <p:cNvPr id="7" name="chrome-logo" descr="polyu-design-logo.png"/>
          <p:cNvPicPr>
            <a:picLocks noChangeAspect="1"/>
          </p:cNvPicPr>
          <p:nvPr/>
        </p:nvPicPr>
        <p:blipFill>
          <a:blip r:embed="rId2"/>
          <a:stretch>
            <a:fillRect/>
          </a:stretch>
        </p:blipFill>
        <p:spPr>
          <a:xfrm>
            <a:off x="10591800" y="469900"/>
            <a:ext cx="838200" cy="558800"/>
          </a:xfrm>
          <a:prstGeom prst="rect">
            <a:avLst/>
          </a:prstGeom>
        </p:spPr>
      </p:pic>
      <p:pic>
        <p:nvPicPr>
          <p:cNvPr id="8" name="btnInknoeActivityCp2"/>
          <p:cNvPicPr>
            <a:picLocks noChangeAspect="1"/>
          </p:cNvPicPr>
          <p:nvPr>
            <p:custDataLst>
              <p:tags r:id="rId5"/>
            </p:custDataLst>
          </p:nvPr>
        </p:nvPicPr>
        <p:blipFill>
          <a:blip r:embed="rId4"/>
          <a:stretch>
            <a:fillRect/>
          </a:stretch>
        </p:blipFill>
        <p:spPr>
          <a:xfrm>
            <a:off x="9207952" y="5768985"/>
            <a:ext cx="2222048" cy="581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B1C"/>
        </a:solidFill>
        <a:effectLst/>
      </p:bgPr>
    </p:bg>
    <p:spTree>
      <p:nvGrpSpPr>
        <p:cNvPr id="1" name=""/>
        <p:cNvGrpSpPr/>
        <p:nvPr/>
      </p:nvGrpSpPr>
      <p:grpSpPr/>
      <p:sp>
        <p:nvSpPr>
          <p:cNvPr id="2" name="TextBox 1"/>
          <p:cNvSpPr txBox="1"/>
          <p:nvPr/>
        </p:nvSpPr>
        <p:spPr>
          <a:xfrm>
            <a:off x="762000" y="3556000"/>
            <a:ext cx="10668000" cy="2286000"/>
          </a:xfrm>
          <a:prstGeom prst="rect">
            <a:avLst/>
          </a:prstGeom>
          <a:noFill/>
        </p:spPr>
        <p:txBody>
          <a:bodyPr wrap="square" lIns="0" rIns="0" tIns="0" bIns="0" anchor="b">
            <a:noAutofit/>
          </a:bodyPr>
          <a:lstStyle/>
          <a:p>
            <a:pPr algn="l">
              <a:lnSpc>
                <a:spcPct val="72400"/>
              </a:lnSpc>
            </a:pPr>
            <a:r>
              <a:rPr sz="9750" b="0" spc="-439">
                <a:solidFill>
                  <a:srgbClr val="FFFFFF"/>
                </a:solidFill>
                <a:latin typeface="Inter Black"/>
              </a:rPr>
              <a:t>See you next week. Rules that make things.</a:t>
            </a:r>
          </a:p>
        </p:txBody>
      </p:sp>
      <p:sp>
        <p:nvSpPr>
          <p:cNvPr id="3" name="TextBox 2"/>
          <p:cNvSpPr txBox="1"/>
          <p:nvPr/>
        </p:nvSpPr>
        <p:spPr>
          <a:xfrm>
            <a:off x="762000" y="5969000"/>
            <a:ext cx="8890000" cy="381000"/>
          </a:xfrm>
          <a:prstGeom prst="rect">
            <a:avLst/>
          </a:prstGeom>
          <a:noFill/>
        </p:spPr>
        <p:txBody>
          <a:bodyPr wrap="square" lIns="0" rIns="0" tIns="0" bIns="0" anchor="t">
            <a:noAutofit/>
          </a:bodyPr>
          <a:lstStyle/>
          <a:p>
            <a:pPr algn="l">
              <a:lnSpc>
                <a:spcPct val="98200"/>
              </a:lnSpc>
            </a:pPr>
            <a:r>
              <a:rPr sz="2700" b="0">
                <a:solidFill>
                  <a:srgbClr val="D3E7E8"/>
                </a:solidFill>
                <a:latin typeface="Inter"/>
              </a:rPr>
              <a:t>Bring a laptop. Watch AlphaGo. Draw another chair.</a:t>
            </a:r>
          </a:p>
        </p:txBody>
      </p:sp>
      <p:sp>
        <p:nvSpPr>
          <p:cNvPr id="4" name="TextBox 3"/>
          <p:cNvSpPr txBox="1"/>
          <p:nvPr/>
        </p:nvSpPr>
        <p:spPr>
          <a:xfrm>
            <a:off x="762000" y="6350000"/>
            <a:ext cx="9525000" cy="254000"/>
          </a:xfrm>
          <a:prstGeom prst="rect">
            <a:avLst/>
          </a:prstGeom>
          <a:noFill/>
        </p:spPr>
        <p:txBody>
          <a:bodyPr wrap="square" lIns="0" rIns="0" tIns="0" bIns="0" anchor="t">
            <a:noAutofit/>
          </a:bodyPr>
          <a:lstStyle/>
          <a:p>
            <a:pPr algn="l">
              <a:lnSpc>
                <a:spcPct val="88000"/>
              </a:lnSpc>
            </a:pPr>
            <a:r>
              <a:rPr sz="1650" b="0" spc="231">
                <a:solidFill>
                  <a:srgbClr val="B3B7BE"/>
                </a:solidFill>
                <a:latin typeface="JetBrains Mono Medium"/>
              </a:rPr>
              <a:t>VENETANJI.GITHUB.IO/SD2112-TEACHING · WWW.YOUTUBE.COM/PLAYLIST?LIST=PLU58DFEI5YDQ</a:t>
            </a:r>
          </a:p>
        </p:txBody>
      </p:sp>
      <p:sp>
        <p:nvSpPr>
          <p:cNvPr id="5" name="chrome-wordmark"/>
          <p:cNvSpPr txBox="1"/>
          <p:nvPr/>
        </p:nvSpPr>
        <p:spPr>
          <a:xfrm>
            <a:off x="10160000" y="6146800"/>
            <a:ext cx="1270000" cy="254000"/>
          </a:xfrm>
          <a:prstGeom prst="rect">
            <a:avLst/>
          </a:prstGeom>
          <a:noFill/>
        </p:spPr>
        <p:txBody>
          <a:bodyPr wrap="square" lIns="0" rIns="0" tIns="0" bIns="0" anchor="b">
            <a:noAutofit/>
          </a:bodyPr>
          <a:lstStyle/>
          <a:p>
            <a:pPr algn="r">
              <a:lnSpc>
                <a:spcPct val="82100"/>
              </a:lnSpc>
            </a:pPr>
            <a:r>
              <a:rPr sz="2400" b="0" spc="-96">
                <a:solidFill>
                  <a:srgbClr val="FFFFFF"/>
                </a:solidFill>
                <a:latin typeface="Inter Black"/>
              </a:rPr>
              <a:t>a·t4</a:t>
            </a:r>
            <a:r>
              <a:rPr sz="2400" b="0" spc="-96">
                <a:solidFill>
                  <a:srgbClr val="ED6D24"/>
                </a:solidFill>
                <a:latin typeface="Inter Black"/>
              </a:rPr>
              <a:t>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additive="base">
                                        <p:cTn id="8" dur="500" fill="hold"/>
                                        <p:tgtEl>
                                          <p:spTgt spid="2"/>
                                        </p:tgtEl>
                                        <p:attrNameLst>
                                          <p:attrName>ppt_y</p:attrName>
                                        </p:attrNameLst>
                                      </p:cBhvr>
                                      <p:tavLst>
                                        <p:tav tm="0">
                                          <p:val>
                                            <p:strVal val="#ppt_y+.025"/>
                                          </p:val>
                                        </p:tav>
                                        <p:tav tm="100000">
                                          <p:val>
                                            <p:strVal val="#ppt_y"/>
                                          </p:val>
                                        </p:tav>
                                      </p:tavLst>
                                    </p:anim>
                                  </p:childTnLst>
                                </p:cTn>
                              </p:par>
                              <p:par>
                                <p:cTn id="9" presetID="10" presetClass="entr" presetSubtype="0" fill="hold" grpId="0" nodeType="withEffect">
                                  <p:stCondLst>
                                    <p:cond delay="65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additive="base">
                                        <p:cTn id="12" dur="500" fill="hold"/>
                                        <p:tgtEl>
                                          <p:spTgt spid="3"/>
                                        </p:tgtEl>
                                        <p:attrNameLst>
                                          <p:attrName>ppt_y</p:attrName>
                                        </p:attrNameLst>
                                      </p:cBhvr>
                                      <p:tavLst>
                                        <p:tav tm="0">
                                          <p:val>
                                            <p:strVal val="#ppt_y+.025"/>
                                          </p:val>
                                        </p:tav>
                                        <p:tav tm="100000">
                                          <p:val>
                                            <p:strVal val="#ppt_y"/>
                                          </p:val>
                                        </p:tav>
                                      </p:tavLst>
                                    </p:anim>
                                  </p:childTnLst>
                                </p:cTn>
                              </p:par>
                              <p:par>
                                <p:cTn id="13" presetID="10" presetClass="entr" presetSubtype="0" fill="hold" grpId="0" nodeType="withEffect">
                                  <p:stCondLst>
                                    <p:cond delay="1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anim calcmode="lin" valueType="num">
                                      <p:cBhvr additive="base">
                                        <p:cTn id="16" dur="500" fill="hold"/>
                                        <p:tgtEl>
                                          <p:spTgt spid="4"/>
                                        </p:tgtEl>
                                        <p:attrNameLst>
                                          <p:attrName>ppt_y</p:attrName>
                                        </p:attrNameLst>
                                      </p:cBhvr>
                                      <p:tavLst>
                                        <p:tav tm="0">
                                          <p:val>
                                            <p:strVal val="#ppt_y+.02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WordCloud&quot;,&quot;ActivityType&quot;:2,&quot;Width&quot;:0.0,&quot;Height&quot;:0.0,&quot;Graphics&quot;:null,&quot;ActivityBase&quot;:{&quot;$type&quot;:&quot;ClassPoint2.Core.DTO.Activities.WordCloudActivity, ClassPoint2.Core&quot;,&quot;numOfSubmissionsAllowed&quot;:1,&quot;activityType&quot;:&quot;Word Cloud&quot;,&quot;activityId&quot;:null,&quot;countdown&quot;:0,&quot;StartWithSlide&quot;:false,&quot;CanMinimize&quot;:false,&quot;CanCountDown&quot;:false},&quot;IsLocked&quot;:false,&quot;IsMappedFromCp1&quot;:false,&quot;IsQuizMode&quot;:false}"/>
</p:tagLst>
</file>

<file path=ppt/tags/tag2.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MultipleChoice&quot;,&quot;ActivityType&quot;:0,&quot;Width&quot;:0.0,&quot;Height&quot;:0.0,&quot;Graphics&quot;:null,&quot;ActivityBase&quot;:{&quot;$type&quot;:&quot;ClassPoint2.Core.DTO.Activities.MultipleChoiceActivity, ClassPoint2.Core&quot;,&quot;mcChoices&quot;:{&quot;$type&quot;:&quot;System.Collections.Generic.List`1[[System.String, mscorlib]], mscorlib&quot;,&quot;$values&quot;:[&quot;A&quot;,&quot;B&quot;,&quot;C&quot;,&quot;D&quot;]},&quot;mcIsAllowSelectMultiple&quot;:false,&quot;mcCorrectAnswers&quot;:{&quot;$type&quot;:&quot;System.Collections.Generic.List`1[[System.String, mscorlib]], mscorlib&quot;,&quot;$values&quot;:[]},&quot;isQuizMode&quot;:false,&quot;correctPoints&quot;:0,&quot;correctSpeedBonus&quot;:null,&quot;HasCorrectAnswers&quot;:false,&quot;activityType&quot;:&quot;Multiple Choice&quot;,&quot;activityId&quot;:null,&quot;countdown&quot;:0,&quot;StartWithSlide&quot;:false,&quot;CanMinimize&quot;:false,&quot;CanCountDown&quot;:false},&quot;IsLocked&quot;:false,&quot;IsMappedFromCp1&quot;:false,&quot;IsQuizMode&quot;:false}"/>
</p:tagLst>
</file>

<file path=ppt/tags/tag3.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MultipleChoice&quot;,&quot;ActivityType&quot;:0,&quot;Width&quot;:0.0,&quot;Height&quot;:0.0,&quot;Graphics&quot;:null,&quot;ActivityBase&quot;:{&quot;$type&quot;:&quot;ClassPoint2.Core.DTO.Activities.MultipleChoiceActivity, ClassPoint2.Core&quot;,&quot;mcChoices&quot;:{&quot;$type&quot;:&quot;System.Collections.Generic.List`1[[System.String, mscorlib]], mscorlib&quot;,&quot;$values&quot;:[&quot;A&quot;,&quot;B&quot;,&quot;C&quot;,&quot;D&quot;]},&quot;mcIsAllowSelectMultiple&quot;:false,&quot;mcCorrectAnswers&quot;:{&quot;$type&quot;:&quot;System.Collections.Generic.List`1[[System.String, mscorlib]], mscorlib&quot;,&quot;$values&quot;:[]},&quot;isQuizMode&quot;:false,&quot;correctPoints&quot;:0,&quot;correctSpeedBonus&quot;:null,&quot;HasCorrectAnswers&quot;:false,&quot;activityType&quot;:&quot;Multiple Choice&quot;,&quot;activityId&quot;:null,&quot;countdown&quot;:0,&quot;StartWithSlide&quot;:false,&quot;CanMinimize&quot;:false,&quot;CanCountDown&quot;:false},&quot;IsLocked&quot;:false,&quot;IsMappedFromCp1&quot;:false,&quot;IsQuizMode&quot;:false}"/>
</p:tagLst>
</file>

<file path=ppt/tags/tag4.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MultipleChoice&quot;,&quot;ActivityType&quot;:0,&quot;Width&quot;:0.0,&quot;Height&quot;:0.0,&quot;Graphics&quot;:null,&quot;ActivityBase&quot;:{&quot;$type&quot;:&quot;ClassPoint2.Core.DTO.Activities.MultipleChoiceActivity, ClassPoint2.Core&quot;,&quot;mcChoices&quot;:{&quot;$type&quot;:&quot;System.Collections.Generic.List`1[[System.String, mscorlib]], mscorlib&quot;,&quot;$values&quot;:[&quot;A&quot;,&quot;B&quot;,&quot;C&quot;]},&quot;mcIsAllowSelectMultiple&quot;:false,&quot;mcCorrectAnswers&quot;:{&quot;$type&quot;:&quot;System.Collections.Generic.List`1[[System.String, mscorlib]], mscorlib&quot;,&quot;$values&quot;:[]},&quot;isQuizMode&quot;:false,&quot;correctPoints&quot;:0,&quot;correctSpeedBonus&quot;:null,&quot;HasCorrectAnswers&quot;:false,&quot;activityType&quot;:&quot;Multiple Choice&quot;,&quot;activityId&quot;:null,&quot;countdown&quot;:0,&quot;StartWithSlide&quot;:false,&quot;CanMinimize&quot;:false,&quot;CanCountDown&quot;:false},&quot;IsLocked&quot;:false,&quot;IsMappedFromCp1&quot;:false,&quot;IsQuizMode&quot;:false}"/>
</p:tagLst>
</file>

<file path=ppt/tags/tag5.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ShortAnswers&quot;,&quot;ActivityType&quot;:1,&quot;Width&quot;:0.0,&quot;Height&quot;:0.0,&quot;Graphics&quot;:null,&quot;ActivityBase&quot;:{&quot;$type&quot;:&quot;ClassPoint2.Core.DTO.Activities.ShortAnswerActivity, ClassPoint2.Core&quot;,&quot;isMultipleSubmissionsAllowed&quot;:false,&quot;isNamesHidden&quot;:false,&quot;gradingInstructions&quot;:null,&quot;activityType&quot;:&quot;Short Answer&quot;,&quot;activityId&quot;:null,&quot;countdown&quot;:0,&quot;StartWithSlide&quot;:false,&quot;CanMinimize&quot;:false,&quot;CanCountDown&quot;:false},&quot;IsLocked&quot;:false,&quot;IsMappedFromCp1&quot;:false,&quot;IsQuizMode&quot;:false}"/>
</p:tagLst>
</file>

<file path=ppt/tags/tag6.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MultipleChoice&quot;,&quot;ActivityType&quot;:0,&quot;Width&quot;:0.0,&quot;Height&quot;:0.0,&quot;Graphics&quot;:null,&quot;ActivityBase&quot;:{&quot;$type&quot;:&quot;ClassPoint2.Core.DTO.Activities.MultipleChoiceActivity, ClassPoint2.Core&quot;,&quot;mcChoices&quot;:{&quot;$type&quot;:&quot;System.Collections.Generic.List`1[[System.String, mscorlib]], mscorlib&quot;,&quot;$values&quot;:[&quot;A&quot;,&quot;B&quot;,&quot;C&quot;,&quot;D&quot;]},&quot;mcIsAllowSelectMultiple&quot;:false,&quot;mcCorrectAnswers&quot;:{&quot;$type&quot;:&quot;System.Collections.Generic.List`1[[System.String, mscorlib]], mscorlib&quot;,&quot;$values&quot;:[]},&quot;isQuizMode&quot;:false,&quot;correctPoints&quot;:0,&quot;correctSpeedBonus&quot;:null,&quot;HasCorrectAnswers&quot;:false,&quot;activityType&quot;:&quot;Multiple Choice&quot;,&quot;activityId&quot;:null,&quot;countdown&quot;:0,&quot;StartWithSlide&quot;:false,&quot;CanMinimize&quot;:false,&quot;CanCountDown&quot;:false},&quot;IsLocked&quot;:false,&quot;IsMappedFromCp1&quot;:false,&quot;IsQuizMode&quot;:false}"/>
</p:tagLst>
</file>

<file path=ppt/tags/tag7.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ShortAnswers&quot;,&quot;ActivityType&quot;:1,&quot;Width&quot;:0.0,&quot;Height&quot;:0.0,&quot;Graphics&quot;:null,&quot;ActivityBase&quot;:{&quot;$type&quot;:&quot;ClassPoint2.Core.DTO.Activities.ShortAnswerActivity, ClassPoint2.Core&quot;,&quot;isMultipleSubmissionsAllowed&quot;:false,&quot;isNamesHidden&quot;:false,&quot;gradingInstructions&quot;:null,&quot;activityType&quot;:&quot;Short Answer&quot;,&quot;activityId&quot;:null,&quot;countdown&quot;:0,&quot;StartWithSlide&quot;:false,&quot;CanMinimize&quot;:false,&quot;CanCountDown&quot;:false},&quot;IsLocked&quot;:false,&quot;IsMappedFromCp1&quot;:false,&quot;IsQuizMode&quot;:false}"/>
</p:tagLst>
</file>

<file path=ppt/tags/tag8.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ShortAnswers&quot;,&quot;ActivityType&quot;:1,&quot;Width&quot;:0.0,&quot;Height&quot;:0.0,&quot;Graphics&quot;:null,&quot;ActivityBase&quot;:{&quot;$type&quot;:&quot;ClassPoint2.Core.DTO.Activities.ShortAnswerActivity, ClassPoint2.Core&quot;,&quot;isMultipleSubmissionsAllowed&quot;:false,&quot;isNamesHidden&quot;:false,&quot;gradingInstructions&quot;:null,&quot;activityType&quot;:&quot;Short Answer&quot;,&quot;activityId&quot;:null,&quot;countdown&quot;:0,&quot;StartWithSlide&quot;:false,&quot;CanMinimize&quot;:false,&quot;CanCountDown&quot;:false},&quot;IsLocked&quot;:false,&quot;IsMappedFromCp1&quot;:false,&quot;IsQuizMode&quot;:false}"/>
</p:tagLst>
</file>

<file path=ppt/tags/tag9.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WordCloud&quot;,&quot;ActivityType&quot;:2,&quot;Width&quot;:0.0,&quot;Height&quot;:0.0,&quot;Graphics&quot;:null,&quot;ActivityBase&quot;:{&quot;$type&quot;:&quot;ClassPoint2.Core.DTO.Activities.WordCloudActivity, ClassPoint2.Core&quot;,&quot;numOfSubmissionsAllowed&quot;:1,&quot;activityType&quot;:&quot;Word Cloud&quot;,&quot;activityId&quot;:null,&quot;countdown&quot;:0,&quot;StartWithSlide&quot;:false,&quot;CanMinimize&quot;:false,&quot;CanCountDown&quot;:false},&quot;IsLocked&quot;:false,&quot;IsMappedFromCp1&quot;:false,&quot;IsQuizMode&quot;:false}"/>
</p:tagLst>
</file>

<file path=ppt/tags/tag10.xml><?xml version="1.0" encoding="utf-8"?>
<p:tagLst xmlns:a="http://schemas.openxmlformats.org/drawingml/2006/main" xmlns:r="http://schemas.openxmlformats.org/officeDocument/2006/relationships" xmlns:p="http://schemas.openxmlformats.org/presentationml/2006/main">
  <p:tag name="ACTIVITYMODEL" val="{&quot;$type&quot;:&quot;ClassPoint2.Core.Model.Activity, ClassPoint2.Core&quot;,&quot;ActivityId&quot;:null,&quot;Name&quot;:&quot;ShortAnswers&quot;,&quot;ActivityType&quot;:1,&quot;Width&quot;:0.0,&quot;Height&quot;:0.0,&quot;Graphics&quot;:null,&quot;ActivityBase&quot;:{&quot;$type&quot;:&quot;ClassPoint2.Core.DTO.Activities.ShortAnswerActivity, ClassPoint2.Core&quot;,&quot;isMultipleSubmissionsAllowed&quot;:false,&quot;isNamesHidden&quot;:true,&quot;gradingInstructions&quot;:null,&quot;activityType&quot;:&quot;Short Answer&quot;,&quot;activityId&quot;:null,&quot;countdown&quot;:0,&quot;StartWithSlide&quot;:false,&quot;CanMinimize&quot;:false,&quot;CanCountDown&quot;:false},&quot;IsLocked&quot;:false,&quot;IsMappedFromCp1&quot;:false,&quot;IsQuizMode&quot;:false}"/>
</p:tagLst>
</file>

<file path=ppt/theme/theme1.xml><?xml version="1.0" encoding="utf-8"?>
<a:theme xmlns:a="http://schemas.openxmlformats.org/drawingml/2006/main" name="ait4x">
  <a:themeElements>
    <a:clrScheme name="ait4x">
      <a:dk1>
        <a:srgbClr val="000B1C"/>
      </a:dk1>
      <a:lt1>
        <a:srgbClr val="FFFFFF"/>
      </a:lt1>
      <a:dk2>
        <a:srgbClr val="2A323D"/>
      </a:dk2>
      <a:lt2>
        <a:srgbClr val="F4F4F2"/>
      </a:lt2>
      <a:accent1>
        <a:srgbClr val="64C2C3"/>
      </a:accent1>
      <a:accent2>
        <a:srgbClr val="ED6D24"/>
      </a:accent2>
      <a:accent3>
        <a:srgbClr val="943890"/>
      </a:accent3>
      <a:accent4>
        <a:srgbClr val="146AB5"/>
      </a:accent4>
      <a:accent5>
        <a:srgbClr val="F6AD00"/>
      </a:accent5>
      <a:accent6>
        <a:srgbClr val="6FBA2C"/>
      </a:accent6>
      <a:hlink>
        <a:srgbClr val="00544C"/>
      </a:hlink>
      <a:folHlink>
        <a:srgbClr val="5C6470"/>
      </a:folHlink>
    </a:clrScheme>
    <a:fontScheme name="ait4x">
      <a:majorFont>
        <a:latin typeface="Inter Black"/>
        <a:ea typeface=""/>
        <a:cs typeface=""/>
      </a:majorFont>
      <a:minorFont>
        <a:latin typeface="Inter"/>
        <a:ea typeface=""/>
        <a:cs typeface=""/>
      </a:minorFont>
    </a:fontScheme>
    <a:fmtScheme name="ait4x">
      <a:fillStyleLst>
        <a:solidFill>
          <a:schemeClr val="phClr"/>
        </a:solidFill>
        <a:solidFill>
          <a:schemeClr val="phClr"/>
        </a:solidFill>
        <a:solidFill>
          <a:schemeClr val="phClr"/>
        </a:solidFill>
      </a:fillStyleLst>
      <a:lnStyleLst>
        <a:ln w="12700">
          <a:solidFill>
            <a:schemeClr val="phClr"/>
          </a:solidFill>
        </a:ln>
        <a:ln w="19050">
          <a:solidFill>
            <a:schemeClr val="phClr"/>
          </a:solidFill>
        </a:ln>
        <a:ln w="254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